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Folie 1 · Richtzeit 40 Sekunden</a:t>
            </a:r>
          </a:p>
          <a:p>
            <a:r>
              <a:t>• 70’767 registrierte Unfälle, 2011–2025; Stand von Teil 1.</a:t>
            </a:r>
          </a:p>
          <a:p>
            <a:r>
              <a:t>• Drei Abschnitte: Fragen und Quelle, Umsetzung, Ergebnisse.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Folie 2 · Richtzeit 70 Sekunden</a:t>
            </a:r>
          </a:p>
          <a:p>
            <a:r>
              <a:t>• F1 Zeit; F2 Beteiligung/Schwere bei Personenschäden; F3 Jahresentwicklung.</a:t>
            </a:r>
          </a:p>
          <a:p>
            <a:r>
              <a:t>• H1/H2 testen Zusammenhänge; F3 ist deskriptiv.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Folie 3 · Richtzeit 55 Sekunden</a:t>
            </a:r>
          </a:p>
          <a:p>
            <a:r>
              <a:t>• Quelle: Open Data Zürich / ASTRA, Snapshot 13.10.2026.</a:t>
            </a:r>
          </a:p>
          <a:p>
            <a:r>
              <a:t>• Eine Zeile = ein Unfall; kein exaktes Datum.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Folie 4 · Richtzeit 65 Sekunden</a:t>
            </a:r>
          </a:p>
          <a:p>
            <a:r>
              <a:t>• Erfassungswechsel Juli 2015 beachten.</a:t>
            </a:r>
          </a:p>
          <a:p>
            <a:r>
              <a:t>• Beteiligungsdefinition offen; F2 deshalb nur Personenschäden.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Folie 5 · Richtzeit 70 Sekunden</a:t>
            </a:r>
          </a:p>
          <a:p>
            <a:r>
              <a:t>• Generation extern; danach Raw, Aufbereitung, SQLite und Analyse.</a:t>
            </a:r>
          </a:p>
          <a:p>
            <a:r>
              <a:t>• Storage begleitet mehrere Phasen. Übergabe an Person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Folie 6 · Richtzeit 55 Sekunden</a:t>
            </a:r>
          </a:p>
          <a:p>
            <a:r>
              <a:t>• CSV und Metadaten mit Abrufzeit und SHA-256.</a:t>
            </a:r>
          </a:p>
          <a:p>
            <a:r>
              <a:t>• Vorhandenen Snapshot prüfen; neue Stände getrennt ablegen.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Folie 7 · Richtzeit 60 Sekunden</a:t>
            </a:r>
          </a:p>
          <a:p>
            <a:r>
              <a:t>• CSV für Original/Export; SQLite für lokale SQL-Analyse.</a:t>
            </a:r>
          </a:p>
          <a:p>
            <a:r>
              <a:t>• Primärschlüssel, CHECKs, Transaktionen; kein Serverbedarf.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Folie 8 · Richtzeit 60 Sekunden</a:t>
            </a:r>
          </a:p>
          <a:p>
            <a:r>
              <a:t>• 19 Originalfelder + 3 Features; alle 70’767 Zeilen erhalten.</a:t>
            </a:r>
          </a:p>
          <a:p>
            <a:r>
              <a:t>• Keine Imputation; H1 nutzt Wochenende und Originalstunde.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Folie 9 · Richtzeit 60 Sekunden</a:t>
            </a:r>
          </a:p>
          <a:p>
            <a:r>
              <a:t>• 45 Tests; isolierter Neulauf mit identischen fachlichen Ergebnissen.</a:t>
            </a:r>
          </a:p>
          <a:p>
            <a:r>
              <a:t>• Mengentest nur gespeicherte Mac-Messwerte, keine Kapazitätsprognose.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Folie 10 · Richtzeit 65 Sekunden</a:t>
            </a:r>
          </a:p>
          <a:p>
            <a:r>
              <a:t>• Pearson-Chi-Quadrat; α = 0,05; Holm nur für die drei H2-Tests.</a:t>
            </a:r>
          </a:p>
          <a:p>
            <a:r>
              <a:t>• Cramérs V und Anteile einordnen. Übergabe an Person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Folie 11 · Richtzeit 65 Sekunden</a:t>
            </a:r>
          </a:p>
          <a:p>
            <a:r>
              <a:t>• Kurven innerhalb jeder Gruppe auf 100 % normiert.</a:t>
            </a:r>
          </a:p>
          <a:p>
            <a:r>
              <a:t>• Nacht 3,71 % / 14,63 %; V = 0,234; kein Risiko pro Fahrt.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Folie 12 · Richtzeit 65 Sekunden</a:t>
            </a:r>
          </a:p>
          <a:p>
            <a:r>
              <a:t>• 18’164 Personenschadenunfälle; Test mit drei Schweregraden.</a:t>
            </a:r>
          </a:p>
          <a:p>
            <a:r>
              <a:t>• Alle drei nach Holm signifikant; kleine Assoziationen.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Folie 13 · Richtzeit 65 Sekunden</a:t>
            </a:r>
          </a:p>
          <a:p>
            <a:r>
              <a:t>• Erfassungsbruch 2015; ganze Zeitreihe zeigen.</a:t>
            </a:r>
          </a:p>
          <a:p>
            <a:r>
              <a:t>• 2016–2025 total sinkend, Personenschäden leicht höher; Veloanteil verändert.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Folie 14 · Richtzeit 50 Sekunden</a:t>
            </a:r>
          </a:p>
          <a:p>
            <a:r>
              <a:t>• Keine individuelle Risiko- oder Kausalaussage.</a:t>
            </a:r>
          </a:p>
          <a:p>
            <a:r>
              <a:t>• Teil 2: Analyse/Transformation abschliessen und Serving umsetzen.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Folie 15 · Richtzeit 55 Sekunden</a:t>
            </a:r>
          </a:p>
          <a:p>
            <a:r>
              <a:t>• F1 andere Zeitverteilung; F2 kleine Zusammenhänge; F3 uneinheitlicher Verlauf.</a:t>
            </a:r>
          </a:p>
          <a:p>
            <a:r>
              <a:t>• Daten und Code vorhanden; jetzt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Reservefolie für Rückfragen</a:t>
            </a:r>
          </a:p>
          <a:p>
            <a:r>
              <a:t>Eine Unfalltabelle und ein Herkunftsregister; SQL-Beispiel zählt Personenschäden pro Jahr.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Reservefolie für Rückfragen</a:t>
            </a:r>
          </a:p>
          <a:p>
            <a:r>
              <a:t>H1 p numerisch unterlaufen. H2-p-Werte nach Holm. Alle erwarteten Zellen über fünf.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Reservefolie für Rückfragen</a:t>
            </a:r>
          </a:p>
          <a:p>
            <a:r>
              <a:t>Mac-Messreihe aus scaling_benchmark.csv, synthetische Vervielfachung. Keine erneute Messung heute; keine Serverlast oder Kapazitätsprognose.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Reservefolie für Rückfragen</a:t>
            </a:r>
          </a:p>
          <a:p>
            <a:r>
              <a:t>Quellen und verwendete Hilfsmittel nennen; fachliche Verantwortung bleibt beim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C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4508" cy="59436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508" y="0"/>
            <a:ext cx="4064508" cy="59436"/>
          </a:xfrm>
          <a:prstGeom prst="rect">
            <a:avLst/>
          </a:prstGeom>
          <a:solidFill>
            <a:srgbClr val="28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9016" y="0"/>
            <a:ext cx="4064508" cy="59436"/>
          </a:xfrm>
          <a:prstGeom prst="rect">
            <a:avLst/>
          </a:prstGeom>
          <a:solidFill>
            <a:srgbClr val="28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79C9C1"/>
                </a:solidFill>
                <a:latin typeface="Aptos"/>
              </a:defRPr>
            </a:pPr>
            <a:r>
              <a:t>A · KONZEPT UND DATENGRUNDLAGE · 28. OKTOBER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1064240" cy="6217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Verkehrsunfälle in Zürich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9672"/>
            <a:ext cx="8046720" cy="1828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CFD9DD"/>
                </a:solidFill>
                <a:latin typeface="Aptos"/>
              </a:defRPr>
            </a:pPr>
            <a:r>
              <a:t>ZHAW · Data Engineering HS26 · Souto / Fawaz / Muslija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53728" y="6483096"/>
            <a:ext cx="1691640" cy="25603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CFD9DD"/>
                </a:solidFill>
                <a:latin typeface="Aptos"/>
              </a:defRPr>
            </a:pPr>
            <a:r>
              <a:t>Konzept und Daten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82528" y="6464808"/>
            <a:ext cx="566928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CFD9DD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92224"/>
            <a:ext cx="8778240" cy="11430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300" b="1">
                <a:solidFill>
                  <a:srgbClr val="FFFFFF"/>
                </a:solidFill>
                <a:latin typeface="Aptos"/>
              </a:defRPr>
            </a:pPr>
            <a:r>
              <a:t>Erste Analysen und</a:t>
            </a:r>
          </a:p>
          <a:p>
            <a:pPr>
              <a:spcAft>
                <a:spcPts val="700"/>
              </a:spcAft>
              <a:defRPr sz="3300" b="1">
                <a:solidFill>
                  <a:srgbClr val="FFFFFF"/>
                </a:solidFill>
                <a:latin typeface="Aptos"/>
              </a:defRPr>
            </a:pPr>
            <a:r>
              <a:t>reproduzierbare Verarbeitung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55264"/>
            <a:ext cx="8686800" cy="585216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CFD9DD"/>
                </a:solidFill>
                <a:latin typeface="Aptos"/>
              </a:defRPr>
            </a:pPr>
            <a:r>
              <a:t>Projektarbeit Teil 1 · Offene Unfalldaten von 2011–2025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51960"/>
            <a:ext cx="3383280" cy="77724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4200" b="1">
                <a:solidFill>
                  <a:srgbClr val="79C9C1"/>
                </a:solidFill>
                <a:latin typeface="Aptos"/>
              </a:defRPr>
            </a:pPr>
            <a:r>
              <a:t>70’767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93208"/>
            <a:ext cx="338328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CFD9DD"/>
                </a:solidFill>
                <a:latin typeface="Aptos"/>
              </a:defRPr>
            </a:pPr>
            <a:r>
              <a:t>registrierte Unfälle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4251960"/>
            <a:ext cx="3383280" cy="77724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4200" b="1">
                <a:solidFill>
                  <a:srgbClr val="79C9C1"/>
                </a:solidFill>
                <a:latin typeface="Aptos"/>
              </a:defRPr>
            </a:pPr>
            <a:r>
              <a:t>2011–2025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5093208"/>
            <a:ext cx="338328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CFD9DD"/>
                </a:solidFill>
                <a:latin typeface="Aptos"/>
              </a:defRPr>
            </a:pPr>
            <a:r>
              <a:t>Unfalljahre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6" y="4251960"/>
            <a:ext cx="3383280" cy="77724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4200" b="1">
                <a:solidFill>
                  <a:srgbClr val="79C9C1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3296" y="5093208"/>
            <a:ext cx="338328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CFD9DD"/>
                </a:solidFill>
                <a:latin typeface="Aptos"/>
              </a:defRPr>
            </a:pPr>
            <a:r>
              <a:t>Forschungsfragen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43600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Ruben Souto · Issa Fawaz · Drin Muslija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4508" cy="59436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508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9016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087E83"/>
                </a:solidFill>
                <a:latin typeface="Aptos"/>
              </a:defRPr>
            </a:pPr>
            <a:r>
              <a:t>A · KONZEPTIONALISIERUNG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1064240" cy="6217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102C3B"/>
                </a:solidFill>
                <a:latin typeface="Aptos"/>
              </a:defRPr>
            </a:pPr>
            <a:r>
              <a:t>Drei Fragen, drei Auswertungen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536773"/>
                </a:solidFill>
                <a:latin typeface="Aptos"/>
              </a:defRPr>
            </a:pPr>
            <a:r>
              <a:t>Motivation: zeitliche Muster und die Zusammensetzung registrierter Unfälle verstehen.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9672"/>
            <a:ext cx="8046720" cy="1828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536773"/>
                </a:solidFill>
                <a:latin typeface="Aptos"/>
              </a:defRPr>
            </a:pPr>
            <a:r>
              <a:t>ZHAW · Data Engineering HS26 · Souto / Fawaz / Muslija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3728" y="6483096"/>
            <a:ext cx="1691640" cy="25603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36773"/>
                </a:solidFill>
                <a:latin typeface="Aptos"/>
              </a:defRPr>
            </a:pPr>
            <a:r>
              <a:t>Konzept und Daten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82528" y="6464808"/>
            <a:ext cx="566928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7E83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58568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450592"/>
            <a:ext cx="640080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087E83"/>
                </a:solidFill>
                <a:latin typeface="Aptos"/>
              </a:defRPr>
            </a:pPr>
            <a: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368296"/>
            <a:ext cx="941832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02C3B"/>
                </a:solidFill>
                <a:latin typeface="Aptos"/>
              </a:defRPr>
            </a:pPr>
            <a:r>
              <a:t>Wann ereignen sich die Unfälle?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807208"/>
            <a:ext cx="9418320" cy="28346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536773"/>
                </a:solidFill>
                <a:latin typeface="Aptos"/>
              </a:defRPr>
            </a:pPr>
            <a:r>
              <a:t>Tageszeit und Wochentag → relative Stundenverteilungen und H1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19856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611880"/>
            <a:ext cx="640080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087E83"/>
                </a:solidFill>
                <a:latin typeface="Aptos"/>
              </a:defRPr>
            </a:pPr>
            <a:r>
              <a:t>F2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529584"/>
            <a:ext cx="941832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02C3B"/>
                </a:solidFill>
                <a:latin typeface="Aptos"/>
              </a:defRPr>
            </a:pPr>
            <a:r>
              <a:t>Wie hängen Beteiligung und Schwere zusammen?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968496"/>
            <a:ext cx="9418320" cy="28346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536773"/>
                </a:solidFill>
                <a:latin typeface="Aptos"/>
              </a:defRPr>
            </a:pPr>
            <a:r>
              <a:t>Nur Personenschadenunfälle → drei Beteiligungsvergleiche und H2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81144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773168"/>
            <a:ext cx="640080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087E83"/>
                </a:solidFill>
                <a:latin typeface="Aptos"/>
              </a:defRPr>
            </a:pPr>
            <a:r>
              <a:t>F3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690872"/>
            <a:ext cx="941832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02C3B"/>
                </a:solidFill>
                <a:latin typeface="Aptos"/>
              </a:defRPr>
            </a:pPr>
            <a:r>
              <a:t>Was verändert sich über die Jahre?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129783"/>
            <a:ext cx="9418320" cy="28346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536773"/>
                </a:solidFill>
                <a:latin typeface="Aptos"/>
              </a:defRPr>
            </a:pPr>
            <a:r>
              <a:t>Anzahl und Zusammensetzung → Jahresreihen und Anteile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806440"/>
            <a:ext cx="11064240" cy="484632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5888736"/>
            <a:ext cx="1065276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02C3B"/>
                </a:solidFill>
                <a:latin typeface="Aptos"/>
              </a:defRPr>
            </a:pPr>
            <a:r>
              <a:t>Ziel: zeitliche Muster, Unfallschwere und Veränderungen im Bestand untersuchen.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4508" cy="59436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508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9016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087E83"/>
                </a:solidFill>
                <a:latin typeface="Aptos"/>
              </a:defRPr>
            </a:pPr>
            <a:r>
              <a:t>A · DATENGRUNDLAGE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1064240" cy="6217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102C3B"/>
                </a:solidFill>
                <a:latin typeface="Aptos"/>
              </a:defRPr>
            </a:pPr>
            <a:r>
              <a:t>Datengrundlage: 70’767 registrierte Unfälle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536773"/>
                </a:solidFill>
                <a:latin typeface="Aptos"/>
              </a:defRPr>
            </a:pPr>
            <a:r>
              <a:t>Open Data Zürich · Datenlieferant: Bundesamt für Strassen ASTRA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9672"/>
            <a:ext cx="8046720" cy="1828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536773"/>
                </a:solidFill>
                <a:latin typeface="Aptos"/>
              </a:defRPr>
            </a:pPr>
            <a:r>
              <a:t>ZHAW · Data Engineering HS26 · Souto / Fawaz / Muslija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3728" y="6483096"/>
            <a:ext cx="1691640" cy="25603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36773"/>
                </a:solidFill>
                <a:latin typeface="Aptos"/>
              </a:defRPr>
            </a:pPr>
            <a:r>
              <a:t>Konzept und Daten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82528" y="6464808"/>
            <a:ext cx="566928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7E83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77440"/>
            <a:ext cx="3383280" cy="77724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4200" b="1">
                <a:solidFill>
                  <a:srgbClr val="087E83"/>
                </a:solidFill>
                <a:latin typeface="Aptos"/>
              </a:defRPr>
            </a:pPr>
            <a:r>
              <a:t>70’767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18688"/>
            <a:ext cx="338328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536773"/>
                </a:solidFill>
                <a:latin typeface="Aptos"/>
              </a:defRPr>
            </a:pPr>
            <a:r>
              <a:t>eindeutige Unfall-IDs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2377440"/>
            <a:ext cx="3383280" cy="77724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4200" b="1">
                <a:solidFill>
                  <a:srgbClr val="087E83"/>
                </a:solidFill>
                <a:latin typeface="Aptos"/>
              </a:defRPr>
            </a:pPr>
            <a:r>
              <a:t>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3218688"/>
            <a:ext cx="338328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536773"/>
                </a:solidFill>
                <a:latin typeface="Aptos"/>
              </a:defRPr>
            </a:pPr>
            <a:r>
              <a:t>Spalten im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377440"/>
            <a:ext cx="3383280" cy="77724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4200" b="1">
                <a:solidFill>
                  <a:srgbClr val="087E83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3218688"/>
            <a:ext cx="338328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536773"/>
                </a:solidFill>
                <a:latin typeface="Aptos"/>
              </a:defRPr>
            </a:pPr>
            <a:r>
              <a:t>Unfalljahre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87952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361688"/>
            <a:ext cx="10561320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02C3B"/>
                </a:solidFill>
                <a:latin typeface="Aptos"/>
              </a:defRPr>
            </a:pPr>
            <a:r>
              <a:t>Zeit · Unfallart · Schwere · Strassenart · Beteiligung · LV95-Koordinaten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73752"/>
            <a:ext cx="10561320" cy="32004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536773"/>
                </a:solidFill>
                <a:latin typeface="Aptos"/>
              </a:defRPr>
            </a:pPr>
            <a:r>
              <a:t>Snapshot vom 13.10.2026 · Kein exaktes Unfalldatum · Quelle wird jährlich aktualisiert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806440"/>
            <a:ext cx="11064240" cy="484632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888736"/>
            <a:ext cx="1065276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02C3B"/>
                </a:solidFill>
                <a:latin typeface="Aptos"/>
              </a:defRPr>
            </a:pPr>
            <a:r>
              <a:t>Eine Zeile entspricht einem Unfall; Personen oder Fahrten werden nicht einzeln erfasst.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318504"/>
            <a:ext cx="10607040" cy="173736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36773"/>
                </a:solidFill>
                <a:latin typeface="Aptos"/>
              </a:defRPr>
            </a:pPr>
            <a:r>
              <a:t>Daten: Open Data Zürich / Bundesamt für Strassen ASTRA · Snapshot 13.10.2026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4508" cy="59436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508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9016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087E83"/>
                </a:solidFill>
                <a:latin typeface="Aptos"/>
              </a:defRPr>
            </a:pPr>
            <a:r>
              <a:t>A · QUELLENKRITIK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1064240" cy="6217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102C3B"/>
                </a:solidFill>
                <a:latin typeface="Aptos"/>
              </a:defRPr>
            </a:pPr>
            <a:r>
              <a:t>Zwei Grenzen der Datenquelle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536773"/>
                </a:solidFill>
                <a:latin typeface="Aptos"/>
              </a:defRPr>
            </a:pPr>
            <a:r>
              <a:t>Erfassungswechsel und unklare Beteiligungsdefinitionen beeinflussen die Auswertung.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9672"/>
            <a:ext cx="8046720" cy="1828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536773"/>
                </a:solidFill>
                <a:latin typeface="Aptos"/>
              </a:defRPr>
            </a:pPr>
            <a:r>
              <a:t>ZHAW · Data Engineering HS26 · Souto / Fawaz / Muslija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3728" y="6483096"/>
            <a:ext cx="1691640" cy="25603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36773"/>
                </a:solidFill>
                <a:latin typeface="Aptos"/>
              </a:defRPr>
            </a:pPr>
            <a:r>
              <a:t>Konzept und Daten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82528" y="6464808"/>
            <a:ext cx="566928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7E83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67712"/>
            <a:ext cx="53949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67712"/>
            <a:ext cx="41148" cy="3200400"/>
          </a:xfrm>
          <a:prstGeom prst="rect">
            <a:avLst/>
          </a:prstGeom>
          <a:solidFill>
            <a:srgbClr val="C56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450592"/>
            <a:ext cx="5001768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C56A35"/>
                </a:solidFill>
                <a:latin typeface="Aptos"/>
              </a:defRPr>
            </a:pPr>
            <a:r>
              <a:t>01 · Erfassung ab Juli 2015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3072384"/>
            <a:ext cx="5001768" cy="2258568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Auch Bagatellunfälle werden gemeldet.</a:t>
            </a: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Ein Sprung der Gesamtzahl kann</a:t>
            </a: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durch die Erfassung entstehen.</a:t>
            </a: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→ Zeitreihen nach Schadenart trennen.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267712"/>
            <a:ext cx="53949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2267712"/>
            <a:ext cx="41148" cy="3200400"/>
          </a:xfrm>
          <a:prstGeom prst="rect">
            <a:avLst/>
          </a:prstGeom>
          <a:solidFill>
            <a:srgbClr val="C56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450592"/>
            <a:ext cx="5001768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C56A35"/>
                </a:solidFill>
                <a:latin typeface="Aptos"/>
              </a:defRPr>
            </a:pPr>
            <a:r>
              <a:t>02 · Beteiligung bei Sachschäden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072384"/>
            <a:ext cx="5001768" cy="2258568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Katalogdefinition und Werte sind</a:t>
            </a: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nicht eindeutig vereinbar.</a:t>
            </a: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Werte erhalten; Ursache ungeklärt.</a:t>
            </a: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→ F2 auf Personenschäden begrenzen.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806440"/>
            <a:ext cx="11064240" cy="484632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5888736"/>
            <a:ext cx="1065276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02C3B"/>
                </a:solidFill>
                <a:latin typeface="Aptos"/>
              </a:defRPr>
            </a:pPr>
            <a:r>
              <a:t>Die Werte bleiben erhalten; die Einschränkungen werden bei der Analyse berücksichtigt.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18504"/>
            <a:ext cx="10607040" cy="173736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36773"/>
                </a:solidFill>
                <a:latin typeface="Aptos"/>
              </a:defRPr>
            </a:pPr>
            <a:r>
              <a:t>Daten: Open Data Zürich / Bundesamt für Strassen ASTRA · Snapshot 13.10.2026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4508" cy="59436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508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9016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087E83"/>
                </a:solidFill>
                <a:latin typeface="Aptos"/>
              </a:defRPr>
            </a:pPr>
            <a:r>
              <a:t>A · DATA-ENGINEERING-LEBENSZYKLUS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1064240" cy="6217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102C3B"/>
                </a:solidFill>
                <a:latin typeface="Aptos"/>
              </a:defRPr>
            </a:pPr>
            <a:r>
              <a:t>Unser Verarbeitungsweg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536773"/>
                </a:solidFill>
                <a:latin typeface="Aptos"/>
              </a:defRPr>
            </a:pPr>
            <a:r>
              <a:t>Lokale Batch-Verarbeitung passt zur jährlich veröffentlichten Quelle.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9672"/>
            <a:ext cx="8046720" cy="1828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536773"/>
                </a:solidFill>
                <a:latin typeface="Aptos"/>
              </a:defRPr>
            </a:pPr>
            <a:r>
              <a:t>ZHAW · Data Engineering HS26 · Souto / Fawaz / Muslija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3728" y="6483096"/>
            <a:ext cx="1691640" cy="25603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36773"/>
                </a:solidFill>
                <a:latin typeface="Aptos"/>
              </a:defRPr>
            </a:pPr>
            <a:r>
              <a:t>Konzept und Daten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82528" y="6464808"/>
            <a:ext cx="566928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7E83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50592"/>
            <a:ext cx="2066543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633472"/>
            <a:ext cx="1783080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087E83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3163824"/>
            <a:ext cx="1819656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02C3B"/>
                </a:solidFill>
                <a:latin typeface="Aptos"/>
              </a:defRPr>
            </a:pPr>
            <a:r>
              <a:t>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75887"/>
            <a:ext cx="1819656" cy="5943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36773"/>
                </a:solidFill>
                <a:latin typeface="Aptos"/>
              </a:defRPr>
            </a:pPr>
            <a:r>
              <a:t>Polizei / ASTRA</a:t>
            </a:r>
          </a:p>
          <a:p>
            <a:pPr>
              <a:spcAft>
                <a:spcPts val="700"/>
              </a:spcAft>
              <a:defRPr sz="1400" b="0">
                <a:solidFill>
                  <a:srgbClr val="536773"/>
                </a:solidFill>
                <a:latin typeface="Aptos"/>
              </a:defRPr>
            </a:pPr>
            <a:r>
              <a:t>Erfassung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4328" y="3127248"/>
            <a:ext cx="182880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087E83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98064" y="2450592"/>
            <a:ext cx="2066543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44368" y="2633472"/>
            <a:ext cx="1783080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087E83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4368" y="3163824"/>
            <a:ext cx="1819656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02C3B"/>
                </a:solidFill>
                <a:latin typeface="Aptos"/>
              </a:defRPr>
            </a:pPr>
            <a:r>
              <a:t>Ingestion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4368" y="3675887"/>
            <a:ext cx="1819656" cy="5943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36773"/>
                </a:solidFill>
                <a:latin typeface="Aptos"/>
              </a:defRPr>
            </a:pPr>
            <a:r>
              <a:t>Raw-CSV</a:t>
            </a:r>
          </a:p>
          <a:p>
            <a:pPr>
              <a:spcAft>
                <a:spcPts val="700"/>
              </a:spcAft>
              <a:defRPr sz="1400" b="0">
                <a:solidFill>
                  <a:srgbClr val="536773"/>
                </a:solidFill>
                <a:latin typeface="Aptos"/>
              </a:defRPr>
            </a:pPr>
            <a:r>
              <a:t>und Metadaten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3127248"/>
            <a:ext cx="182880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087E83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47488" y="2450592"/>
            <a:ext cx="2066543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792" y="2633472"/>
            <a:ext cx="1783080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087E83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792" y="3163824"/>
            <a:ext cx="1819656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02C3B"/>
                </a:solidFill>
                <a:latin typeface="Aptos"/>
              </a:defRPr>
            </a:pPr>
            <a:r>
              <a:t>Transformation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792" y="3675887"/>
            <a:ext cx="1819656" cy="5943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36773"/>
                </a:solidFill>
                <a:latin typeface="Aptos"/>
              </a:defRPr>
            </a:pPr>
            <a:r>
              <a:t>Profil, Typen</a:t>
            </a:r>
          </a:p>
          <a:p>
            <a:pPr>
              <a:spcAft>
                <a:spcPts val="700"/>
              </a:spcAft>
              <a:defRPr sz="1400" b="0">
                <a:solidFill>
                  <a:srgbClr val="536773"/>
                </a:solidFill>
                <a:latin typeface="Aptos"/>
              </a:defRPr>
            </a:pPr>
            <a:r>
              <a:t>und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23175" y="3127248"/>
            <a:ext cx="182880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087E83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96912" y="2450592"/>
            <a:ext cx="2066543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43215" y="2633472"/>
            <a:ext cx="1783080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087E83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3215" y="3163824"/>
            <a:ext cx="1819656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02C3B"/>
                </a:solidFill>
                <a:latin typeface="Aptos"/>
              </a:defRPr>
            </a:pPr>
            <a:r>
              <a:t>Storage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3215" y="3675887"/>
            <a:ext cx="1819656" cy="5943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36773"/>
                </a:solidFill>
                <a:latin typeface="Aptos"/>
              </a:defRPr>
            </a:pPr>
            <a:r>
              <a:t>Bereinigte CSV</a:t>
            </a:r>
          </a:p>
          <a:p>
            <a:pPr>
              <a:spcAft>
                <a:spcPts val="700"/>
              </a:spcAft>
              <a:defRPr sz="1400" b="0">
                <a:solidFill>
                  <a:srgbClr val="536773"/>
                </a:solidFill>
                <a:latin typeface="Aptos"/>
              </a:defRPr>
            </a:pPr>
            <a:r>
              <a:t>und SQLite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2600" y="3127248"/>
            <a:ext cx="182880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087E83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46336" y="2450592"/>
            <a:ext cx="2066543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92640" y="2633472"/>
            <a:ext cx="1783080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087E83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3163824"/>
            <a:ext cx="1819656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02C3B"/>
                </a:solidFill>
                <a:latin typeface="Aptos"/>
              </a:defRPr>
            </a:pPr>
            <a:r>
              <a:t>Serving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3675887"/>
            <a:ext cx="1819656" cy="5943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36773"/>
                </a:solidFill>
                <a:latin typeface="Aptos"/>
              </a:defRPr>
            </a:pPr>
            <a:r>
              <a:t>SQL / Notebooks</a:t>
            </a:r>
          </a:p>
          <a:p>
            <a:pPr>
              <a:spcAft>
                <a:spcPts val="700"/>
              </a:spcAft>
              <a:defRPr sz="1400" b="0">
                <a:solidFill>
                  <a:srgbClr val="536773"/>
                </a:solidFill>
                <a:latin typeface="Aptos"/>
              </a:defRPr>
            </a:pPr>
            <a:r>
              <a:t>und Präsentation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709160"/>
            <a:ext cx="11064240" cy="795528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892040"/>
            <a:ext cx="10607040" cy="43891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Quer über alle Phasen: Sicherheit · Governance · DataOps · Orchestrierung · Engineering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806440"/>
            <a:ext cx="11064240" cy="484632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0664" y="5888736"/>
            <a:ext cx="1065276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02C3B"/>
                </a:solidFill>
                <a:latin typeface="Aptos"/>
              </a:defRPr>
            </a:pPr>
            <a:r>
              <a:t>Generation liegt ausserhalb des Projekts. Speicherung begleitet mehrere Phasen.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508" y="0"/>
            <a:ext cx="4064508" cy="59436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9016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087E83"/>
                </a:solidFill>
                <a:latin typeface="Aptos"/>
              </a:defRPr>
            </a:pPr>
            <a:r>
              <a:t>B · INGESTION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1064240" cy="6217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102C3B"/>
                </a:solidFill>
                <a:latin typeface="Aptos"/>
              </a:defRPr>
            </a:pPr>
            <a:r>
              <a:t>Ingestion: einen festen Datenstand verwenden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536773"/>
                </a:solidFill>
                <a:latin typeface="Aptos"/>
              </a:defRPr>
            </a:pPr>
            <a:r>
              <a:t>Der vorhandene Snapshot wird offline geprüft; neue Stände werden separat abgelegt.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9672"/>
            <a:ext cx="8046720" cy="1828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536773"/>
                </a:solidFill>
                <a:latin typeface="Aptos"/>
              </a:defRPr>
            </a:pPr>
            <a:r>
              <a:t>ZHAW · Data Engineering HS26 · Souto / Fawaz / Muslija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3728" y="6483096"/>
            <a:ext cx="1691640" cy="25603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36773"/>
                </a:solidFill>
                <a:latin typeface="Aptos"/>
              </a:defRPr>
            </a:pPr>
            <a:r>
              <a:t>Umsetzung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82528" y="6464808"/>
            <a:ext cx="566928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7E83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67712"/>
            <a:ext cx="5394960" cy="3172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67712"/>
            <a:ext cx="41148" cy="3172968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450592"/>
            <a:ext cx="5001768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087E83"/>
                </a:solidFill>
                <a:latin typeface="Aptos"/>
              </a:defRPr>
            </a:pPr>
            <a:r>
              <a:t>Beschaffen und festhalten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3072384"/>
            <a:ext cx="5001768" cy="2231136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Öffentliche CSV + Katalogmetadaten</a:t>
            </a: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Abrufzeit und URLs dokumentieren</a:t>
            </a: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SHA-256-Prüfsumme speichern</a:t>
            </a: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Rohdaten unverändert aufbewahren</a:t>
            </a: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Neue Snapshots separat ablegen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267712"/>
            <a:ext cx="5394960" cy="3172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2267712"/>
            <a:ext cx="41148" cy="3172968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450592"/>
            <a:ext cx="5001768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087E83"/>
                </a:solidFill>
                <a:latin typeface="Aptos"/>
              </a:defRPr>
            </a:pPr>
            <a:r>
              <a:t>Vor dem Verarbeiten prüfen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072384"/>
            <a:ext cx="5001768" cy="2231136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Datei und Metadaten vorhanden?</a:t>
            </a: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Grösse und Prüfsumme passend?</a:t>
            </a: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CSV-Struktur gültig?</a:t>
            </a: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Pflichtspalten vorhanden?</a:t>
            </a: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Bei Abweichung: sichtbarer Abbruch.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806440"/>
            <a:ext cx="11064240" cy="484632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5888736"/>
            <a:ext cx="1065276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02C3B"/>
                </a:solidFill>
                <a:latin typeface="Aptos"/>
              </a:defRPr>
            </a:pPr>
            <a:r>
              <a:t>SHA-256 prüft Dateiintegrität – nicht, ob jede Unfallmeldung fachlich korrekt ist.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508" y="0"/>
            <a:ext cx="4064508" cy="59436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9016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087E83"/>
                </a:solidFill>
                <a:latin typeface="Aptos"/>
              </a:defRPr>
            </a:pPr>
            <a:r>
              <a:t>B · 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1064240" cy="6217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102C3B"/>
                </a:solidFill>
                <a:latin typeface="Aptos"/>
              </a:defRPr>
            </a:pPr>
            <a:r>
              <a:t>SQLite für lokale SQL-Analysen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536773"/>
                </a:solidFill>
                <a:latin typeface="Aptos"/>
              </a:defRPr>
            </a:pPr>
            <a:r>
              <a:t>70’767 strukturierte Zeilen · ein Ladeprozess · anschliessend überwiegend Lesezugriffe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9672"/>
            <a:ext cx="8046720" cy="1828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536773"/>
                </a:solidFill>
                <a:latin typeface="Aptos"/>
              </a:defRPr>
            </a:pPr>
            <a:r>
              <a:t>ZHAW · Data Engineering HS26 · Souto / Fawaz / Muslija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3728" y="6483096"/>
            <a:ext cx="1691640" cy="25603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36773"/>
                </a:solidFill>
                <a:latin typeface="Aptos"/>
              </a:defRPr>
            </a:pPr>
            <a:r>
              <a:t>Umsetzung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82528" y="6464808"/>
            <a:ext cx="566928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7E83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67712"/>
            <a:ext cx="3520440" cy="3172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67712"/>
            <a:ext cx="41148" cy="3172968"/>
          </a:xfrm>
          <a:prstGeom prst="rect">
            <a:avLst/>
          </a:prstGeom>
          <a:solidFill>
            <a:srgbClr val="5367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450592"/>
            <a:ext cx="3127248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536773"/>
                </a:solidFill>
                <a:latin typeface="Aptos"/>
              </a:defRPr>
            </a:pPr>
            <a:r>
              <a:t>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3072384"/>
            <a:ext cx="3127248" cy="2231136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Original- und Austauschformat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Einfach weiterzugeben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Keine Datenbankregeln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→ Raw und bereinigter Export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2267712"/>
            <a:ext cx="3520440" cy="3172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968" y="2267712"/>
            <a:ext cx="41148" cy="3172968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2450592"/>
            <a:ext cx="3127248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087E83"/>
                </a:solidFill>
                <a:latin typeface="Aptos"/>
              </a:defRPr>
            </a:pPr>
            <a:r>
              <a:t>SQLite · gewählt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072384"/>
            <a:ext cx="3127248" cy="2231136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SQL ohne Datenbankserver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Primärschlüssel und CHECKs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Transaktionen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Eine portable Datei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für lokale Analysen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267712"/>
            <a:ext cx="3520440" cy="3172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2267712"/>
            <a:ext cx="41148" cy="3172968"/>
          </a:xfrm>
          <a:prstGeom prst="rect">
            <a:avLst/>
          </a:prstGeom>
          <a:solidFill>
            <a:srgbClr val="5367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2450592"/>
            <a:ext cx="3127248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536773"/>
                </a:solidFill>
                <a:latin typeface="Aptos"/>
              </a:defRPr>
            </a:pPr>
            <a:r>
              <a:t>PostgreSQL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072384"/>
            <a:ext cx="3127248" cy="2231136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Zentraler Mehrnutzerbetrieb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Viele parallele Schreibzugriffe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Serverbetrieb und Zugang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wären zusätzlich nötig.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806440"/>
            <a:ext cx="11064240" cy="484632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5888736"/>
            <a:ext cx="1065276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02C3B"/>
                </a:solidFill>
                <a:latin typeface="Aptos"/>
              </a:defRPr>
            </a:pPr>
            <a:r>
              <a:t>Relational: feste Attribute, eindeutige Unfall-ID und SQL-Aggregationen für F1–F3.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318504"/>
            <a:ext cx="10607040" cy="173736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36773"/>
                </a:solidFill>
                <a:latin typeface="Aptos"/>
              </a:defRPr>
            </a:pPr>
            <a:r>
              <a:t>Begründung: sqlite.org/whentouse.html · SQL-Schema: src/de_projekt/schema.sql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508" y="0"/>
            <a:ext cx="4064508" cy="59436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9016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087E83"/>
                </a:solidFill>
                <a:latin typeface="Aptos"/>
              </a:defRPr>
            </a:pPr>
            <a:r>
              <a:t>B · TRANSFORMATION TEIL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1064240" cy="6217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102C3B"/>
                </a:solidFill>
                <a:latin typeface="Aptos"/>
              </a:defRPr>
            </a:pPr>
            <a:r>
              <a:t>Erste Aufbereitung: von 36 auf 22 Spalten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536773"/>
                </a:solidFill>
                <a:latin typeface="Aptos"/>
              </a:defRPr>
            </a:pPr>
            <a:r>
              <a:t>Das Datenprofil zeigt keine fehlenden Werte oder doppelten Unfall-IDs.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9672"/>
            <a:ext cx="8046720" cy="1828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536773"/>
                </a:solidFill>
                <a:latin typeface="Aptos"/>
              </a:defRPr>
            </a:pPr>
            <a:r>
              <a:t>ZHAW · Data Engineering HS26 · Souto / Fawaz / Muslija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3728" y="6483096"/>
            <a:ext cx="1691640" cy="25603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36773"/>
                </a:solidFill>
                <a:latin typeface="Aptos"/>
              </a:defRPr>
            </a:pPr>
            <a:r>
              <a:t>Umsetzung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82528" y="6464808"/>
            <a:ext cx="566928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7E83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67712"/>
            <a:ext cx="3657600" cy="3218688"/>
          </a:xfrm>
          <a:prstGeom prst="roundRect">
            <a:avLst>
              <a:gd name="adj" fmla="val 8000"/>
            </a:avLst>
          </a:prstGeom>
          <a:solidFill>
            <a:srgbClr val="102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42032"/>
            <a:ext cx="3108960" cy="585216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79C9C1"/>
                </a:solidFill>
                <a:latin typeface="Aptos"/>
              </a:defRPr>
            </a:pPr>
            <a:r>
              <a:t>36 → 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3108960" cy="1984248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FFFFFF"/>
                </a:solidFill>
                <a:latin typeface="Aptos"/>
              </a:defRPr>
            </a:pPr>
            <a:r>
              <a:t>19 Originalfelder</a:t>
            </a:r>
          </a:p>
          <a:p>
            <a:pPr>
              <a:spcAft>
                <a:spcPts val="700"/>
              </a:spcAft>
              <a:defRPr sz="2000" b="0">
                <a:solidFill>
                  <a:srgbClr val="FFFFFF"/>
                </a:solidFill>
                <a:latin typeface="Aptos"/>
              </a:defRPr>
            </a:pPr>
            <a:r>
              <a:t>+ 3 Features</a:t>
            </a:r>
          </a:p>
          <a:p>
            <a:pPr>
              <a:spcAft>
                <a:spcPts val="700"/>
              </a:spcAft>
              <a:defRPr sz="2000" b="0">
                <a:solidFill>
                  <a:srgbClr val="FFFFFF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2000" b="0">
                <a:solidFill>
                  <a:srgbClr val="FFFFFF"/>
                </a:solidFill>
                <a:latin typeface="Aptos"/>
              </a:defRPr>
            </a:pPr>
            <a:r>
              <a:t>70’767 Zeilen bleiben</a:t>
            </a:r>
          </a:p>
          <a:p>
            <a:pPr>
              <a:spcAft>
                <a:spcPts val="700"/>
              </a:spcAft>
              <a:defRPr sz="2000" b="0">
                <a:solidFill>
                  <a:srgbClr val="FFFFFF"/>
                </a:solidFill>
                <a:latin typeface="Aptos"/>
              </a:defRPr>
            </a:pPr>
            <a:r>
              <a:t>Keine Imputation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267712"/>
            <a:ext cx="7132320" cy="3218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60" y="2267712"/>
            <a:ext cx="41148" cy="3218688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2450592"/>
            <a:ext cx="6739128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087E83"/>
                </a:solidFill>
                <a:latin typeface="Aptos"/>
              </a:defRPr>
            </a:pPr>
            <a:r>
              <a:t>Drei abgeleitete Merkmale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3072384"/>
            <a:ext cx="6739128" cy="2276856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is_weekend: Samstag / Sonntag</a:t>
            </a: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time_period: vier Sechs-Stunden-Blöcke</a:t>
            </a: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vulnerable_road_user: Fussgänger ODER Velo</a:t>
            </a: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H1 nutzt Wochenende × Originalstunde.</a:t>
            </a:r>
          </a:p>
          <a:p>
            <a:pPr>
              <a:spcAft>
                <a:spcPts val="700"/>
              </a:spcAft>
              <a:defRPr sz="1900" b="0">
                <a:solidFill>
                  <a:srgbClr val="102C3B"/>
                </a:solidFill>
                <a:latin typeface="Aptos"/>
              </a:defRPr>
            </a:pPr>
            <a:r>
              <a:t>Die anderen Features ergänzen den Bestand.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06440"/>
            <a:ext cx="11064240" cy="484632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5888736"/>
            <a:ext cx="1065276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02C3B"/>
                </a:solidFill>
                <a:latin typeface="Aptos"/>
              </a:defRPr>
            </a:pPr>
            <a:r>
              <a:t>Explizite Datentypen und Werteprüfungen; keine Zeilenlöschung oder Imputation.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508" y="0"/>
            <a:ext cx="4064508" cy="59436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9016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087E83"/>
                </a:solidFill>
                <a:latin typeface="Aptos"/>
              </a:defRPr>
            </a:pPr>
            <a:r>
              <a:t>B · QUALITÄT UND REPRODUZIERBARKEIT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1064240" cy="6217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102C3B"/>
                </a:solidFill>
                <a:latin typeface="Aptos"/>
              </a:defRPr>
            </a:pPr>
            <a:r>
              <a:t>Verarbeitung prüfen und wiederholen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536773"/>
                </a:solidFill>
                <a:latin typeface="Aptos"/>
              </a:defRPr>
            </a:pPr>
            <a:r>
              <a:t>Tests prüfen Fehlerfälle; ein Neulauf kontrolliert die vollständige Verarbeitung.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9672"/>
            <a:ext cx="8046720" cy="1828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536773"/>
                </a:solidFill>
                <a:latin typeface="Aptos"/>
              </a:defRPr>
            </a:pPr>
            <a:r>
              <a:t>ZHAW · Data Engineering HS26 · Souto / Fawaz / Muslija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3728" y="6483096"/>
            <a:ext cx="1691640" cy="25603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36773"/>
                </a:solidFill>
                <a:latin typeface="Aptos"/>
              </a:defRPr>
            </a:pPr>
            <a:r>
              <a:t>Umsetzung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82528" y="6464808"/>
            <a:ext cx="566928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7E83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2834640" cy="77724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4200" b="1">
                <a:solidFill>
                  <a:srgbClr val="087E83"/>
                </a:solidFill>
                <a:latin typeface="Aptos"/>
              </a:defRPr>
            </a:pPr>
            <a:r>
              <a:t>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91256"/>
            <a:ext cx="283464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536773"/>
                </a:solidFill>
                <a:latin typeface="Aptos"/>
              </a:defRPr>
            </a:pPr>
            <a:r>
              <a:t>automatisierte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2286000"/>
            <a:ext cx="7955279" cy="13533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86200" y="2478024"/>
            <a:ext cx="7452360" cy="384048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087E83"/>
                </a:solidFill>
                <a:latin typeface="Aptos"/>
              </a:defRPr>
            </a:pPr>
            <a:r>
              <a:t>Vor dem Datenbankaustausch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3026664"/>
            <a:ext cx="7452360" cy="384048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Temporär aufbauen → Werte vergleichen → Integrität prüfen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96512"/>
            <a:ext cx="11064240" cy="13533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4288536"/>
            <a:ext cx="10588752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087E83"/>
                </a:solidFill>
                <a:latin typeface="Aptos"/>
              </a:defRPr>
            </a:pPr>
            <a:r>
              <a:t>Abschlussprüfung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4855464"/>
            <a:ext cx="10588752" cy="384048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Pipeline und Notebooks reproduziert; Mengentest mit bis zu 707’670 synthetischen Zeilen.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806440"/>
            <a:ext cx="11064240" cy="484632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5888736"/>
            <a:ext cx="1065276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02C3B"/>
                </a:solidFill>
                <a:latin typeface="Aptos"/>
              </a:defRPr>
            </a:pPr>
            <a:r>
              <a:t>Ein Neulauf ersetzt den Bestand kontrolliert und hängt keine zusätzlichen Unfälle 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508" y="0"/>
            <a:ext cx="4064508" cy="59436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9016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087E83"/>
                </a:solidFill>
                <a:latin typeface="Aptos"/>
              </a:defRPr>
            </a:pPr>
            <a:r>
              <a:t>B · HYPOTHESEN UND METHODEN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1064240" cy="6217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102C3B"/>
                </a:solidFill>
                <a:latin typeface="Aptos"/>
              </a:defRPr>
            </a:pPr>
            <a:r>
              <a:t>Hypothesen prüfen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536773"/>
                </a:solidFill>
                <a:latin typeface="Aptos"/>
              </a:defRPr>
            </a:pPr>
            <a:r>
              <a:t>Pearson-Chi-Quadrat · Signifikanzniveau α = 0,05 · Cramérs V ergänzt den p-Wert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9672"/>
            <a:ext cx="8046720" cy="1828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536773"/>
                </a:solidFill>
                <a:latin typeface="Aptos"/>
              </a:defRPr>
            </a:pPr>
            <a:r>
              <a:t>ZHAW · Data Engineering HS26 · Souto / Fawaz / Muslija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3728" y="6483096"/>
            <a:ext cx="1691640" cy="25603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36773"/>
                </a:solidFill>
                <a:latin typeface="Aptos"/>
              </a:defRPr>
            </a:pPr>
            <a:r>
              <a:t>Umsetzung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82528" y="6464808"/>
            <a:ext cx="566928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7E83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67712"/>
            <a:ext cx="53949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67712"/>
            <a:ext cx="41148" cy="3200400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450592"/>
            <a:ext cx="5001768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087E83"/>
                </a:solidFill>
                <a:latin typeface="Aptos"/>
              </a:defRPr>
            </a:pPr>
            <a:r>
              <a:t>H1 · 2 Gruppen × 24 Stunden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3072384"/>
            <a:ext cx="5001768" cy="2258568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H0: gleiche Stundenverteilung an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Werktagen und Wochenenden.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Alternative: unterschiedliche Verteilung.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Alle 70’767 Unfälle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Relative Anteile innerhalb der Gruppen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267712"/>
            <a:ext cx="53949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2267712"/>
            <a:ext cx="41148" cy="3200400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450592"/>
            <a:ext cx="5001768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087E83"/>
                </a:solidFill>
                <a:latin typeface="Aptos"/>
              </a:defRPr>
            </a:pPr>
            <a:r>
              <a:t>H2 · je 2 Gruppen × 3 Schweregrade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072384"/>
            <a:ext cx="5001768" cy="2258568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H0: Beteiligung und Schwere unabhängig.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Alternative: ein Zusammenhang besteht.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Fussgänger, Velo und Motorrad getrennt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18’164 Personenschadenunfälle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Holm korrigiert die drei p-Werte.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806440"/>
            <a:ext cx="11064240" cy="484632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5888736"/>
            <a:ext cx="1065276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02C3B"/>
                </a:solidFill>
                <a:latin typeface="Aptos"/>
              </a:defRPr>
            </a:pPr>
            <a:r>
              <a:t>Alle erwarteten Zellen &gt; 5. Ein kleiner p-Wert belegt weder eine Ursache noch einen grossen Effekt.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18504"/>
            <a:ext cx="10607040" cy="173736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36773"/>
                </a:solidFill>
                <a:latin typeface="Aptos"/>
              </a:defRPr>
            </a:pPr>
            <a:r>
              <a:t>Methode: SciPy chi2_contingency · Holm (1979), Scandinavian Journal of Statistics 6(2), 65–70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508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9016" y="0"/>
            <a:ext cx="4064508" cy="59436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087E83"/>
                </a:solidFill>
                <a:latin typeface="Aptos"/>
              </a:defRPr>
            </a:pPr>
            <a:r>
              <a:t>C · ERGEBNIS F1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1064240" cy="6217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102C3B"/>
                </a:solidFill>
                <a:latin typeface="Aptos"/>
              </a:defRPr>
            </a:pPr>
            <a:r>
              <a:t>F1: Andere Stundenverteilung am Wochenende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536773"/>
                </a:solidFill>
                <a:latin typeface="Aptos"/>
              </a:defRPr>
            </a:pPr>
            <a:r>
              <a:t>Relative Stundenanteile: jede Kurve summiert sich innerhalb ihrer Gruppe auf 100 %.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9672"/>
            <a:ext cx="8046720" cy="1828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536773"/>
                </a:solidFill>
                <a:latin typeface="Aptos"/>
              </a:defRPr>
            </a:pPr>
            <a:r>
              <a:t>ZHAW · Data Engineering HS26 · Souto / Fawaz / Muslija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3728" y="6483096"/>
            <a:ext cx="1691640" cy="25603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36773"/>
                </a:solidFill>
                <a:latin typeface="Aptos"/>
              </a:defRPr>
            </a:pPr>
            <a:r>
              <a:t>Ergebnisse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82528" y="6464808"/>
            <a:ext cx="566928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7E83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21992"/>
            <a:ext cx="754380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esbar_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2403077"/>
            <a:ext cx="7379208" cy="310340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302752" y="2221992"/>
            <a:ext cx="3310128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02752" y="2221992"/>
            <a:ext cx="41148" cy="3474720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13064" y="2404872"/>
            <a:ext cx="2916936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087E83"/>
                </a:solidFill>
                <a:latin typeface="Aptos"/>
              </a:defRPr>
            </a:pPr>
            <a:r>
              <a:t>Nacht · 00–05 Uhr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3064" y="3026664"/>
            <a:ext cx="2916936" cy="2532887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3,71 %  werktags</a:t>
            </a:r>
          </a:p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14,63 %  am Wochenende</a:t>
            </a:r>
          </a:p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Spitzen: 17 / 14 Uhr</a:t>
            </a:r>
          </a:p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p &lt; 0,001</a:t>
            </a:r>
          </a:p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Cramérs V = 0,234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806440"/>
            <a:ext cx="11064240" cy="484632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5888736"/>
            <a:ext cx="1065276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02C3B"/>
                </a:solidFill>
                <a:latin typeface="Aptos"/>
              </a:defRPr>
            </a:pPr>
            <a:r>
              <a:t>H1: H0 wird verworfen. Die Verteilungen unterscheiden sich; ein Risiko pro Fahrt ist unbekannt.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318504"/>
            <a:ext cx="10607040" cy="173736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36773"/>
                </a:solidFill>
                <a:latin typeface="Aptos"/>
              </a:defRPr>
            </a:pPr>
            <a:r>
              <a:t>Daten: Open Data Zürich / Bundesamt für Strassen ASTRA · Snapshot 13.10.2026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508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9016" y="0"/>
            <a:ext cx="4064508" cy="59436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087E83"/>
                </a:solidFill>
                <a:latin typeface="Aptos"/>
              </a:defRPr>
            </a:pPr>
            <a:r>
              <a:t>C · ERGEBNIS F2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1064240" cy="6217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102C3B"/>
                </a:solidFill>
                <a:latin typeface="Aptos"/>
              </a:defRPr>
            </a:pPr>
            <a:r>
              <a:t>F2: Kleine Zusammenhänge mit der Unfallschwere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536773"/>
                </a:solidFill>
                <a:latin typeface="Aptos"/>
              </a:defRPr>
            </a:pPr>
            <a:r>
              <a:t>Nur Personenschadenunfälle · Für die Grafik sind schwere und tödliche Unfälle zusammengefasst.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9672"/>
            <a:ext cx="8046720" cy="1828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536773"/>
                </a:solidFill>
                <a:latin typeface="Aptos"/>
              </a:defRPr>
            </a:pPr>
            <a:r>
              <a:t>ZHAW · Data Engineering HS26 · Souto / Fawaz / Muslija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3728" y="6483096"/>
            <a:ext cx="1691640" cy="25603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36773"/>
                </a:solidFill>
                <a:latin typeface="Aptos"/>
              </a:defRPr>
            </a:pPr>
            <a:r>
              <a:t>Ergebnisse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82528" y="6464808"/>
            <a:ext cx="566928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7E83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21992"/>
            <a:ext cx="754380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esbar_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2403077"/>
            <a:ext cx="7379208" cy="310340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302752" y="2221992"/>
            <a:ext cx="3310128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02752" y="2221992"/>
            <a:ext cx="41148" cy="3474720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13064" y="2404872"/>
            <a:ext cx="2916936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087E83"/>
                </a:solidFill>
                <a:latin typeface="Aptos"/>
              </a:defRPr>
            </a:pPr>
            <a:r>
              <a:t>Alle drei signifikant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3064" y="3026664"/>
            <a:ext cx="2916936" cy="2532887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Nach Holm-Korrektur</a:t>
            </a:r>
          </a:p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Cramérs V:</a:t>
            </a:r>
          </a:p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Fussgänger  0,104</a:t>
            </a:r>
          </a:p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Velo               0,054</a:t>
            </a:r>
          </a:p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Motorrad        0,036</a:t>
            </a:r>
          </a:p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→ Kleine Assoziationen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806440"/>
            <a:ext cx="11064240" cy="484632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5888736"/>
            <a:ext cx="1065276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02C3B"/>
                </a:solidFill>
                <a:latin typeface="Aptos"/>
              </a:defRPr>
            </a:pPr>
            <a:r>
              <a:t>Der Test nutzt drei Schweregrade. Die Beteiligung zeigt nicht, welche Person verletzt wurde.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318504"/>
            <a:ext cx="10607040" cy="173736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36773"/>
                </a:solidFill>
                <a:latin typeface="Aptos"/>
              </a:defRPr>
            </a:pPr>
            <a:r>
              <a:t>Daten: Open Data Zürich / Bundesamt für Strassen ASTRA · Snapshot 13.10.2026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508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9016" y="0"/>
            <a:ext cx="4064508" cy="59436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087E83"/>
                </a:solidFill>
                <a:latin typeface="Aptos"/>
              </a:defRPr>
            </a:pPr>
            <a:r>
              <a:t>C · ERGEBNIS F3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1064240" cy="6217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102C3B"/>
                </a:solidFill>
                <a:latin typeface="Aptos"/>
              </a:defRPr>
            </a:pPr>
            <a:r>
              <a:t>F3: Anzahl und Zusammensetzung ändern sich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536773"/>
                </a:solidFill>
                <a:latin typeface="Aptos"/>
              </a:defRPr>
            </a:pPr>
            <a:r>
              <a:t>Eine Zeitreihe zeigt mehr als der Vergleich des ersten mit dem letzten Jahr.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9672"/>
            <a:ext cx="8046720" cy="1828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536773"/>
                </a:solidFill>
                <a:latin typeface="Aptos"/>
              </a:defRPr>
            </a:pPr>
            <a:r>
              <a:t>ZHAW · Data Engineering HS26 · Souto / Fawaz / Muslija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3728" y="6483096"/>
            <a:ext cx="1691640" cy="25603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36773"/>
                </a:solidFill>
                <a:latin typeface="Aptos"/>
              </a:defRPr>
            </a:pPr>
            <a:r>
              <a:t>Ergebnisse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82528" y="6464808"/>
            <a:ext cx="566928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7E83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21992"/>
            <a:ext cx="1106424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esbar_f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6255" y="2286000"/>
            <a:ext cx="9589008" cy="331927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5806440"/>
            <a:ext cx="11064240" cy="484632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5888736"/>
            <a:ext cx="1065276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02C3B"/>
                </a:solidFill>
                <a:latin typeface="Aptos"/>
              </a:defRPr>
            </a:pPr>
            <a:r>
              <a:t>2016 → 2025: total 5’556 → 4’714 · Personenschäden 1’262 → 1’310 · keine stetige Zunahme.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318504"/>
            <a:ext cx="10607040" cy="173736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36773"/>
                </a:solidFill>
                <a:latin typeface="Aptos"/>
              </a:defRPr>
            </a:pPr>
            <a:r>
              <a:t>Daten: Open Data Zürich / Bundesamt für Strassen ASTRA · Snapshot 13.10.2026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508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9016" y="0"/>
            <a:ext cx="4064508" cy="59436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087E83"/>
                </a:solidFill>
                <a:latin typeface="Aptos"/>
              </a:defRPr>
            </a:pPr>
            <a:r>
              <a:t>C ·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1064240" cy="6217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102C3B"/>
                </a:solidFill>
                <a:latin typeface="Aptos"/>
              </a:defRPr>
            </a:pPr>
            <a:r>
              <a:t>Einordnung und Ausblick auf Teil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536773"/>
                </a:solidFill>
                <a:latin typeface="Aptos"/>
              </a:defRPr>
            </a:pPr>
            <a:r>
              <a:t>Die Ergebnisse von Teil 1 sind eine erste Auswertung des registrierten Bestands.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9672"/>
            <a:ext cx="8046720" cy="1828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536773"/>
                </a:solidFill>
                <a:latin typeface="Aptos"/>
              </a:defRPr>
            </a:pPr>
            <a:r>
              <a:t>ZHAW · Data Engineering HS26 · Souto / Fawaz / Muslija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3728" y="6483096"/>
            <a:ext cx="1691640" cy="25603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36773"/>
                </a:solidFill>
                <a:latin typeface="Aptos"/>
              </a:defRPr>
            </a:pPr>
            <a:r>
              <a:t>Ergebnisse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82528" y="6464808"/>
            <a:ext cx="566928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7E83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67712"/>
            <a:ext cx="352044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67712"/>
            <a:ext cx="41148" cy="3200400"/>
          </a:xfrm>
          <a:prstGeom prst="rect">
            <a:avLst/>
          </a:prstGeom>
          <a:solidFill>
            <a:srgbClr val="C56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450592"/>
            <a:ext cx="3127248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C56A35"/>
                </a:solidFill>
                <a:latin typeface="Aptos"/>
              </a:defRPr>
            </a:pPr>
            <a:r>
              <a:t>Aussagegrenzen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3072384"/>
            <a:ext cx="3127248" cy="2258568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Keine Verkehrsleistung.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Keine Risiken pro Fahrt.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Der Schweregrad gehört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zum gesamten Unfall.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2267712"/>
            <a:ext cx="352044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968" y="2267712"/>
            <a:ext cx="41148" cy="3200400"/>
          </a:xfrm>
          <a:prstGeom prst="rect">
            <a:avLst/>
          </a:prstGeom>
          <a:solidFill>
            <a:srgbClr val="C56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2450592"/>
            <a:ext cx="3127248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C56A35"/>
                </a:solidFill>
                <a:latin typeface="Aptos"/>
              </a:defRPr>
            </a:pPr>
            <a:r>
              <a:t>Offene Fragen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072384"/>
            <a:ext cx="3127248" cy="2258568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Beteiligungsdefinition bei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Sachschäden ungeklärt.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Weitere Einflüsse sind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nicht kontrolliert.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267712"/>
            <a:ext cx="352044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2267712"/>
            <a:ext cx="41148" cy="3200400"/>
          </a:xfrm>
          <a:prstGeom prst="rect">
            <a:avLst/>
          </a:prstGeom>
          <a:solidFill>
            <a:srgbClr val="C56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2450592"/>
            <a:ext cx="3127248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C56A35"/>
                </a:solidFill>
                <a:latin typeface="Aptos"/>
              </a:defRPr>
            </a:pPr>
            <a:r>
              <a:t>Teil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072384"/>
            <a:ext cx="3127248" cy="2258568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Analyse und Bereinigung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abschliessen.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Serving-Lösung auswählen</a:t>
            </a:r>
          </a:p>
          <a:p>
            <a:pPr>
              <a:spcAft>
                <a:spcPts val="700"/>
              </a:spcAft>
              <a:defRPr sz="1800" b="0">
                <a:solidFill>
                  <a:srgbClr val="102C3B"/>
                </a:solidFill>
                <a:latin typeface="Aptos"/>
              </a:defRPr>
            </a:pPr>
            <a:r>
              <a:t>und umsetzen.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806440"/>
            <a:ext cx="11064240" cy="484632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5888736"/>
            <a:ext cx="1065276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02C3B"/>
                </a:solidFill>
                <a:latin typeface="Aptos"/>
              </a:defRPr>
            </a:pPr>
            <a:r>
              <a:t>In Teil 2 werden die Fragen mit der abschliessenden Auswertung erneut beantwortet.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C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4508" cy="59436"/>
          </a:xfrm>
          <a:prstGeom prst="rect">
            <a:avLst/>
          </a:prstGeom>
          <a:solidFill>
            <a:srgbClr val="28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508" y="0"/>
            <a:ext cx="4064508" cy="59436"/>
          </a:xfrm>
          <a:prstGeom prst="rect">
            <a:avLst/>
          </a:prstGeom>
          <a:solidFill>
            <a:srgbClr val="28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9016" y="0"/>
            <a:ext cx="4064508" cy="59436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79C9C1"/>
                </a:solidFill>
                <a:latin typeface="Aptos"/>
              </a:defRPr>
            </a:pPr>
            <a:r>
              <a:t>C · ANTWORTEN UND ABSCHLUSS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1064240" cy="6217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Antworten auf die drei Forschungsfragen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9672"/>
            <a:ext cx="8046720" cy="1828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CFD9DD"/>
                </a:solidFill>
                <a:latin typeface="Aptos"/>
              </a:defRPr>
            </a:pPr>
            <a:r>
              <a:t>ZHAW · Data Engineering HS26 · Souto / Fawaz / Muslija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53728" y="6483096"/>
            <a:ext cx="1691640" cy="25603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CFD9DD"/>
                </a:solidFill>
                <a:latin typeface="Aptos"/>
              </a:defRPr>
            </a:pPr>
            <a:r>
              <a:t>Ergebnisse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82528" y="6464808"/>
            <a:ext cx="566928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CFD9DD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1C3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331720"/>
            <a:ext cx="640080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79C9C1"/>
                </a:solidFill>
                <a:latin typeface="Aptos"/>
              </a:defRPr>
            </a:pPr>
            <a:r>
              <a:t>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240280"/>
            <a:ext cx="941832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FFFFFF"/>
                </a:solidFill>
                <a:latin typeface="Aptos"/>
              </a:defRPr>
            </a:pPr>
            <a:r>
              <a:t>Die zeitlichen Muster unterscheiden sich.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651760"/>
            <a:ext cx="9418320" cy="28346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CFD9DD"/>
                </a:solidFill>
                <a:latin typeface="Aptos"/>
              </a:defRPr>
            </a:pPr>
            <a:r>
              <a:t>Höherer Nachtanteil am Wochenende.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82112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1C3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364992"/>
            <a:ext cx="640080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79C9C1"/>
                </a:solidFill>
                <a:latin typeface="Aptos"/>
              </a:defRPr>
            </a:pPr>
            <a:r>
              <a:t>F2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273552"/>
            <a:ext cx="941832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FFFFFF"/>
                </a:solidFill>
                <a:latin typeface="Aptos"/>
              </a:defRPr>
            </a:pPr>
            <a:r>
              <a:t>Beteiligung und Schwere hängen zusammen.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685032"/>
            <a:ext cx="9418320" cy="28346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CFD9DD"/>
                </a:solidFill>
                <a:latin typeface="Aptos"/>
              </a:defRPr>
            </a:pPr>
            <a:r>
              <a:t>Signifikante, kleine Assoziationen bei Personenschadenunfällen.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15384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1C3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398264"/>
            <a:ext cx="640080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79C9C1"/>
                </a:solidFill>
                <a:latin typeface="Aptos"/>
              </a:defRPr>
            </a:pPr>
            <a:r>
              <a:t>F3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306824"/>
            <a:ext cx="941832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FFFFFF"/>
                </a:solidFill>
                <a:latin typeface="Aptos"/>
              </a:defRPr>
            </a:pPr>
            <a:r>
              <a:t>Die Entwicklung ist uneinheitlich.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718304"/>
            <a:ext cx="9418320" cy="28346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CFD9DD"/>
                </a:solidFill>
                <a:latin typeface="Aptos"/>
              </a:defRPr>
            </a:pPr>
            <a:r>
              <a:t>Gesamtzahl und Personenschäden unterscheiden sich; Veloanteil steigt.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522976"/>
            <a:ext cx="10881360" cy="402336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Code, Datenbank und Analysen im Repository · Ausführung im README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044184"/>
            <a:ext cx="10881360" cy="292608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79C9C1"/>
                </a:solidFill>
                <a:latin typeface="Aptos"/>
              </a:defRPr>
            </a:pPr>
            <a:r>
              <a:t>Vielen Dank. Wir beantworten gerne Fragen.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508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9016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087E83"/>
                </a:solidFill>
                <a:latin typeface="Aptos"/>
              </a:defRPr>
            </a:pPr>
            <a:r>
              <a:t>RESERVE A · DATENBANK UND 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1064240" cy="6217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102C3B"/>
                </a:solidFill>
                <a:latin typeface="Aptos"/>
              </a:defRPr>
            </a:pPr>
            <a:r>
              <a:t>Eine Unfalltabelle genügt für unsere Fragen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536773"/>
                </a:solidFill>
                <a:latin typeface="Aptos"/>
              </a:defRPr>
            </a:pPr>
            <a:r>
              <a:t>accidents: 70’767 Zeilen · 22 Spalten · AccidentUID als Primärschlüssel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9672"/>
            <a:ext cx="8046720" cy="1828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536773"/>
                </a:solidFill>
                <a:latin typeface="Aptos"/>
              </a:defRPr>
            </a:pPr>
            <a:r>
              <a:t>ZHAW · Data Engineering HS26 · Souto / Fawaz / Muslija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3728" y="6483096"/>
            <a:ext cx="1691640" cy="25603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36773"/>
                </a:solidFill>
                <a:latin typeface="Aptos"/>
              </a:defRPr>
            </a:pPr>
            <a:r>
              <a:t>Reserve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82528" y="6464808"/>
            <a:ext cx="566928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7E83"/>
                </a:solidFill>
                <a:latin typeface="Aptos"/>
              </a:defRPr>
            </a:pPr>
            <a:r>
              <a:t>R1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40280"/>
            <a:ext cx="365760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40280"/>
            <a:ext cx="41148" cy="3246120"/>
          </a:xfrm>
          <a:prstGeom prst="rect">
            <a:avLst/>
          </a:prstGeom>
          <a:solidFill>
            <a:srgbClr val="08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423160"/>
            <a:ext cx="3264408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087E83"/>
                </a:solidFill>
                <a:latin typeface="Aptos"/>
              </a:defRPr>
            </a:pPr>
            <a:r>
              <a:t>Datenmodell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3044952"/>
            <a:ext cx="3264408" cy="2304287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102C3B"/>
                </a:solidFill>
                <a:latin typeface="Aptos"/>
              </a:defRPr>
            </a:pPr>
            <a:r>
              <a:t>Zeit und Schwere</a:t>
            </a:r>
          </a:p>
          <a:p>
            <a:pPr>
              <a:spcAft>
                <a:spcPts val="700"/>
              </a:spcAft>
              <a:defRPr sz="1600" b="0">
                <a:solidFill>
                  <a:srgbClr val="102C3B"/>
                </a:solidFill>
                <a:latin typeface="Aptos"/>
              </a:defRPr>
            </a:pPr>
            <a:r>
              <a:t>Unfall- und Strassenart</a:t>
            </a:r>
          </a:p>
          <a:p>
            <a:pPr>
              <a:spcAft>
                <a:spcPts val="700"/>
              </a:spcAft>
              <a:defRPr sz="1600" b="0">
                <a:solidFill>
                  <a:srgbClr val="102C3B"/>
                </a:solidFill>
                <a:latin typeface="Aptos"/>
              </a:defRPr>
            </a:pPr>
            <a:r>
              <a:t>Beteiligungsmerkmale</a:t>
            </a:r>
          </a:p>
          <a:p>
            <a:pPr>
              <a:spcAft>
                <a:spcPts val="700"/>
              </a:spcAft>
              <a:defRPr sz="1600" b="0">
                <a:solidFill>
                  <a:srgbClr val="102C3B"/>
                </a:solidFill>
                <a:latin typeface="Aptos"/>
              </a:defRPr>
            </a:pPr>
            <a:r>
              <a:t>Koordinaten + 3 Features</a:t>
            </a:r>
          </a:p>
          <a:p>
            <a:pPr>
              <a:spcAft>
                <a:spcPts val="700"/>
              </a:spcAft>
              <a:defRPr sz="1600" b="0">
                <a:solidFill>
                  <a:srgbClr val="102C3B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1600" b="0">
                <a:solidFill>
                  <a:srgbClr val="102C3B"/>
                </a:solidFill>
                <a:latin typeface="Aptos"/>
              </a:defRPr>
            </a:pPr>
            <a:r>
              <a:t>pipeline_metadata:</a:t>
            </a:r>
          </a:p>
          <a:p>
            <a:pPr>
              <a:spcAft>
                <a:spcPts val="700"/>
              </a:spcAft>
              <a:defRPr sz="1600" b="0">
                <a:solidFill>
                  <a:srgbClr val="102C3B"/>
                </a:solidFill>
                <a:latin typeface="Aptos"/>
              </a:defRPr>
            </a:pPr>
            <a:r>
              <a:t>Herkunft und Regelversionen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2240280"/>
            <a:ext cx="7132320" cy="3246120"/>
          </a:xfrm>
          <a:prstGeom prst="roundRect">
            <a:avLst>
              <a:gd name="adj" fmla="val 8000"/>
            </a:avLst>
          </a:prstGeom>
          <a:solidFill>
            <a:srgbClr val="102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18304" y="2514600"/>
            <a:ext cx="6675120" cy="2560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FFFFFF"/>
                </a:solidFill>
                <a:latin typeface="Consolas"/>
              </a:defRPr>
            </a:pPr>
            <a:r>
              <a:t>SELECT AccidentYear, COUNT(*) AS n</a:t>
            </a:r>
          </a:p>
          <a:p>
            <a:pPr>
              <a:spcAft>
                <a:spcPts val="700"/>
              </a:spcAft>
              <a:defRPr sz="1900" b="0">
                <a:solidFill>
                  <a:srgbClr val="FFFFFF"/>
                </a:solidFill>
                <a:latin typeface="Consolas"/>
              </a:defRPr>
            </a:pPr>
            <a:r>
              <a:t>FROM accidents</a:t>
            </a:r>
          </a:p>
          <a:p>
            <a:pPr>
              <a:spcAft>
                <a:spcPts val="700"/>
              </a:spcAft>
              <a:defRPr sz="1900" b="0">
                <a:solidFill>
                  <a:srgbClr val="FFFFFF"/>
                </a:solidFill>
                <a:latin typeface="Consolas"/>
              </a:defRPr>
            </a:pPr>
            <a:r>
              <a:t>WHERE AccidentSeverityCategory</a:t>
            </a:r>
          </a:p>
          <a:p>
            <a:pPr>
              <a:spcAft>
                <a:spcPts val="700"/>
              </a:spcAft>
              <a:defRPr sz="1900" b="0">
                <a:solidFill>
                  <a:srgbClr val="FFFFFF"/>
                </a:solidFill>
                <a:latin typeface="Consolas"/>
              </a:defRPr>
            </a:pPr>
            <a:r>
              <a:t>      IN ('as1', 'as2', 'as3')</a:t>
            </a:r>
          </a:p>
          <a:p>
            <a:pPr>
              <a:spcAft>
                <a:spcPts val="700"/>
              </a:spcAft>
              <a:defRPr sz="1900" b="0">
                <a:solidFill>
                  <a:srgbClr val="FFFFFF"/>
                </a:solidFill>
                <a:latin typeface="Consolas"/>
              </a:defRPr>
            </a:pPr>
            <a:r>
              <a:t>GROUP BY AccidentYear</a:t>
            </a:r>
          </a:p>
          <a:p>
            <a:pPr>
              <a:spcAft>
                <a:spcPts val="700"/>
              </a:spcAft>
              <a:defRPr sz="1900" b="0">
                <a:solidFill>
                  <a:srgbClr val="FFFFFF"/>
                </a:solidFill>
                <a:latin typeface="Consolas"/>
              </a:defRPr>
            </a:pPr>
            <a:r>
              <a:t>ORDER BY AccidentYear;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806440"/>
            <a:ext cx="11064240" cy="484632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5888736"/>
            <a:ext cx="1065276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02C3B"/>
                </a:solidFill>
                <a:latin typeface="Aptos"/>
              </a:defRPr>
            </a:pPr>
            <a:r>
              <a:t>STRICT-Typen · CHECK-Regeln · transaktionaler Aufbau · Integritäts- und Wertevergleich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508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9016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087E83"/>
                </a:solidFill>
                <a:latin typeface="Aptos"/>
              </a:defRPr>
            </a:pPr>
            <a:r>
              <a:t>RESERVE B · TESTDETAILS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1064240" cy="6217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102C3B"/>
                </a:solidFill>
                <a:latin typeface="Aptos"/>
              </a:defRPr>
            </a:pPr>
            <a:r>
              <a:t>Signifikanz, Effektgrösse und Fallzahl gemeinsam lesen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536773"/>
                </a:solidFill>
                <a:latin typeface="Aptos"/>
              </a:defRPr>
            </a:pPr>
            <a:r>
              <a:t>Pearson-Chi-Quadrat ohne Kontinuitätskorrektur · H1 separat, H2 als Familie korrigiert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9672"/>
            <a:ext cx="8046720" cy="1828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536773"/>
                </a:solidFill>
                <a:latin typeface="Aptos"/>
              </a:defRPr>
            </a:pPr>
            <a:r>
              <a:t>ZHAW · Data Engineering HS26 · Souto / Fawaz / Muslija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3728" y="6483096"/>
            <a:ext cx="1691640" cy="25603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36773"/>
                </a:solidFill>
                <a:latin typeface="Aptos"/>
              </a:defRPr>
            </a:pPr>
            <a:r>
              <a:t>Reserve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82528" y="6464808"/>
            <a:ext cx="566928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7E83"/>
                </a:solidFill>
                <a:latin typeface="Aptos"/>
              </a:defRPr>
            </a:pPr>
            <a:r>
              <a:t>R2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58568"/>
            <a:ext cx="2331720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87E83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258568"/>
            <a:ext cx="1143000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87E83"/>
                </a:solidFill>
                <a:latin typeface="Aptos"/>
              </a:defRPr>
            </a:pPr>
            <a:r>
              <a:t>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258568"/>
            <a:ext cx="1463040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87E83"/>
                </a:solidFill>
                <a:latin typeface="Aptos"/>
              </a:defRPr>
            </a:pPr>
            <a:r>
              <a:t>χ²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4728" y="2258568"/>
            <a:ext cx="548640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87E83"/>
                </a:solidFill>
                <a:latin typeface="Aptos"/>
              </a:defRPr>
            </a:pPr>
            <a:r>
              <a:t>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258568"/>
            <a:ext cx="2560320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87E83"/>
                </a:solidFill>
                <a:latin typeface="Aptos"/>
              </a:defRPr>
            </a:pPr>
            <a:r>
              <a:t>p / p(Holm)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258568"/>
            <a:ext cx="1463040" cy="45720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087E83"/>
                </a:solidFill>
                <a:latin typeface="Aptos"/>
              </a:defRPr>
            </a:pPr>
            <a:r>
              <a:t>Cramérs 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807208"/>
            <a:ext cx="1106424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880360"/>
            <a:ext cx="233172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H1 · Zeit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2880360"/>
            <a:ext cx="114300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70’767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2880360"/>
            <a:ext cx="146304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3’877,063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4728" y="2880360"/>
            <a:ext cx="54864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880360"/>
            <a:ext cx="256032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&lt; 0,001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880360"/>
            <a:ext cx="146304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0,234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392424"/>
            <a:ext cx="11064240" cy="539496"/>
          </a:xfrm>
          <a:prstGeom prst="rect">
            <a:avLst/>
          </a:prstGeom>
          <a:solidFill>
            <a:srgbClr val="E3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465576"/>
            <a:ext cx="233172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H2 · Fussgänger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3465576"/>
            <a:ext cx="114300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18’164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3465576"/>
            <a:ext cx="146304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194,879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24728" y="3465576"/>
            <a:ext cx="54864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3465576"/>
            <a:ext cx="256032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1,444 × 10⁻⁴²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3465576"/>
            <a:ext cx="146304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0,104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977639"/>
            <a:ext cx="1106424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050791"/>
            <a:ext cx="233172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H2 · Velo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050791"/>
            <a:ext cx="114300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18’164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0" y="4050791"/>
            <a:ext cx="146304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52,602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24728" y="4050791"/>
            <a:ext cx="54864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050791"/>
            <a:ext cx="256032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7,563 × 10⁻¹²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4050791"/>
            <a:ext cx="146304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0,054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562856"/>
            <a:ext cx="11064240" cy="539496"/>
          </a:xfrm>
          <a:prstGeom prst="rect">
            <a:avLst/>
          </a:prstGeom>
          <a:solidFill>
            <a:srgbClr val="E3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636008"/>
            <a:ext cx="233172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H2 · Motorrad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17520" y="4636008"/>
            <a:ext cx="114300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18’164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1960" y="4636008"/>
            <a:ext cx="146304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23,961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24728" y="4636008"/>
            <a:ext cx="54864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4636008"/>
            <a:ext cx="256032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6,267 × 10⁻⁶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4636008"/>
            <a:ext cx="1463040" cy="3931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02C3B"/>
                </a:solidFill>
                <a:latin typeface="Aptos"/>
              </a:defRPr>
            </a:pPr>
            <a:r>
              <a:t>0,036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806440"/>
            <a:ext cx="11064240" cy="484632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" y="5888736"/>
            <a:ext cx="1065276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02C3B"/>
                </a:solidFill>
                <a:latin typeface="Aptos"/>
              </a:defRPr>
            </a:pPr>
            <a:r>
              <a:t>Kleinste erwartete Zelle: H1 114,61 · H2 mindestens 15,59. H1-p-Wert numerisch unterlaufen.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318504"/>
            <a:ext cx="10607040" cy="173736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36773"/>
                </a:solidFill>
                <a:latin typeface="Aptos"/>
              </a:defRPr>
            </a:pPr>
            <a:r>
              <a:t>Nachweis: data/processed/analysis_summary.json · hypothesis_tests_h2.csv · analysis.py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508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9016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087E83"/>
                </a:solidFill>
                <a:latin typeface="Aptos"/>
              </a:defRPr>
            </a:pPr>
            <a:r>
              <a:t>RESERVE C · UNTERSTRÖMUNGEN UND ERWEITERBARKEIT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1064240" cy="6217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102C3B"/>
                </a:solidFill>
                <a:latin typeface="Aptos"/>
              </a:defRPr>
            </a:pPr>
            <a:r>
              <a:t>Qualität und Verantwortung begleiten jede 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536773"/>
                </a:solidFill>
                <a:latin typeface="Aptos"/>
              </a:defRPr>
            </a:pPr>
            <a:r>
              <a:t>Qualitätskontrollen, Herkunft und ein ergänzender Mengentest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9672"/>
            <a:ext cx="8046720" cy="1828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536773"/>
                </a:solidFill>
                <a:latin typeface="Aptos"/>
              </a:defRPr>
            </a:pPr>
            <a:r>
              <a:t>ZHAW · Data Engineering HS26 · Souto / Fawaz / Muslija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3728" y="6483096"/>
            <a:ext cx="1691640" cy="25603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36773"/>
                </a:solidFill>
                <a:latin typeface="Aptos"/>
              </a:defRPr>
            </a:pPr>
            <a:r>
              <a:t>Reserve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82528" y="6464808"/>
            <a:ext cx="566928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7E83"/>
                </a:solidFill>
                <a:latin typeface="Aptos"/>
              </a:defRPr>
            </a:pPr>
            <a:r>
              <a:t>R3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40280"/>
            <a:ext cx="5394960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377440"/>
            <a:ext cx="5029200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087E83"/>
                </a:solidFill>
                <a:latin typeface="Aptos"/>
              </a:defRPr>
            </a:pPr>
            <a:r>
              <a:t>Sicherheit &amp; Governance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71216"/>
            <a:ext cx="5029200" cy="612648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102C3B"/>
                </a:solidFill>
                <a:latin typeface="Aptos"/>
              </a:defRPr>
            </a:pPr>
            <a:r>
              <a:t>Öffentliche Daten, keine Secrets</a:t>
            </a:r>
          </a:p>
          <a:p>
            <a:pPr>
              <a:spcAft>
                <a:spcPts val="700"/>
              </a:spcAft>
              <a:defRPr sz="1600" b="0">
                <a:solidFill>
                  <a:srgbClr val="102C3B"/>
                </a:solidFill>
                <a:latin typeface="Aptos"/>
              </a:defRPr>
            </a:pPr>
            <a:r>
              <a:t>Quelle, Lizenz und Snapshot dokumentiert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240280"/>
            <a:ext cx="5394960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377440"/>
            <a:ext cx="5029200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087E83"/>
                </a:solidFill>
                <a:latin typeface="Aptos"/>
              </a:defRPr>
            </a:pPr>
            <a:r>
              <a:t>DataOps &amp; Qualität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871216"/>
            <a:ext cx="5029200" cy="612648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102C3B"/>
                </a:solidFill>
                <a:latin typeface="Aptos"/>
              </a:defRPr>
            </a:pPr>
            <a:r>
              <a:t>Tests, Prüfsummen und Qualitätsberichte</a:t>
            </a:r>
          </a:p>
          <a:p>
            <a:pPr>
              <a:spcAft>
                <a:spcPts val="700"/>
              </a:spcAft>
              <a:defRPr sz="1600" b="0">
                <a:solidFill>
                  <a:srgbClr val="102C3B"/>
                </a:solidFill>
                <a:latin typeface="Aptos"/>
              </a:defRPr>
            </a:pPr>
            <a:r>
              <a:t>Sichtbarer Abbruch bei Fehlern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58768"/>
            <a:ext cx="5394960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995928"/>
            <a:ext cx="5029200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087E83"/>
                </a:solidFill>
                <a:latin typeface="Aptos"/>
              </a:defRPr>
            </a:pPr>
            <a:r>
              <a:t>Orchestrierung &amp;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89704"/>
            <a:ext cx="5029200" cy="612648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102C3B"/>
                </a:solidFill>
                <a:latin typeface="Aptos"/>
              </a:defRPr>
            </a:pPr>
            <a:r>
              <a:t>Getrennte Module; explizite Pfadübergaben</a:t>
            </a:r>
          </a:p>
          <a:p>
            <a:pPr>
              <a:spcAft>
                <a:spcPts val="700"/>
              </a:spcAft>
              <a:defRPr sz="1600" b="0">
                <a:solidFill>
                  <a:srgbClr val="102C3B"/>
                </a:solidFill>
                <a:latin typeface="Aptos"/>
              </a:defRPr>
            </a:pPr>
            <a:r>
              <a:t>Git-Versionierung und reproduzierbarer Lauf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858768"/>
            <a:ext cx="5394960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995928"/>
            <a:ext cx="5029200" cy="36576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087E83"/>
                </a:solidFill>
                <a:latin typeface="Aptos"/>
              </a:defRPr>
            </a:pPr>
            <a:r>
              <a:t>Skalierung: gespeicherter Mengentest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489704"/>
            <a:ext cx="5029200" cy="612648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102C3B"/>
                </a:solidFill>
                <a:latin typeface="Aptos"/>
              </a:defRPr>
            </a:pPr>
            <a:r>
              <a:t>1× 5,2 s → 10× 56,2 s · 304 → 1’835 MiB</a:t>
            </a:r>
          </a:p>
          <a:p>
            <a:pPr>
              <a:spcAft>
                <a:spcPts val="700"/>
              </a:spcAft>
              <a:defRPr sz="1600" b="0">
                <a:solidFill>
                  <a:srgbClr val="102C3B"/>
                </a:solidFill>
                <a:latin typeface="Aptos"/>
              </a:defRPr>
            </a:pPr>
            <a:r>
              <a:t>macOS, synthetische Daten; je ein Messwert.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806440"/>
            <a:ext cx="11064240" cy="484632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5888736"/>
            <a:ext cx="10652760" cy="32918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02C3B"/>
                </a:solidFill>
                <a:latin typeface="Aptos"/>
              </a:defRPr>
            </a:pPr>
            <a:r>
              <a:t>Quelle: scaling_benchmark.csv · Keine Kapazitätsprognose und kein Mehrnutzer-Lasttest.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508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9016" y="0"/>
            <a:ext cx="4064508" cy="59436"/>
          </a:xfrm>
          <a:prstGeom prst="rect">
            <a:avLst/>
          </a:prstGeom>
          <a:solidFill>
            <a:srgbClr val="CF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087E83"/>
                </a:solidFill>
                <a:latin typeface="Aptos"/>
              </a:defRPr>
            </a:pPr>
            <a:r>
              <a:t>RESERVE D · QUELLEN UND HILFSMITTEL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1064240" cy="62179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102C3B"/>
                </a:solidFill>
                <a:latin typeface="Aptos"/>
              </a:defRPr>
            </a:pPr>
            <a:r>
              <a:t>Quellen und Hilfsmittel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536773"/>
                </a:solidFill>
                <a:latin typeface="Aptos"/>
              </a:defRPr>
            </a:pPr>
            <a:r>
              <a:t>Daten, Methoden und verwendete Unterstützung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9672"/>
            <a:ext cx="8046720" cy="1828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536773"/>
                </a:solidFill>
                <a:latin typeface="Aptos"/>
              </a:defRPr>
            </a:pPr>
            <a:r>
              <a:t>ZHAW · Data Engineering HS26 · Souto / Fawaz / Muslija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3728" y="6483096"/>
            <a:ext cx="1691640" cy="256032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36773"/>
                </a:solidFill>
                <a:latin typeface="Aptos"/>
              </a:defRPr>
            </a:pPr>
            <a:r>
              <a:t>Reserve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82528" y="6464808"/>
            <a:ext cx="566928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7E83"/>
                </a:solidFill>
                <a:latin typeface="Aptos"/>
              </a:defRPr>
            </a:pPr>
            <a:r>
              <a:t>R4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67128"/>
            <a:ext cx="1691640" cy="4114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087E83"/>
                </a:solidFill>
                <a:latin typeface="Aptos"/>
              </a:defRPr>
            </a:pPr>
            <a:r>
              <a:t>Daten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4872" y="2167128"/>
            <a:ext cx="8961120" cy="74066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02C3B"/>
                </a:solidFill>
                <a:latin typeface="Aptos"/>
              </a:defRPr>
            </a:pPr>
            <a:r>
              <a:t>Open Data Zürich · Bundesamt für Strassen ASTRA</a:t>
            </a:r>
          </a:p>
          <a:p>
            <a:pPr>
              <a:spcAft>
                <a:spcPts val="700"/>
              </a:spcAft>
              <a:defRPr sz="1500" b="0">
                <a:solidFill>
                  <a:srgbClr val="102C3B"/>
                </a:solidFill>
                <a:latin typeface="Aptos"/>
              </a:defRPr>
            </a:pPr>
            <a:r>
              <a:t>Snapshot vom 13.10.2026; Lizenz laut Katalog: Creative Commons 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99816"/>
            <a:ext cx="1691640" cy="4114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087E83"/>
                </a:solidFill>
                <a:latin typeface="Aptos"/>
              </a:defRPr>
            </a:pPr>
            <a:r>
              <a:t>Datenbank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4872" y="3099816"/>
            <a:ext cx="8961120" cy="74066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02C3B"/>
                </a:solidFill>
                <a:latin typeface="Aptos"/>
              </a:defRPr>
            </a:pPr>
            <a:r>
              <a:t>SQLite: Appropriate Uses For SQLite</a:t>
            </a:r>
          </a:p>
          <a:p>
            <a:pPr>
              <a:spcAft>
                <a:spcPts val="700"/>
              </a:spcAft>
              <a:defRPr sz="1500" b="0">
                <a:solidFill>
                  <a:srgbClr val="102C3B"/>
                </a:solidFill>
                <a:latin typeface="Aptos"/>
              </a:defRPr>
            </a:pPr>
            <a:r>
              <a:t>https://www.sqlite.org/whentouse.html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32504"/>
            <a:ext cx="1691640" cy="4114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087E83"/>
                </a:solidFill>
                <a:latin typeface="Aptos"/>
              </a:defRPr>
            </a:pPr>
            <a:r>
              <a:t>Statistik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872" y="4032504"/>
            <a:ext cx="8961120" cy="74066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02C3B"/>
                </a:solidFill>
                <a:latin typeface="Aptos"/>
              </a:defRPr>
            </a:pPr>
            <a:r>
              <a:t>SciPy: scipy.stats.chi2_contingency · docs.scipy.org</a:t>
            </a:r>
          </a:p>
          <a:p>
            <a:pPr>
              <a:spcAft>
                <a:spcPts val="700"/>
              </a:spcAft>
              <a:defRPr sz="1500" b="0">
                <a:solidFill>
                  <a:srgbClr val="102C3B"/>
                </a:solidFill>
                <a:latin typeface="Aptos"/>
              </a:defRPr>
            </a:pPr>
            <a:r>
              <a:t>Holm (1979): A Simple Sequentially Rejective Multiple Test Procedure, 6(2), 65–70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965192"/>
            <a:ext cx="1691640" cy="41148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087E83"/>
                </a:solidFill>
                <a:latin typeface="Aptos"/>
              </a:defRPr>
            </a:pPr>
            <a:r>
              <a:t>Hilfsmittel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04872" y="4965192"/>
            <a:ext cx="8961120" cy="740664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02C3B"/>
                </a:solidFill>
                <a:latin typeface="Aptos"/>
              </a:defRPr>
            </a:pPr>
            <a:r>
              <a:t>OpenAI Codex / ChatGPT und Anthropic Claude Code: Code, Texte, Prüfung und Folien</a:t>
            </a:r>
          </a:p>
          <a:p>
            <a:pPr>
              <a:spcAft>
                <a:spcPts val="700"/>
              </a:spcAft>
              <a:defRPr sz="1500" b="0">
                <a:solidFill>
                  <a:srgbClr val="102C3B"/>
                </a:solidFill>
                <a:latin typeface="Aptos"/>
              </a:defRPr>
            </a:pPr>
            <a:r>
              <a:t>Python, Pandas, SciPy, SQLite; Folien mit python-pptx und PowerPoint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</p:spPr>
        <p:txBody>
          <a:bodyPr wrap="square" lIns="13716" rIns="13716" tIns="13716" bIns="13716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536773"/>
                </a:solidFill>
                <a:latin typeface="Aptos"/>
              </a:defRPr>
            </a:pPr>
            <a:r>
              <a:t>Vollständige Quellen, Methoden und Ausführung: README.md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Verkehrsunfälle Zürich | Teil 1 | 15 Minuten</dc:title>
  <dc:subject>Reproduzierbare Datenpipeline, Hypothesentests und Forschungsfragen</dc:subject>
  <dc:creator>Ruben Souto, Issa Fawaz, Drin Muslija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