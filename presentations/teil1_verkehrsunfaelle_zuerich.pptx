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74" r:id="rId9"/>
    <p:sldId id="263" r:id="rId10"/>
    <p:sldId id="264" r:id="rId11"/>
    <p:sldId id="265" r:id="rId12"/>
    <p:sldId id="266" r:id="rId13"/>
    <p:sldId id="267" r:id="rId14"/>
    <p:sldId id="268" r:id="rId15"/>
    <p:sldId id="269" r:id="rId16"/>
    <p:sldId id="270" r:id="rId17"/>
    <p:sldId id="271" r:id="rId18"/>
    <p:sldId id="272" r:id="rId19"/>
    <p:sldId id="273"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23"/>
  </p:normalViewPr>
  <p:slideViewPr>
    <p:cSldViewPr snapToGrid="0" snapToObjects="1">
      <p:cViewPr varScale="1">
        <p:scale>
          <a:sx n="117" d="100"/>
          <a:sy n="117" d="100"/>
        </p:scale>
        <p:origin x="552"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382972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Worum geht es?</a:t>
            </a:r>
          </a:p>
          <a:p>
            <a:r>
              <a:t>Richtzeit: 35 Sekunden</a:t>
            </a:r>
          </a:p>
          <a:p>
            <a:endParaRPr/>
          </a:p>
          <a:p>
            <a:r>
              <a:t>Wir untersuchen polizeilich registrierte Verkehrsunfälle in der Stadt Zürich. Unser Ziel ist einerseits eine nachvollziehbare Data-Engineering-Pipeline und andererseits die Beantwortung von drei Forschungsfragen. Dafür verwenden wir 70’767 Unfälle von 2011 bis 2025. Wir beschreiben diesen registrierten Bestand. Eine Prognose oder ein individuelles Unfallrisiko berechnen wir in Teil 1 nicht.</a:t>
            </a:r>
          </a:p>
          <a:p>
            <a:endParaRPr/>
          </a:p>
          <a:p>
            <a:r>
              <a:t>Verstehen: Eine Zeile ist ein Unfall, nicht eine verletzte Person oder eine Fahrt.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Problemstellung und Forschungsfragen</a:t>
            </a:r>
          </a:p>
          <a:p>
            <a:r>
              <a:t>Richtzeit: 55 Sekunden</a:t>
            </a:r>
          </a:p>
          <a:p>
            <a:endParaRPr/>
          </a:p>
          <a:p>
            <a:r>
              <a:t>Unsere drei Fragen bestimmen die Umsetzung. Erstens: Wie unterscheiden sich Unfälle nach Tageszeit und Wochentag? Zweitens: Gibt es bei Personenschadenunfällen einen Zusammenhang zwischen Beteiligung und Schwere? Drittens: Wie verändern sich Anzahl und Zusammensetzung über die Jahre? Für die ersten beiden Fragen nutzen wir Hypothesentests, für die dritte eine deskriptive Zeitreihe. Der Engineering-Beitrag ist die kontrollierte Kette von der Quelle bis zum Ergebnis. So lassen sich unsere Zahlen auf einen bestimmten Datenstand und klare Regeln zurückführen.</a:t>
            </a:r>
          </a:p>
          <a:p>
            <a:endParaRPr/>
          </a:p>
          <a:p>
            <a:r>
              <a:t>Verstehen: Jede technische Komponente muss eine dieser Fragen oder die Reproduzierbarkeit unterstützen.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Quelle und Aussagegrenzen</a:t>
            </a:r>
          </a:p>
          <a:p>
            <a:r>
              <a:t>Richtzeit: 60 Sekunden</a:t>
            </a:r>
          </a:p>
          <a:p>
            <a:endParaRPr/>
          </a:p>
          <a:p>
            <a:r>
              <a:t>Die Quelle stammt aus dem Open-Data-Katalog der Stadt Zürich, Datenlieferant ist das ASTRA. Der Rohbestand enthält 36 Spalten. Wichtig sind zwei fachliche Befunde. Ab Juli 2015 wurden auch Bagatellunfälle gemeldet; ein Sprung der Gesamtzahl kann deshalb durch die Erfassung entstehen. Ausserdem beschreibt der Katalog die Beteiligungsfelder mit Bezug auf Personenschäden, während auch Sachschadenzeilen positive Werte besitzen. Die Ursache haben wir nicht geklärt. Wir erhalten die Werte und beschränken F2 vorsichtig auf Personenschadenunfälle. Das ist eine begründete Abgrenzung und keine behauptete Reparatur der Quelle.</a:t>
            </a:r>
          </a:p>
          <a:p>
            <a:endParaRPr/>
          </a:p>
          <a:p>
            <a:r>
              <a:t>Verstehen: Nicht registrierte Unfälle fehlen. Auffällige Daten sind nicht automatisch bewiesene Fehler.</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Data-Engineering-Lebenszyklus</a:t>
            </a:r>
          </a:p>
          <a:p>
            <a:r>
              <a:t>Richtzeit: 65 Sekunden</a:t>
            </a:r>
          </a:p>
          <a:p>
            <a:endParaRPr/>
          </a:p>
          <a:p>
            <a:r>
              <a:t>Die Daten entstehen durch die polizeiliche Erfassung und das ASTRA-System. Wir übernehmen die veröffentlichten Daten als kontrollierten Snapshot. Raw-Dateien bleiben erhalten; die Transformation erzeugt eine bereinigte CSV, die wir in SQLite speichern. Die Analyse liest aus SQLite und erzeugt Ergebnisse. Die Grafik zeigt die Verantwortungen der Phasen, nicht eine starre zeitliche Reihenfolge: Speicherung findet mehrfach statt. Quer dazu laufen unter anderem Datenqualität, Sicherheit und Nachvollziehbarkeit. Die Pipeline orchestriert die Schritte und stoppt bei Fehlern. Serving bedeutet hier SQL, Notebooks und Ergebnisartefakte; ein eigener Dienst bleibt ausserhalb von Teil 1.</a:t>
            </a:r>
          </a:p>
          <a:p>
            <a:endParaRPr/>
          </a:p>
          <a:p>
            <a:r>
              <a:t>Verstehen: Unser tatsächlicher Datenfluss: Download → Raw → Transformation → CSV → SQLite → Analyse.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Ingestion und Snapshot</a:t>
            </a:r>
          </a:p>
          <a:p>
            <a:r>
              <a:t>Richtzeit: 45 Sekunden</a:t>
            </a:r>
          </a:p>
          <a:p>
            <a:endParaRPr/>
          </a:p>
          <a:p>
            <a:r>
              <a:t>Die Ingestion beschafft die CSV und hält ihren Ursprung fest. Ein Snapshot ist eine gespeicherte Version der Quelle. Die Prüfsumme ist wie ein digitaler Fingerabdruck: Ändern sich Bytes, passt sie nicht mehr. Dadurch vermeiden wir, dass unterschiedliche Gruppenmitglieder unbemerkt verschiedene Datenstände analysieren. Der Standardlauf nutzt den vorhandenen Snapshot offline. Ein bewusster Refresh legt einen neuen Datenstand separat ab. Eine gültige Prüfsumme beweist allerdings nur Integrität, nicht, dass jede Unfallmeldung inhaltlich stimmt.</a:t>
            </a:r>
          </a:p>
          <a:p>
            <a:endParaRPr/>
          </a:p>
          <a:p>
            <a:r>
              <a:t>Verstehen: Raw wird erhalten; bei einem Fehler wird nicht still ein neuer Datenstand heruntergeladen.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Warum SQLite?</a:t>
            </a:r>
          </a:p>
          <a:p>
            <a:r>
              <a:t>Richtzeit: 60 Sekunden</a:t>
            </a:r>
          </a:p>
          <a:p>
            <a:endParaRPr/>
          </a:p>
          <a:p>
            <a:r>
              <a:t>Wir haben CSV, SQLite und PostgreSQL verglichen. CSV bewahrt das Originalformat, bietet aber keine Datenbank-Constraints. SQLite erlaubt SQL, eindeutige Schlüssel und geprüfte Wertebereiche in einer einzigen Datei. Für 70’767 Zeilen mit einem kontrollierten Ladeprozess und anschliessenden Leseanalysen reicht das aus. PostgreSQL wäre eine Option bei einer zentralen Datenbank mit vielen parallelen Schreibzugriffen. Diese Anforderung haben wir nicht. Jedes Teammitglied nutzt eine lokale Kopie; wir bearbeiten nicht gleichzeitig eine geteilte SQLite-Datei. Die relationale Struktur passt, weil jede Zeile einen Unfall mit fester ID und vergleichbaren Merkmalen beschreibt.</a:t>
            </a:r>
          </a:p>
          <a:p>
            <a:endParaRPr/>
          </a:p>
          <a:p>
            <a:r>
              <a:t>Verstehen: SQLite ist eine Datenbank, keine Excel-Datei. Auswahl nach Bedarf begründen, nicht nach Prestige.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Datenprofil, Bereinigung und Features</a:t>
            </a:r>
          </a:p>
          <a:p>
            <a:r>
              <a:t>Richtzeit: 60 Sekunden</a:t>
            </a:r>
          </a:p>
          <a:p>
            <a:endParaRPr/>
          </a:p>
          <a:p>
            <a:r>
              <a:t>Das Datenprofil untersucht zunächst Qualität und Wertebereiche. Im aktuellen Snapshot fehlen keine Felder und es gibt keine doppelten Unfall-IDs. Deshalb löschen wir keine Zeilen und erfinden keine fehlenden Werte. Wir wählen 19 Originalfelder, setzen Datentypen und ergänzen drei Merkmale. is_weekend fasst Samstag und Sonntag zusammen; time_period bildet vier Sechs-Stunden-Blöcke. vulnerable_road_user verknüpft Fussgänger- oder Velobeteiligung. Das letzte Merkmal ist eine ergänzende Gruppierung und kein eigener Test im aktuellen Ergebnis. Die Rohdaten enthalten weiterhin alle Originalspalten. Ein Qualitätsbericht dokumentiert Auswahl, Regeln und unveränderte Fallzahl.</a:t>
            </a:r>
          </a:p>
          <a:p>
            <a:endParaRPr/>
          </a:p>
          <a:p>
            <a:r>
              <a:t>Verstehen: Bereinigung kann Typisierung und Validierung bedeuten. 0 bedeutet nein, NULL bedeutet unbekannt.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Skalierbarkeit gemessen</a:t>
            </a:r>
          </a:p>
          <a:p>
            <a:r>
              <a:t>Richtzeit: 45 Sekunden</a:t>
            </a:r>
          </a:p>
          <a:p>
            <a:endParaRPr/>
          </a:p>
          <a:p>
            <a:r>
              <a:t>Skalierbarkeit haben wir nicht nur behauptet, sondern gemessen. benchmark.py vervielfacht den echten Snapshot mit neuen, eindeutigen Unfall-IDs und schickt ihn durch die unveränderte Pipeline. Zehnmal mehr Daten brauchen rund zehnmal so lange: Die Laufzeit wächst also etwa linear. Storage braucht rund 70 Prozent der Zeit, weil wir jeden Wert nach dem Speichern kontrollieren. Diese Sicherheit ist uns wichtiger als Tempo.</a:t>
            </a:r>
          </a:p>
          <a:p>
            <a:endParaRPr/>
          </a:p>
          <a:p>
            <a:r>
              <a:t>Die eigentliche Grenze ist der Arbeitsspeicher, rund 170 MB je 70’000 Unfälle. Mit 8 GB reicht der Entwurf für das 30- bis 40-Fache des heutigen Bestands. Bei rund 5’000 neuen Unfällen pro Jahr genügt das für Zürich auf Jahrzehnte.</a:t>
            </a:r>
          </a:p>
          <a:p>
            <a:endParaRPr/>
          </a:p>
          <a:p>
            <a:r>
              <a:t>Falls mehr nötig wird: Daten blockweise mit Parquet verarbeiten, nur storage.py austauschen (DuckDB oder PostgreSQL) und erst bei mehreren Quellen einen Orchestrator wie Airflow einsetzen.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Hypothesen und Testlogik</a:t>
            </a:r>
          </a:p>
          <a:p>
            <a:r>
              <a:t>Richtzeit: 65 Sekunden</a:t>
            </a:r>
          </a:p>
          <a:p>
            <a:endParaRPr/>
          </a:p>
          <a:p>
            <a:r>
              <a:t>Der Chi-Quadrat-Test vergleicht beobachtete Häufigkeiten mit den Häufigkeiten, die unter der Nullhypothese zu erwarten wären. Bei H1 sind das zwei Gruppen und 24 Stunden. Bei H2 prüfen wir je Beteiligungsmerkmal zwei Gruppen und drei Schweregrade: leicht, schwer und tödlich. Ein Unfall zählt pro Test genau einmal, darf aber mehrere Beteiligungsmerkmale haben. Weil wir bei H2 drei Tests durchführen, verwenden wir Holm zur Korrektur der p-Werte. Der p-Wert beschreibt die Vereinbarkeit mit dem Modell; Cramérs V die Stärke der beobachteten Assoziation. Alle erwarteten Zellen sind ausreichend gross, aber zeitliche Abhängigkeiten können die Modellinterpretation begrenzen.</a:t>
            </a:r>
          </a:p>
          <a:p>
            <a:endParaRPr/>
          </a:p>
          <a:p>
            <a:r>
              <a:t>Verstehen: p &lt; 0,05 beweist weder eine Ursache noch eine grosse praktische Bedeutung.</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F1: Tageszeit und Wochentag</a:t>
            </a:r>
          </a:p>
          <a:p>
            <a:r>
              <a:t>Richtzeit: 65 Sekunden</a:t>
            </a:r>
          </a:p>
          <a:p>
            <a:endParaRPr/>
          </a:p>
          <a:p>
            <a:r>
              <a:t>Die Kurven summieren sich innerhalb der jeweiligen Gruppe auf 100 Prozent. Damit vergleichen wir die Form der Stundenverteilung und nicht einfach fünf Werktage mit zwei Wochenendtagen. Werktags liegt die häufigste Stunde bei 17 Uhr, am Wochenende bei 14 Uhr. Zwischen Mitternacht und fünf Uhr liegen 3,71 Prozent der Werktagsunfälle und 14,63 Prozent der Wochenendunfälle. Der Unterschied ist im verwendeten Test signifikant; Cramérs V beträgt 0,234. Das Muster eines höheren Nachtanteils am Wochenende sehen wir deskriptiv in allen 15 Jahren. Wir wissen damit aber nicht, wie hoch das Risiko einer einzelnen Fahrt ist, weil uns die Zahl und Länge der Fahrten fehlen.</a:t>
            </a:r>
          </a:p>
          <a:p>
            <a:endParaRPr/>
          </a:p>
          <a:p>
            <a:r>
              <a:t>Verstehen: Die Nenner sind alle Werktagsunfälle beziehungsweise alle Wochenendunfälle.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F2: Beteiligung und Unfallschwere</a:t>
            </a:r>
          </a:p>
          <a:p>
            <a:r>
              <a:t>Richtzeit: 65 Sekunden</a:t>
            </a:r>
          </a:p>
          <a:p>
            <a:endParaRPr/>
          </a:p>
          <a:p>
            <a:r>
              <a:t>Für diese Frage betrachten wir 18’164 Personenschadenunfälle. Die Balken zeigen zur Interpretation den Anteil schwerer oder tödlicher Unfälle. Mit Fussgängerbeteiligung sind es 23,42 Prozent, ohne 15,02 Prozent. Auch bei Velo und Motorrad liegen die dargestellten Anteile mit Beteiligung höher. Die eigentlichen Tests verwenden alle drei Schweregrade getrennt. Alle drei Ergebnisse sind nach Holm signifikant, die Effektgrössen sind aber numerisch klein. Ein Unfall kann mehrere Beteiligungsmerkmale besitzen. Die Schwere gehört zum gesamten Unfall; wir können nicht daraus ableiten, wer verletzt wurde oder dass eine bestimmte Beteiligung den Schaden verursacht.</a:t>
            </a:r>
          </a:p>
          <a:p>
            <a:endParaRPr/>
          </a:p>
          <a:p>
            <a:r>
              <a:t>Verstehen: F2 beschreibt Unfälle, nicht die Gefährlichkeit einer Verkehrsart pro Kilometer.</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F3: Zeitliche Veränderung</a:t>
            </a:r>
          </a:p>
          <a:p>
            <a:r>
              <a:t>Richtzeit: 65 Sekunden</a:t>
            </a:r>
          </a:p>
          <a:p>
            <a:endParaRPr/>
          </a:p>
          <a:p>
            <a:r>
              <a:t>Links stehen die jährlichen Fallzahlen. Die gestrichelte Linie markiert den bekannten Erfassungswechsel 2015. Der Höchststand liegt 2018, daher wäre die Aussage einer stetigen Zunahme falsch. Zwischen 2016 und 2025 sinken die Gesamtzahlen von 5’556 auf 4’714; Personenschadenunfälle steigen im selben Vergleich leicht von 1’262 auf 1’310. Rechts sehen wir die Beteiligungsanteile innerhalb der Personenschadenunfälle. Der Veloanteil steigt von 26,12 Prozent im Jahr 2011 auf 40,38 Prozent im Jahr 2025. Das ist eine Veränderung der Zusammensetzung. Ohne Verkehrsleistung können wir daraus keine Veränderung des Risikos beim Velofahren ableiten. Die Beteiligungsanteile sind wegen Mehrfachbeteiligung nicht additiv.</a:t>
            </a:r>
          </a:p>
          <a:p>
            <a:endParaRPr/>
          </a:p>
          <a:p>
            <a:r>
              <a:t>Verstehen: Personenschadenunfälle sind Unfallzahlen, keine Zahl verletzter Personen.</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Funktionalität</a:t>
            </a:r>
            <a:r>
              <a:rPr dirty="0"/>
              <a:t> und </a:t>
            </a:r>
            <a:r>
              <a:rPr dirty="0" err="1"/>
              <a:t>fachliche</a:t>
            </a:r>
            <a:r>
              <a:rPr dirty="0"/>
              <a:t> </a:t>
            </a:r>
            <a:r>
              <a:rPr dirty="0" err="1"/>
              <a:t>Grenzen</a:t>
            </a:r>
            <a:endParaRPr dirty="0"/>
          </a:p>
          <a:p>
            <a:r>
              <a:rPr dirty="0"/>
              <a:t>Richtzeit: 45 </a:t>
            </a:r>
            <a:r>
              <a:rPr dirty="0" err="1"/>
              <a:t>Sekunden</a:t>
            </a:r>
            <a:endParaRPr dirty="0"/>
          </a:p>
          <a:p>
            <a:endParaRPr dirty="0"/>
          </a:p>
          <a:p>
            <a:r>
              <a:rPr dirty="0"/>
              <a:t>Die </a:t>
            </a:r>
            <a:r>
              <a:rPr dirty="0" err="1"/>
              <a:t>technische</a:t>
            </a:r>
            <a:r>
              <a:rPr dirty="0"/>
              <a:t> </a:t>
            </a:r>
            <a:r>
              <a:rPr dirty="0" err="1"/>
              <a:t>Prüfung</a:t>
            </a:r>
            <a:r>
              <a:rPr dirty="0"/>
              <a:t> </a:t>
            </a:r>
            <a:r>
              <a:rPr dirty="0" err="1"/>
              <a:t>umfasst</a:t>
            </a:r>
            <a:r>
              <a:rPr dirty="0"/>
              <a:t> 44 </a:t>
            </a:r>
            <a:r>
              <a:rPr dirty="0" err="1"/>
              <a:t>automatisierte</a:t>
            </a:r>
            <a:r>
              <a:rPr dirty="0"/>
              <a:t> Tests, die </a:t>
            </a:r>
            <a:r>
              <a:rPr dirty="0" err="1"/>
              <a:t>Codeprüfung</a:t>
            </a:r>
            <a:r>
              <a:rPr dirty="0"/>
              <a:t>, die Pipeline und </a:t>
            </a:r>
            <a:r>
              <a:rPr dirty="0" err="1"/>
              <a:t>beide</a:t>
            </a:r>
            <a:r>
              <a:rPr dirty="0"/>
              <a:t> Notebooks. Ein </a:t>
            </a:r>
            <a:r>
              <a:rPr dirty="0" err="1"/>
              <a:t>isolierter</a:t>
            </a:r>
            <a:r>
              <a:rPr dirty="0"/>
              <a:t> </a:t>
            </a:r>
            <a:r>
              <a:rPr dirty="0" err="1"/>
              <a:t>Neulauf</a:t>
            </a:r>
            <a:r>
              <a:rPr dirty="0"/>
              <a:t> </a:t>
            </a:r>
            <a:r>
              <a:rPr dirty="0" err="1"/>
              <a:t>erzeugt</a:t>
            </a:r>
            <a:r>
              <a:rPr dirty="0"/>
              <a:t> </a:t>
            </a:r>
            <a:r>
              <a:rPr dirty="0" err="1"/>
              <a:t>dieselben</a:t>
            </a:r>
            <a:r>
              <a:rPr dirty="0"/>
              <a:t> </a:t>
            </a:r>
            <a:r>
              <a:rPr dirty="0" err="1"/>
              <a:t>fachlichen</a:t>
            </a:r>
            <a:r>
              <a:rPr dirty="0"/>
              <a:t> </a:t>
            </a:r>
            <a:r>
              <a:rPr dirty="0" err="1"/>
              <a:t>Ergebnisse</a:t>
            </a:r>
            <a:r>
              <a:rPr dirty="0"/>
              <a:t>. Die </a:t>
            </a:r>
            <a:r>
              <a:rPr dirty="0" err="1"/>
              <a:t>Datenbank</a:t>
            </a:r>
            <a:r>
              <a:rPr dirty="0"/>
              <a:t> </a:t>
            </a:r>
            <a:r>
              <a:rPr dirty="0" err="1"/>
              <a:t>wird</a:t>
            </a:r>
            <a:r>
              <a:rPr dirty="0"/>
              <a:t> </a:t>
            </a:r>
            <a:r>
              <a:rPr dirty="0" err="1"/>
              <a:t>vor</a:t>
            </a:r>
            <a:r>
              <a:rPr dirty="0"/>
              <a:t> dem </a:t>
            </a:r>
            <a:r>
              <a:rPr dirty="0" err="1"/>
              <a:t>Austausch</a:t>
            </a:r>
            <a:r>
              <a:rPr dirty="0"/>
              <a:t> </a:t>
            </a:r>
            <a:r>
              <a:rPr dirty="0" err="1"/>
              <a:t>geprüft</a:t>
            </a:r>
            <a:r>
              <a:rPr dirty="0"/>
              <a:t>. Das </a:t>
            </a:r>
            <a:r>
              <a:rPr dirty="0" err="1"/>
              <a:t>zeigt</a:t>
            </a:r>
            <a:r>
              <a:rPr dirty="0"/>
              <a:t>, </a:t>
            </a:r>
            <a:r>
              <a:rPr dirty="0" err="1"/>
              <a:t>dass</a:t>
            </a:r>
            <a:r>
              <a:rPr dirty="0"/>
              <a:t> </a:t>
            </a:r>
            <a:r>
              <a:rPr dirty="0" err="1"/>
              <a:t>unser</a:t>
            </a:r>
            <a:r>
              <a:rPr dirty="0"/>
              <a:t> </a:t>
            </a:r>
            <a:r>
              <a:rPr dirty="0" err="1"/>
              <a:t>Verfahren</a:t>
            </a:r>
            <a:r>
              <a:rPr dirty="0"/>
              <a:t> </a:t>
            </a:r>
            <a:r>
              <a:rPr dirty="0" err="1"/>
              <a:t>funktioniert</a:t>
            </a:r>
            <a:r>
              <a:rPr dirty="0"/>
              <a:t>. Es </a:t>
            </a:r>
            <a:r>
              <a:rPr dirty="0" err="1"/>
              <a:t>beweist</a:t>
            </a:r>
            <a:r>
              <a:rPr dirty="0"/>
              <a:t> </a:t>
            </a:r>
            <a:r>
              <a:rPr dirty="0" err="1"/>
              <a:t>aber</a:t>
            </a:r>
            <a:r>
              <a:rPr dirty="0"/>
              <a:t> nicht, </a:t>
            </a:r>
            <a:r>
              <a:rPr dirty="0" err="1"/>
              <a:t>dass</a:t>
            </a:r>
            <a:r>
              <a:rPr dirty="0"/>
              <a:t> die </a:t>
            </a:r>
            <a:r>
              <a:rPr dirty="0" err="1"/>
              <a:t>Quelldaten</a:t>
            </a:r>
            <a:r>
              <a:rPr dirty="0"/>
              <a:t> alle </a:t>
            </a:r>
            <a:r>
              <a:rPr dirty="0" err="1"/>
              <a:t>tatsächlichen</a:t>
            </a:r>
            <a:r>
              <a:rPr dirty="0"/>
              <a:t> </a:t>
            </a:r>
            <a:r>
              <a:rPr dirty="0" err="1"/>
              <a:t>Unfälle</a:t>
            </a:r>
            <a:r>
              <a:rPr dirty="0"/>
              <a:t> </a:t>
            </a:r>
            <a:r>
              <a:rPr dirty="0" err="1"/>
              <a:t>enthalten</a:t>
            </a:r>
            <a:r>
              <a:rPr dirty="0"/>
              <a:t> </a:t>
            </a:r>
            <a:r>
              <a:rPr dirty="0" err="1"/>
              <a:t>oder</a:t>
            </a:r>
            <a:r>
              <a:rPr dirty="0"/>
              <a:t> </a:t>
            </a:r>
            <a:r>
              <a:rPr dirty="0" err="1"/>
              <a:t>dass</a:t>
            </a:r>
            <a:r>
              <a:rPr dirty="0"/>
              <a:t> </a:t>
            </a:r>
            <a:r>
              <a:rPr dirty="0" err="1"/>
              <a:t>unsere</a:t>
            </a:r>
            <a:r>
              <a:rPr dirty="0"/>
              <a:t> </a:t>
            </a:r>
            <a:r>
              <a:rPr dirty="0" err="1"/>
              <a:t>Zusammenhänge</a:t>
            </a:r>
            <a:r>
              <a:rPr dirty="0"/>
              <a:t> </a:t>
            </a:r>
            <a:r>
              <a:rPr dirty="0" err="1"/>
              <a:t>kausal</a:t>
            </a:r>
            <a:r>
              <a:rPr dirty="0"/>
              <a:t> </a:t>
            </a:r>
            <a:r>
              <a:rPr dirty="0" err="1"/>
              <a:t>sind</a:t>
            </a:r>
            <a:r>
              <a:rPr dirty="0"/>
              <a:t>. Es </a:t>
            </a:r>
            <a:r>
              <a:rPr dirty="0" err="1"/>
              <a:t>fehlen</a:t>
            </a:r>
            <a:r>
              <a:rPr dirty="0"/>
              <a:t> </a:t>
            </a:r>
            <a:r>
              <a:rPr dirty="0" err="1"/>
              <a:t>Verkehrsleistung</a:t>
            </a:r>
            <a:r>
              <a:rPr dirty="0"/>
              <a:t> und </a:t>
            </a:r>
            <a:r>
              <a:rPr dirty="0" err="1"/>
              <a:t>weitere</a:t>
            </a:r>
            <a:r>
              <a:rPr dirty="0"/>
              <a:t> </a:t>
            </a:r>
            <a:r>
              <a:rPr dirty="0" err="1"/>
              <a:t>Einflussgrössen</a:t>
            </a:r>
            <a:r>
              <a:rPr dirty="0"/>
              <a:t>. Daher </a:t>
            </a:r>
            <a:r>
              <a:rPr dirty="0" err="1"/>
              <a:t>bleiben</a:t>
            </a:r>
            <a:r>
              <a:rPr dirty="0"/>
              <a:t> die </a:t>
            </a:r>
            <a:r>
              <a:rPr dirty="0" err="1"/>
              <a:t>Aussagen</a:t>
            </a:r>
            <a:r>
              <a:rPr dirty="0"/>
              <a:t> auf den </a:t>
            </a:r>
            <a:r>
              <a:rPr dirty="0" err="1"/>
              <a:t>registrierten</a:t>
            </a:r>
            <a:r>
              <a:rPr dirty="0"/>
              <a:t> </a:t>
            </a:r>
            <a:r>
              <a:rPr dirty="0" err="1"/>
              <a:t>Bestand</a:t>
            </a:r>
            <a:r>
              <a:rPr dirty="0"/>
              <a:t> und das </a:t>
            </a:r>
            <a:r>
              <a:rPr dirty="0" err="1"/>
              <a:t>verwendete</a:t>
            </a:r>
            <a:r>
              <a:rPr dirty="0"/>
              <a:t> Modell </a:t>
            </a:r>
            <a:r>
              <a:rPr dirty="0" err="1"/>
              <a:t>begrenzt</a:t>
            </a:r>
            <a:r>
              <a:rPr dirty="0"/>
              <a:t>.</a:t>
            </a:r>
          </a:p>
          <a:p>
            <a:endParaRPr dirty="0"/>
          </a:p>
          <a:p>
            <a:r>
              <a:rPr dirty="0"/>
              <a:t>Verstehen: Tests </a:t>
            </a:r>
            <a:r>
              <a:rPr dirty="0" err="1"/>
              <a:t>prüfen</a:t>
            </a:r>
            <a:r>
              <a:rPr dirty="0"/>
              <a:t> </a:t>
            </a:r>
            <a:r>
              <a:rPr dirty="0" err="1"/>
              <a:t>Programmverhalten</a:t>
            </a:r>
            <a:r>
              <a:rPr dirty="0"/>
              <a:t>; </a:t>
            </a:r>
            <a:r>
              <a:rPr dirty="0" err="1"/>
              <a:t>sie</a:t>
            </a:r>
            <a:r>
              <a:rPr dirty="0"/>
              <a:t> </a:t>
            </a:r>
            <a:r>
              <a:rPr dirty="0" err="1"/>
              <a:t>sind</a:t>
            </a:r>
            <a:r>
              <a:rPr dirty="0"/>
              <a:t> </a:t>
            </a:r>
            <a:r>
              <a:rPr dirty="0" err="1"/>
              <a:t>keine</a:t>
            </a:r>
            <a:r>
              <a:rPr dirty="0"/>
              <a:t> </a:t>
            </a:r>
            <a:r>
              <a:rPr dirty="0" err="1"/>
              <a:t>Garantie</a:t>
            </a:r>
            <a:r>
              <a:rPr dirty="0"/>
              <a:t> für </a:t>
            </a:r>
            <a:r>
              <a:rPr dirty="0" err="1"/>
              <a:t>vollständige</a:t>
            </a:r>
            <a:r>
              <a:rPr dirty="0"/>
              <a:t> </a:t>
            </a:r>
            <a:r>
              <a:rPr dirty="0" err="1"/>
              <a:t>oder</a:t>
            </a:r>
            <a:r>
              <a:rPr dirty="0"/>
              <a:t> </a:t>
            </a:r>
            <a:r>
              <a:rPr dirty="0" err="1"/>
              <a:t>wahre</a:t>
            </a:r>
            <a:r>
              <a:rPr dirty="0"/>
              <a:t> </a:t>
            </a:r>
            <a:r>
              <a:rPr dirty="0" err="1"/>
              <a:t>Quelldaten</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Kernaussagen</a:t>
            </a:r>
            <a:r>
              <a:rPr dirty="0"/>
              <a:t> </a:t>
            </a:r>
            <a:r>
              <a:rPr dirty="0" err="1"/>
              <a:t>zusammenführen</a:t>
            </a:r>
            <a:endParaRPr dirty="0"/>
          </a:p>
          <a:p>
            <a:r>
              <a:rPr dirty="0"/>
              <a:t>Richtzeit: 40 </a:t>
            </a:r>
            <a:r>
              <a:rPr dirty="0" err="1"/>
              <a:t>Sekunden</a:t>
            </a:r>
            <a:endParaRPr dirty="0"/>
          </a:p>
          <a:p>
            <a:endParaRPr dirty="0"/>
          </a:p>
          <a:p>
            <a:r>
              <a:rPr dirty="0" err="1"/>
              <a:t>Zusammenfassend</a:t>
            </a:r>
            <a:r>
              <a:rPr dirty="0"/>
              <a:t> </a:t>
            </a:r>
            <a:r>
              <a:rPr dirty="0" err="1"/>
              <a:t>unterscheiden</a:t>
            </a:r>
            <a:r>
              <a:rPr dirty="0"/>
              <a:t> </a:t>
            </a:r>
            <a:r>
              <a:rPr dirty="0" err="1"/>
              <a:t>sich</a:t>
            </a:r>
            <a:r>
              <a:rPr dirty="0"/>
              <a:t> die </a:t>
            </a:r>
            <a:r>
              <a:rPr dirty="0" err="1"/>
              <a:t>zeitlichen</a:t>
            </a:r>
            <a:r>
              <a:rPr dirty="0"/>
              <a:t> Muster </a:t>
            </a:r>
            <a:r>
              <a:rPr dirty="0" err="1"/>
              <a:t>zwischen</a:t>
            </a:r>
            <a:r>
              <a:rPr dirty="0"/>
              <a:t> </a:t>
            </a:r>
            <a:r>
              <a:rPr dirty="0" err="1"/>
              <a:t>Werktagen</a:t>
            </a:r>
            <a:r>
              <a:rPr dirty="0"/>
              <a:t> und </a:t>
            </a:r>
            <a:r>
              <a:rPr dirty="0" err="1"/>
              <a:t>Wochenenden</a:t>
            </a:r>
            <a:r>
              <a:rPr dirty="0"/>
              <a:t>. </a:t>
            </a:r>
            <a:r>
              <a:rPr dirty="0" err="1"/>
              <a:t>Beteiligung</a:t>
            </a:r>
            <a:r>
              <a:rPr dirty="0"/>
              <a:t> und </a:t>
            </a:r>
            <a:r>
              <a:rPr dirty="0" err="1"/>
              <a:t>Schwere</a:t>
            </a:r>
            <a:r>
              <a:rPr dirty="0"/>
              <a:t> </a:t>
            </a:r>
            <a:r>
              <a:rPr dirty="0" err="1"/>
              <a:t>stehen</a:t>
            </a:r>
            <a:r>
              <a:rPr dirty="0"/>
              <a:t> </a:t>
            </a:r>
            <a:r>
              <a:rPr dirty="0" err="1"/>
              <a:t>bei</a:t>
            </a:r>
            <a:r>
              <a:rPr dirty="0"/>
              <a:t> </a:t>
            </a:r>
            <a:r>
              <a:rPr dirty="0" err="1"/>
              <a:t>Personenschadenunfällen</a:t>
            </a:r>
            <a:r>
              <a:rPr dirty="0"/>
              <a:t> in </a:t>
            </a:r>
            <a:r>
              <a:rPr dirty="0" err="1"/>
              <a:t>einem</a:t>
            </a:r>
            <a:r>
              <a:rPr dirty="0"/>
              <a:t> </a:t>
            </a:r>
            <a:r>
              <a:rPr dirty="0" err="1"/>
              <a:t>statistischen</a:t>
            </a:r>
            <a:r>
              <a:rPr dirty="0"/>
              <a:t> </a:t>
            </a:r>
            <a:r>
              <a:rPr dirty="0" err="1"/>
              <a:t>Zusammenhang</a:t>
            </a:r>
            <a:r>
              <a:rPr dirty="0"/>
              <a:t>, </a:t>
            </a:r>
            <a:r>
              <a:rPr dirty="0" err="1"/>
              <a:t>dessen</a:t>
            </a:r>
            <a:r>
              <a:rPr dirty="0"/>
              <a:t> </a:t>
            </a:r>
            <a:r>
              <a:rPr dirty="0" err="1"/>
              <a:t>Stärke</a:t>
            </a:r>
            <a:r>
              <a:rPr dirty="0"/>
              <a:t> </a:t>
            </a:r>
            <a:r>
              <a:rPr dirty="0" err="1"/>
              <a:t>wir</a:t>
            </a:r>
            <a:r>
              <a:rPr dirty="0"/>
              <a:t> </a:t>
            </a:r>
            <a:r>
              <a:rPr dirty="0" err="1"/>
              <a:t>einordnen</a:t>
            </a:r>
            <a:r>
              <a:rPr dirty="0"/>
              <a:t> </a:t>
            </a:r>
            <a:r>
              <a:rPr dirty="0" err="1"/>
              <a:t>müssen</a:t>
            </a:r>
            <a:r>
              <a:rPr dirty="0"/>
              <a:t>. Die </a:t>
            </a:r>
            <a:r>
              <a:rPr dirty="0" err="1"/>
              <a:t>jährliche</a:t>
            </a:r>
            <a:r>
              <a:rPr dirty="0"/>
              <a:t> </a:t>
            </a:r>
            <a:r>
              <a:rPr dirty="0" err="1"/>
              <a:t>Entwicklung</a:t>
            </a:r>
            <a:r>
              <a:rPr dirty="0"/>
              <a:t> </a:t>
            </a:r>
            <a:r>
              <a:rPr dirty="0" err="1"/>
              <a:t>ist</a:t>
            </a:r>
            <a:r>
              <a:rPr dirty="0"/>
              <a:t> nicht </a:t>
            </a:r>
            <a:r>
              <a:rPr dirty="0" err="1"/>
              <a:t>einheitlich</a:t>
            </a:r>
            <a:r>
              <a:rPr dirty="0"/>
              <a:t>; </a:t>
            </a:r>
            <a:r>
              <a:rPr dirty="0" err="1"/>
              <a:t>besonders</a:t>
            </a:r>
            <a:r>
              <a:rPr dirty="0"/>
              <a:t> der </a:t>
            </a:r>
            <a:r>
              <a:rPr dirty="0" err="1"/>
              <a:t>Erfassungswechsel</a:t>
            </a:r>
            <a:r>
              <a:rPr dirty="0"/>
              <a:t> </a:t>
            </a:r>
            <a:r>
              <a:rPr dirty="0" err="1"/>
              <a:t>verhindert</a:t>
            </a:r>
            <a:r>
              <a:rPr dirty="0"/>
              <a:t> </a:t>
            </a:r>
            <a:r>
              <a:rPr dirty="0" err="1"/>
              <a:t>einfache</a:t>
            </a:r>
            <a:r>
              <a:rPr dirty="0"/>
              <a:t> </a:t>
            </a:r>
            <a:r>
              <a:rPr dirty="0" err="1"/>
              <a:t>Schlussfolgerungen</a:t>
            </a:r>
            <a:r>
              <a:rPr dirty="0"/>
              <a:t> </a:t>
            </a:r>
            <a:r>
              <a:rPr dirty="0" err="1"/>
              <a:t>aus</a:t>
            </a:r>
            <a:r>
              <a:rPr dirty="0"/>
              <a:t> </a:t>
            </a:r>
            <a:r>
              <a:rPr dirty="0" err="1"/>
              <a:t>Gesamtzahlen</a:t>
            </a:r>
            <a:r>
              <a:rPr dirty="0"/>
              <a:t>. Die Pipeline </a:t>
            </a:r>
            <a:r>
              <a:rPr dirty="0" err="1"/>
              <a:t>schafft</a:t>
            </a:r>
            <a:r>
              <a:rPr dirty="0"/>
              <a:t> </a:t>
            </a:r>
            <a:r>
              <a:rPr dirty="0" err="1"/>
              <a:t>dafür</a:t>
            </a:r>
            <a:r>
              <a:rPr dirty="0"/>
              <a:t> </a:t>
            </a:r>
            <a:r>
              <a:rPr dirty="0" err="1"/>
              <a:t>eine</a:t>
            </a:r>
            <a:r>
              <a:rPr dirty="0"/>
              <a:t> </a:t>
            </a:r>
            <a:r>
              <a:rPr dirty="0" err="1"/>
              <a:t>überprüfbare</a:t>
            </a:r>
            <a:r>
              <a:rPr dirty="0"/>
              <a:t> </a:t>
            </a:r>
            <a:r>
              <a:rPr dirty="0" err="1"/>
              <a:t>Grundlage</a:t>
            </a:r>
            <a:r>
              <a:rPr dirty="0"/>
              <a:t> von der Quelle bis </a:t>
            </a:r>
            <a:r>
              <a:rPr dirty="0" err="1"/>
              <a:t>zur</a:t>
            </a:r>
            <a:r>
              <a:rPr dirty="0"/>
              <a:t> </a:t>
            </a:r>
            <a:r>
              <a:rPr dirty="0" err="1"/>
              <a:t>Antwort</a:t>
            </a:r>
            <a:r>
              <a:rPr dirty="0"/>
              <a:t>. Das </a:t>
            </a:r>
            <a:r>
              <a:rPr dirty="0" err="1"/>
              <a:t>ist</a:t>
            </a:r>
            <a:r>
              <a:rPr dirty="0"/>
              <a:t> </a:t>
            </a:r>
            <a:r>
              <a:rPr dirty="0" err="1"/>
              <a:t>unser</a:t>
            </a:r>
            <a:r>
              <a:rPr dirty="0"/>
              <a:t> </a:t>
            </a:r>
            <a:r>
              <a:rPr dirty="0" err="1"/>
              <a:t>Ergebnis</a:t>
            </a:r>
            <a:r>
              <a:rPr dirty="0"/>
              <a:t> von Teil 1.</a:t>
            </a:r>
          </a:p>
          <a:p>
            <a:endParaRPr dirty="0"/>
          </a:p>
          <a:p>
            <a:r>
              <a:rPr dirty="0"/>
              <a:t>Verstehen: Die </a:t>
            </a:r>
            <a:r>
              <a:rPr dirty="0" err="1"/>
              <a:t>fachliche</a:t>
            </a:r>
            <a:r>
              <a:rPr dirty="0"/>
              <a:t> </a:t>
            </a:r>
            <a:r>
              <a:rPr dirty="0" err="1"/>
              <a:t>Aussage</a:t>
            </a:r>
            <a:r>
              <a:rPr dirty="0"/>
              <a:t> und die </a:t>
            </a:r>
            <a:r>
              <a:rPr dirty="0" err="1"/>
              <a:t>technische</a:t>
            </a:r>
            <a:r>
              <a:rPr dirty="0"/>
              <a:t> </a:t>
            </a:r>
            <a:r>
              <a:rPr dirty="0" err="1"/>
              <a:t>Grundlage</a:t>
            </a:r>
            <a:r>
              <a:rPr dirty="0"/>
              <a:t> </a:t>
            </a:r>
            <a:r>
              <a:rPr dirty="0" err="1"/>
              <a:t>gehören</a:t>
            </a:r>
            <a:r>
              <a:rPr dirty="0"/>
              <a:t> </a:t>
            </a:r>
            <a:r>
              <a:rPr dirty="0" err="1"/>
              <a:t>zusammen</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Abschluss und Nachweise</a:t>
            </a:r>
          </a:p>
          <a:p>
            <a:r>
              <a:t>Richtzeit: 25 Sekunden</a:t>
            </a:r>
          </a:p>
          <a:p>
            <a:endParaRPr/>
          </a:p>
          <a:p>
            <a:r>
              <a:t>Die Abgabe enthält die Präsentation sowie den Code, die Originaldaten, den bereinigten Bestand, die Datenbank und die ausgeführten Analysen. Das README erklärt den Einstieg. Der separate Abgabebranch hält den geprüften Stand für Teil 1 fest. Erweiterungen für Teil 2 erfolgen getrennt davon. Vielen Dank, wir beantworten gerne Fragen.</a:t>
            </a:r>
          </a:p>
          <a:p>
            <a:endParaRPr/>
          </a:p>
          <a:p>
            <a:r>
              <a:t>Verstehen: Ein eingefrorener Branch ist eine Arbeitsvereinbarung; der genaue Commit identifiziert den Stand.</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Reserve: Datenmodell und SQL</a:t>
            </a:r>
          </a:p>
          <a:p>
            <a:r>
              <a:t>Richtzeit: 0 Sekunden</a:t>
            </a:r>
          </a:p>
          <a:p>
            <a:endParaRPr/>
          </a:p>
          <a:p>
            <a:r>
              <a:t>Eine Tabelle reicht, weil unsere Beobachtungseinheit der Unfall ist und wir keine eigenen Personen- oder Fahrzeugdatensätze besitzen. Der Primärschlüssel verhindert doppelte IDs. CHECK-Regeln prüfen Wertebereiche und die Konsistenz berechneter Features. pipeline_metadata dokumentiert die Herkunft. Das SQL-Beispiel zählt Personenschadenunfälle pro Jahr. Die Tabelle ist relational nutzbar, auch ohne mehrere Dimensionstabellen.</a:t>
            </a:r>
          </a:p>
          <a:p>
            <a:endParaRPr/>
          </a:p>
          <a:p>
            <a:r>
              <a:t>Verstehen: Die Datei accidents.sqlite reicht zum Öffnen; Code und Rohdaten sind für Reproduktion nötig.</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Reserve: Zahlen und Testannahmen</a:t>
            </a:r>
          </a:p>
          <a:p>
            <a:r>
              <a:t>Richtzeit: 0 Sekunden</a:t>
            </a:r>
          </a:p>
          <a:p>
            <a:endParaRPr/>
          </a:p>
          <a:p>
            <a:r>
              <a:t>Der H1-p-Wert wird als kleiner als 0,001 berichtet, weil die Gleitkommaberechnung auf null unterläuft. Er ist nicht mathematisch null. Bei H2 zeigt die Tabelle die Holm-korrigierten Werte. Cramérs V lässt die Grössenordnung der Assoziation erkennen. Alle erwarteten Häufigkeiten liegen über fünf. Dies stützt die asymptotische Berechnung, beweist aber nicht die zeitliche Unabhängigkeit oder Kausalität.</a:t>
            </a:r>
          </a:p>
          <a:p>
            <a:endParaRPr/>
          </a:p>
          <a:p>
            <a:r>
              <a:t>Verstehen: df sind Freiheitsgrade; für eine R×C-Tabelle gilt (R−1)×(C−1).</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Reserve: Unterströmungen und Skalierung</a:t>
            </a:r>
          </a:p>
          <a:p>
            <a:r>
              <a:t>Richtzeit: 0 Sekunden</a:t>
            </a:r>
          </a:p>
          <a:p>
            <a:endParaRPr/>
          </a:p>
          <a:p>
            <a:r>
              <a:t>Nachvollziehbarkeit entsteht durch dokumentierte Herkunft, Regeln und Versionen. Fehler stoppen die Verarbeitung. Die lokale Batch-Pipeline passt zur jährlich veröffentlichten Quelle. Für erheblich grössere Daten könnten wir chunkweise arbeiten; für eine zentrale Datenbank mit vielen Schreibzugriffen wäre PostgreSQL neu zu evaluieren. Diese Möglichkeiten sind ein Entwurf, keine nachgewiesene Lastskalierung. Die öffentliche Quelle wird nicht zur Identifizierung beteiligter Personen verknüpft.</a:t>
            </a:r>
          </a:p>
          <a:p>
            <a:endParaRPr/>
          </a:p>
          <a:p>
            <a:r>
              <a:t>Verstehen: Eine geplante Erweiterung nicht als bereits implementierte Funktion darstellen.</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Reserve: Quellen und Hilfsmittel</a:t>
            </a:r>
          </a:p>
          <a:p>
            <a:r>
              <a:t>Richtzeit: 0 Sekunden</a:t>
            </a:r>
          </a:p>
          <a:p>
            <a:endParaRPr/>
          </a:p>
          <a:p>
            <a:r>
              <a:t>Die Datenquelle wird mit ASTRA als Datenlieferant angegeben. SQLite und SciPy sind durch offizielle Dokumentation belegt. Die Holm-Korrektur folgt der Veröffentlichung von 1979. KI-Unterstützung ist offengelegt: Sie wurde für Implementierung, Dokumentation, Prüfung und Präsentation verwendet. Eine kursspezifische Erklärung ist gegebenenfalls zusätzlich nach dessen Vorgaben einzureichen; solche Vorgaben liegen uns nicht vor.</a:t>
            </a:r>
          </a:p>
          <a:p>
            <a:endParaRPr/>
          </a:p>
          <a:p>
            <a:r>
              <a:t>Verstehen: Nur persönlich geprüfte und verstandene Arbeit als eigene Erklärung vertreten.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10/26/26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‹Nr.›</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2C3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0292"/>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01752"/>
            <a:ext cx="10789920" cy="292608"/>
          </a:xfrm>
          <a:prstGeom prst="rect">
            <a:avLst/>
          </a:prstGeom>
          <a:noFill/>
        </p:spPr>
        <p:txBody>
          <a:bodyPr wrap="square" lIns="13716" tIns="13716" rIns="13716" bIns="13716">
            <a:spAutoFit/>
          </a:bodyPr>
          <a:lstStyle/>
          <a:p>
            <a:pPr>
              <a:spcAft>
                <a:spcPts val="700"/>
              </a:spcAft>
              <a:defRPr sz="1050" b="1">
                <a:solidFill>
                  <a:srgbClr val="79C9C1"/>
                </a:solidFill>
                <a:latin typeface="Aptos"/>
              </a:defRPr>
            </a:pPr>
            <a:r>
              <a:t>PROJEKTARBEIT · TEIL 1 · 28. OKTOBER 2026</a:t>
            </a:r>
          </a:p>
        </p:txBody>
      </p:sp>
      <p:sp>
        <p:nvSpPr>
          <p:cNvPr id="4" name="TextBox 3"/>
          <p:cNvSpPr txBox="1"/>
          <p:nvPr/>
        </p:nvSpPr>
        <p:spPr>
          <a:xfrm>
            <a:off x="548640" y="795528"/>
            <a:ext cx="11064240" cy="621792"/>
          </a:xfrm>
          <a:prstGeom prst="rect">
            <a:avLst/>
          </a:prstGeom>
          <a:noFill/>
        </p:spPr>
        <p:txBody>
          <a:bodyPr wrap="square" lIns="13716" tIns="13716" rIns="13716" bIns="13716">
            <a:spAutoFit/>
          </a:bodyPr>
          <a:lstStyle/>
          <a:p>
            <a:pPr>
              <a:spcAft>
                <a:spcPts val="700"/>
              </a:spcAft>
              <a:defRPr sz="3100" b="1">
                <a:solidFill>
                  <a:srgbClr val="FFFFFF"/>
                </a:solidFill>
                <a:latin typeface="Aptos"/>
              </a:defRPr>
            </a:pPr>
            <a:r>
              <a:t>Verkehrsunfälle in Zürich</a:t>
            </a:r>
          </a:p>
        </p:txBody>
      </p:sp>
      <p:sp>
        <p:nvSpPr>
          <p:cNvPr id="5" name="TextBox 4"/>
          <p:cNvSpPr txBox="1"/>
          <p:nvPr/>
        </p:nvSpPr>
        <p:spPr>
          <a:xfrm>
            <a:off x="548640" y="6519672"/>
            <a:ext cx="9966960" cy="182880"/>
          </a:xfrm>
          <a:prstGeom prst="rect">
            <a:avLst/>
          </a:prstGeom>
          <a:noFill/>
        </p:spPr>
        <p:txBody>
          <a:bodyPr wrap="square" lIns="13716" tIns="13716" rIns="13716" bIns="13716">
            <a:spAutoFit/>
          </a:bodyPr>
          <a:lstStyle/>
          <a:p>
            <a:pPr>
              <a:spcAft>
                <a:spcPts val="700"/>
              </a:spcAft>
              <a:defRPr sz="900" b="0">
                <a:solidFill>
                  <a:srgbClr val="CFD9DD"/>
                </a:solidFill>
                <a:latin typeface="Aptos"/>
              </a:defRPr>
            </a:pPr>
            <a:r>
              <a:t>ZHAW · Data Engineering HS26 · Souto / Fawaz / Muslija</a:t>
            </a:r>
          </a:p>
        </p:txBody>
      </p:sp>
      <p:sp>
        <p:nvSpPr>
          <p:cNvPr id="6" name="TextBox 5"/>
          <p:cNvSpPr txBox="1"/>
          <p:nvPr/>
        </p:nvSpPr>
        <p:spPr>
          <a:xfrm>
            <a:off x="10991088" y="6473952"/>
            <a:ext cx="640080" cy="274320"/>
          </a:xfrm>
          <a:prstGeom prst="rect">
            <a:avLst/>
          </a:prstGeom>
          <a:noFill/>
        </p:spPr>
        <p:txBody>
          <a:bodyPr wrap="square" lIns="13716" tIns="13716" rIns="13716" bIns="13716">
            <a:spAutoFit/>
          </a:bodyPr>
          <a:lstStyle/>
          <a:p>
            <a:pPr>
              <a:spcAft>
                <a:spcPts val="700"/>
              </a:spcAft>
              <a:defRPr sz="1100" b="1">
                <a:solidFill>
                  <a:srgbClr val="CFD9DD"/>
                </a:solidFill>
                <a:latin typeface="Aptos"/>
              </a:defRPr>
            </a:pPr>
            <a:r>
              <a:t>01</a:t>
            </a:r>
          </a:p>
        </p:txBody>
      </p:sp>
      <p:sp>
        <p:nvSpPr>
          <p:cNvPr id="7" name="TextBox 6"/>
          <p:cNvSpPr txBox="1"/>
          <p:nvPr/>
        </p:nvSpPr>
        <p:spPr>
          <a:xfrm>
            <a:off x="548640" y="1673352"/>
            <a:ext cx="7772400" cy="1005840"/>
          </a:xfrm>
          <a:prstGeom prst="rect">
            <a:avLst/>
          </a:prstGeom>
          <a:noFill/>
        </p:spPr>
        <p:txBody>
          <a:bodyPr wrap="square" lIns="13716" tIns="13716" rIns="13716" bIns="13716">
            <a:spAutoFit/>
          </a:bodyPr>
          <a:lstStyle/>
          <a:p>
            <a:pPr>
              <a:spcAft>
                <a:spcPts val="700"/>
              </a:spcAft>
              <a:defRPr sz="2900" b="0">
                <a:solidFill>
                  <a:srgbClr val="FFFFFF"/>
                </a:solidFill>
                <a:latin typeface="Aptos"/>
              </a:defRPr>
            </a:pPr>
            <a:r>
              <a:t>Von offenen Daten zu</a:t>
            </a:r>
          </a:p>
          <a:p>
            <a:pPr>
              <a:spcAft>
                <a:spcPts val="700"/>
              </a:spcAft>
              <a:defRPr sz="2900" b="0">
                <a:solidFill>
                  <a:srgbClr val="FFFFFF"/>
                </a:solidFill>
                <a:latin typeface="Aptos"/>
              </a:defRPr>
            </a:pPr>
            <a:r>
              <a:t>nachvollziehbaren Antworten.</a:t>
            </a:r>
          </a:p>
        </p:txBody>
      </p:sp>
      <p:sp>
        <p:nvSpPr>
          <p:cNvPr id="8" name="TextBox 7"/>
          <p:cNvSpPr txBox="1"/>
          <p:nvPr/>
        </p:nvSpPr>
        <p:spPr>
          <a:xfrm>
            <a:off x="548640" y="3108960"/>
            <a:ext cx="7132320" cy="731520"/>
          </a:xfrm>
          <a:prstGeom prst="rect">
            <a:avLst/>
          </a:prstGeom>
          <a:noFill/>
        </p:spPr>
        <p:txBody>
          <a:bodyPr wrap="square" lIns="13716" tIns="13716" rIns="13716" bIns="13716">
            <a:spAutoFit/>
          </a:bodyPr>
          <a:lstStyle/>
          <a:p>
            <a:pPr>
              <a:spcAft>
                <a:spcPts val="700"/>
              </a:spcAft>
              <a:defRPr sz="2000" b="0">
                <a:solidFill>
                  <a:srgbClr val="CFD9DD"/>
                </a:solidFill>
                <a:latin typeface="Aptos"/>
              </a:defRPr>
            </a:pPr>
            <a:r>
              <a:t>Eine reproduzierbare Python-/SQL-Pipeline</a:t>
            </a:r>
          </a:p>
          <a:p>
            <a:pPr>
              <a:spcAft>
                <a:spcPts val="700"/>
              </a:spcAft>
              <a:defRPr sz="2000" b="0">
                <a:solidFill>
                  <a:srgbClr val="CFD9DD"/>
                </a:solidFill>
                <a:latin typeface="Aptos"/>
              </a:defRPr>
            </a:pPr>
            <a:r>
              <a:t>für registrierte Unfälle von 2011–2025.</a:t>
            </a:r>
          </a:p>
        </p:txBody>
      </p:sp>
      <p:sp>
        <p:nvSpPr>
          <p:cNvPr id="9" name="TextBox 8"/>
          <p:cNvSpPr txBox="1"/>
          <p:nvPr/>
        </p:nvSpPr>
        <p:spPr>
          <a:xfrm>
            <a:off x="548640" y="4617720"/>
            <a:ext cx="2834640" cy="685800"/>
          </a:xfrm>
          <a:prstGeom prst="rect">
            <a:avLst/>
          </a:prstGeom>
          <a:noFill/>
        </p:spPr>
        <p:txBody>
          <a:bodyPr wrap="square" lIns="13716" tIns="13716" rIns="13716" bIns="13716">
            <a:spAutoFit/>
          </a:bodyPr>
          <a:lstStyle/>
          <a:p>
            <a:pPr>
              <a:spcAft>
                <a:spcPts val="700"/>
              </a:spcAft>
              <a:defRPr sz="3900" b="1">
                <a:solidFill>
                  <a:srgbClr val="79C9C1"/>
                </a:solidFill>
                <a:latin typeface="Aptos"/>
              </a:defRPr>
            </a:pPr>
            <a:r>
              <a:t>70’767</a:t>
            </a:r>
          </a:p>
        </p:txBody>
      </p:sp>
      <p:sp>
        <p:nvSpPr>
          <p:cNvPr id="10" name="TextBox 9"/>
          <p:cNvSpPr txBox="1"/>
          <p:nvPr/>
        </p:nvSpPr>
        <p:spPr>
          <a:xfrm>
            <a:off x="548640" y="5376672"/>
            <a:ext cx="2834640" cy="457200"/>
          </a:xfrm>
          <a:prstGeom prst="rect">
            <a:avLst/>
          </a:prstGeom>
          <a:noFill/>
        </p:spPr>
        <p:txBody>
          <a:bodyPr wrap="square" lIns="13716" tIns="13716" rIns="13716" bIns="13716">
            <a:spAutoFit/>
          </a:bodyPr>
          <a:lstStyle/>
          <a:p>
            <a:pPr>
              <a:spcAft>
                <a:spcPts val="700"/>
              </a:spcAft>
              <a:defRPr sz="1600" b="0">
                <a:solidFill>
                  <a:srgbClr val="CFD9DD"/>
                </a:solidFill>
                <a:latin typeface="Aptos"/>
              </a:defRPr>
            </a:pPr>
            <a:r>
              <a:t>registrierte Unfälle</a:t>
            </a:r>
          </a:p>
        </p:txBody>
      </p:sp>
      <p:sp>
        <p:nvSpPr>
          <p:cNvPr id="11" name="TextBox 10"/>
          <p:cNvSpPr txBox="1"/>
          <p:nvPr/>
        </p:nvSpPr>
        <p:spPr>
          <a:xfrm>
            <a:off x="3657600" y="4617720"/>
            <a:ext cx="2834640" cy="685800"/>
          </a:xfrm>
          <a:prstGeom prst="rect">
            <a:avLst/>
          </a:prstGeom>
          <a:noFill/>
        </p:spPr>
        <p:txBody>
          <a:bodyPr wrap="square" lIns="13716" tIns="13716" rIns="13716" bIns="13716">
            <a:spAutoFit/>
          </a:bodyPr>
          <a:lstStyle/>
          <a:p>
            <a:pPr>
              <a:spcAft>
                <a:spcPts val="700"/>
              </a:spcAft>
              <a:defRPr sz="3900" b="1">
                <a:solidFill>
                  <a:srgbClr val="79C9C1"/>
                </a:solidFill>
                <a:latin typeface="Aptos"/>
              </a:defRPr>
            </a:pPr>
            <a:r>
              <a:t>15</a:t>
            </a:r>
          </a:p>
        </p:txBody>
      </p:sp>
      <p:sp>
        <p:nvSpPr>
          <p:cNvPr id="12" name="TextBox 11"/>
          <p:cNvSpPr txBox="1"/>
          <p:nvPr/>
        </p:nvSpPr>
        <p:spPr>
          <a:xfrm>
            <a:off x="3657600" y="5376672"/>
            <a:ext cx="2834640" cy="457200"/>
          </a:xfrm>
          <a:prstGeom prst="rect">
            <a:avLst/>
          </a:prstGeom>
          <a:noFill/>
        </p:spPr>
        <p:txBody>
          <a:bodyPr wrap="square" lIns="13716" tIns="13716" rIns="13716" bIns="13716">
            <a:spAutoFit/>
          </a:bodyPr>
          <a:lstStyle/>
          <a:p>
            <a:pPr>
              <a:spcAft>
                <a:spcPts val="700"/>
              </a:spcAft>
              <a:defRPr sz="1600" b="0">
                <a:solidFill>
                  <a:srgbClr val="CFD9DD"/>
                </a:solidFill>
                <a:latin typeface="Aptos"/>
              </a:defRPr>
            </a:pPr>
            <a:r>
              <a:t>Unfalljahre</a:t>
            </a:r>
          </a:p>
        </p:txBody>
      </p:sp>
      <p:sp>
        <p:nvSpPr>
          <p:cNvPr id="13" name="TextBox 12"/>
          <p:cNvSpPr txBox="1"/>
          <p:nvPr/>
        </p:nvSpPr>
        <p:spPr>
          <a:xfrm>
            <a:off x="6446520" y="4617720"/>
            <a:ext cx="2834640" cy="685800"/>
          </a:xfrm>
          <a:prstGeom prst="rect">
            <a:avLst/>
          </a:prstGeom>
          <a:noFill/>
        </p:spPr>
        <p:txBody>
          <a:bodyPr wrap="square" lIns="13716" tIns="13716" rIns="13716" bIns="13716">
            <a:spAutoFit/>
          </a:bodyPr>
          <a:lstStyle/>
          <a:p>
            <a:pPr>
              <a:spcAft>
                <a:spcPts val="700"/>
              </a:spcAft>
              <a:defRPr sz="3900" b="1">
                <a:solidFill>
                  <a:srgbClr val="79C9C1"/>
                </a:solidFill>
                <a:latin typeface="Aptos"/>
              </a:defRPr>
            </a:pPr>
            <a:r>
              <a:t>3</a:t>
            </a:r>
          </a:p>
        </p:txBody>
      </p:sp>
      <p:sp>
        <p:nvSpPr>
          <p:cNvPr id="14" name="TextBox 13"/>
          <p:cNvSpPr txBox="1"/>
          <p:nvPr/>
        </p:nvSpPr>
        <p:spPr>
          <a:xfrm>
            <a:off x="6446520" y="5376672"/>
            <a:ext cx="2834640" cy="457200"/>
          </a:xfrm>
          <a:prstGeom prst="rect">
            <a:avLst/>
          </a:prstGeom>
          <a:noFill/>
        </p:spPr>
        <p:txBody>
          <a:bodyPr wrap="square" lIns="13716" tIns="13716" rIns="13716" bIns="13716">
            <a:spAutoFit/>
          </a:bodyPr>
          <a:lstStyle/>
          <a:p>
            <a:pPr>
              <a:spcAft>
                <a:spcPts val="700"/>
              </a:spcAft>
              <a:defRPr sz="1600" b="0">
                <a:solidFill>
                  <a:srgbClr val="CFD9DD"/>
                </a:solidFill>
                <a:latin typeface="Aptos"/>
              </a:defRPr>
            </a:pPr>
            <a:r>
              <a:t>Forschungsfragen</a:t>
            </a:r>
          </a:p>
        </p:txBody>
      </p:sp>
      <p:sp>
        <p:nvSpPr>
          <p:cNvPr id="15" name="Rectangle 14"/>
          <p:cNvSpPr/>
          <p:nvPr/>
        </p:nvSpPr>
        <p:spPr>
          <a:xfrm>
            <a:off x="9829800" y="1783080"/>
            <a:ext cx="64008" cy="3977639"/>
          </a:xfrm>
          <a:prstGeom prst="rect">
            <a:avLst/>
          </a:prstGeom>
          <a:solidFill>
            <a:srgbClr val="2846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10250424" y="1783080"/>
            <a:ext cx="64008" cy="3977639"/>
          </a:xfrm>
          <a:prstGeom prst="rect">
            <a:avLst/>
          </a:prstGeom>
          <a:solidFill>
            <a:srgbClr val="2846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10671048" y="1783080"/>
            <a:ext cx="64008" cy="3977639"/>
          </a:xfrm>
          <a:prstGeom prst="rect">
            <a:avLst/>
          </a:prstGeom>
          <a:solidFill>
            <a:srgbClr val="2846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11091672" y="1783080"/>
            <a:ext cx="64008" cy="3977639"/>
          </a:xfrm>
          <a:prstGeom prst="rect">
            <a:avLst/>
          </a:prstGeom>
          <a:solidFill>
            <a:srgbClr val="2846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9464040" y="2377440"/>
            <a:ext cx="2103120" cy="64008"/>
          </a:xfrm>
          <a:prstGeom prst="rect">
            <a:avLst/>
          </a:prstGeom>
          <a:solidFill>
            <a:srgbClr val="2846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9464040" y="3566160"/>
            <a:ext cx="2103120" cy="64008"/>
          </a:xfrm>
          <a:prstGeom prst="rect">
            <a:avLst/>
          </a:prstGeom>
          <a:solidFill>
            <a:srgbClr val="2846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9464040" y="4754880"/>
            <a:ext cx="2103120" cy="64008"/>
          </a:xfrm>
          <a:prstGeom prst="rect">
            <a:avLst/>
          </a:prstGeom>
          <a:solidFill>
            <a:srgbClr val="2846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10652760" y="3520440"/>
            <a:ext cx="164592" cy="164592"/>
          </a:xfrm>
          <a:prstGeom prst="roundRect">
            <a:avLst>
              <a:gd name="adj" fmla="val 8000"/>
            </a:avLst>
          </a:prstGeom>
          <a:solidFill>
            <a:srgbClr val="79C9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48640" y="5989320"/>
            <a:ext cx="9875520" cy="320040"/>
          </a:xfrm>
          <a:prstGeom prst="rect">
            <a:avLst/>
          </a:prstGeom>
          <a:noFill/>
        </p:spPr>
        <p:txBody>
          <a:bodyPr wrap="square" lIns="13716" tIns="13716" rIns="13716" bIns="13716">
            <a:spAutoFit/>
          </a:bodyPr>
          <a:lstStyle/>
          <a:p>
            <a:pPr>
              <a:spcAft>
                <a:spcPts val="700"/>
              </a:spcAft>
              <a:defRPr sz="1600" b="0">
                <a:solidFill>
                  <a:srgbClr val="FFFFFF"/>
                </a:solidFill>
                <a:latin typeface="Aptos"/>
              </a:defRPr>
            </a:pPr>
            <a:r>
              <a:t>Ruben Souto · Issa Fawaz · Drin Muslija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6F5"/>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0292"/>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01752"/>
            <a:ext cx="10789920" cy="292608"/>
          </a:xfrm>
          <a:prstGeom prst="rect">
            <a:avLst/>
          </a:prstGeom>
          <a:noFill/>
        </p:spPr>
        <p:txBody>
          <a:bodyPr wrap="square" lIns="13716" tIns="13716" rIns="13716" bIns="13716">
            <a:spAutoFit/>
          </a:bodyPr>
          <a:lstStyle/>
          <a:p>
            <a:pPr>
              <a:spcAft>
                <a:spcPts val="700"/>
              </a:spcAft>
              <a:defRPr sz="1050" b="1">
                <a:solidFill>
                  <a:srgbClr val="087E83"/>
                </a:solidFill>
                <a:latin typeface="Aptos"/>
              </a:defRPr>
            </a:pPr>
            <a:r>
              <a:t>01 · KONZEPTIONALISIERUNG</a:t>
            </a:r>
          </a:p>
        </p:txBody>
      </p:sp>
      <p:sp>
        <p:nvSpPr>
          <p:cNvPr id="4" name="TextBox 3"/>
          <p:cNvSpPr txBox="1"/>
          <p:nvPr/>
        </p:nvSpPr>
        <p:spPr>
          <a:xfrm>
            <a:off x="548640" y="795528"/>
            <a:ext cx="11064240" cy="621792"/>
          </a:xfrm>
          <a:prstGeom prst="rect">
            <a:avLst/>
          </a:prstGeom>
          <a:noFill/>
        </p:spPr>
        <p:txBody>
          <a:bodyPr wrap="square" lIns="13716" tIns="13716" rIns="13716" bIns="13716">
            <a:spAutoFit/>
          </a:bodyPr>
          <a:lstStyle/>
          <a:p>
            <a:pPr>
              <a:spcAft>
                <a:spcPts val="700"/>
              </a:spcAft>
              <a:defRPr sz="3100" b="1">
                <a:solidFill>
                  <a:srgbClr val="102C3B"/>
                </a:solidFill>
                <a:latin typeface="Aptos"/>
              </a:defRPr>
            </a:pPr>
            <a:r>
              <a:t>Drei Fragen verbinden Technik und Analyse</a:t>
            </a:r>
          </a:p>
        </p:txBody>
      </p:sp>
      <p:sp>
        <p:nvSpPr>
          <p:cNvPr id="5" name="TextBox 4"/>
          <p:cNvSpPr txBox="1"/>
          <p:nvPr/>
        </p:nvSpPr>
        <p:spPr>
          <a:xfrm>
            <a:off x="548640" y="1490472"/>
            <a:ext cx="11064240" cy="548640"/>
          </a:xfrm>
          <a:prstGeom prst="rect">
            <a:avLst/>
          </a:prstGeom>
          <a:noFill/>
        </p:spPr>
        <p:txBody>
          <a:bodyPr wrap="square" lIns="13716" tIns="13716" rIns="13716" bIns="13716">
            <a:spAutoFit/>
          </a:bodyPr>
          <a:lstStyle/>
          <a:p>
            <a:pPr>
              <a:spcAft>
                <a:spcPts val="700"/>
              </a:spcAft>
              <a:defRPr sz="1700" b="0">
                <a:solidFill>
                  <a:srgbClr val="536773"/>
                </a:solidFill>
                <a:latin typeface="Aptos"/>
              </a:defRPr>
            </a:pPr>
            <a:r>
              <a:t>Ausgangslage: Unfälle verursachen Schäden. Offene Daten machen Muster untersuchbar.</a:t>
            </a:r>
          </a:p>
        </p:txBody>
      </p:sp>
      <p:sp>
        <p:nvSpPr>
          <p:cNvPr id="6" name="TextBox 5"/>
          <p:cNvSpPr txBox="1"/>
          <p:nvPr/>
        </p:nvSpPr>
        <p:spPr>
          <a:xfrm>
            <a:off x="548640" y="6519672"/>
            <a:ext cx="9966960" cy="182880"/>
          </a:xfrm>
          <a:prstGeom prst="rect">
            <a:avLst/>
          </a:prstGeom>
          <a:noFill/>
        </p:spPr>
        <p:txBody>
          <a:bodyPr wrap="square" lIns="13716" tIns="13716" rIns="13716" bIns="13716">
            <a:spAutoFit/>
          </a:bodyPr>
          <a:lstStyle/>
          <a:p>
            <a:pPr>
              <a:spcAft>
                <a:spcPts val="700"/>
              </a:spcAft>
              <a:defRPr sz="900" b="0">
                <a:solidFill>
                  <a:srgbClr val="536773"/>
                </a:solidFill>
                <a:latin typeface="Aptos"/>
              </a:defRPr>
            </a:pPr>
            <a:r>
              <a:t>ZHAW · Data Engineering HS26 · Souto / Fawaz / Muslija</a:t>
            </a:r>
          </a:p>
        </p:txBody>
      </p:sp>
      <p:sp>
        <p:nvSpPr>
          <p:cNvPr id="7" name="TextBox 6"/>
          <p:cNvSpPr txBox="1"/>
          <p:nvPr/>
        </p:nvSpPr>
        <p:spPr>
          <a:xfrm>
            <a:off x="10991088" y="6473952"/>
            <a:ext cx="640080" cy="274320"/>
          </a:xfrm>
          <a:prstGeom prst="rect">
            <a:avLst/>
          </a:prstGeom>
          <a:noFill/>
        </p:spPr>
        <p:txBody>
          <a:bodyPr wrap="square" lIns="13716" tIns="13716" rIns="13716" bIns="13716">
            <a:spAutoFit/>
          </a:bodyPr>
          <a:lstStyle/>
          <a:p>
            <a:pPr>
              <a:spcAft>
                <a:spcPts val="700"/>
              </a:spcAft>
              <a:defRPr sz="1100" b="1">
                <a:solidFill>
                  <a:srgbClr val="087E83"/>
                </a:solidFill>
                <a:latin typeface="Aptos"/>
              </a:defRPr>
            </a:pPr>
            <a:r>
              <a:t>02</a:t>
            </a:r>
          </a:p>
        </p:txBody>
      </p:sp>
      <p:sp>
        <p:nvSpPr>
          <p:cNvPr id="8" name="Rounded Rectangle 7"/>
          <p:cNvSpPr/>
          <p:nvPr/>
        </p:nvSpPr>
        <p:spPr>
          <a:xfrm>
            <a:off x="548640" y="2331720"/>
            <a:ext cx="3547872" cy="29718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2331720"/>
            <a:ext cx="41148" cy="2971800"/>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58952" y="2514600"/>
            <a:ext cx="3154679" cy="457200"/>
          </a:xfrm>
          <a:prstGeom prst="rect">
            <a:avLst/>
          </a:prstGeom>
          <a:noFill/>
        </p:spPr>
        <p:txBody>
          <a:bodyPr wrap="square" lIns="13716" tIns="13716" rIns="13716" bIns="13716">
            <a:spAutoFit/>
          </a:bodyPr>
          <a:lstStyle/>
          <a:p>
            <a:pPr>
              <a:spcAft>
                <a:spcPts val="700"/>
              </a:spcAft>
              <a:defRPr sz="1900" b="1">
                <a:solidFill>
                  <a:srgbClr val="087E83"/>
                </a:solidFill>
                <a:latin typeface="Aptos"/>
              </a:defRPr>
            </a:pPr>
            <a:r>
              <a:t>F1  Wann?</a:t>
            </a:r>
          </a:p>
        </p:txBody>
      </p:sp>
      <p:sp>
        <p:nvSpPr>
          <p:cNvPr id="11" name="TextBox 10"/>
          <p:cNvSpPr txBox="1"/>
          <p:nvPr/>
        </p:nvSpPr>
        <p:spPr>
          <a:xfrm>
            <a:off x="758952" y="3136391"/>
            <a:ext cx="3154679" cy="2029967"/>
          </a:xfrm>
          <a:prstGeom prst="rect">
            <a:avLst/>
          </a:prstGeom>
          <a:noFill/>
        </p:spPr>
        <p:txBody>
          <a:bodyPr wrap="square" lIns="13716" tIns="13716" rIns="13716" bIns="13716">
            <a:spAutoFit/>
          </a:bodyPr>
          <a:lstStyle/>
          <a:p>
            <a:pPr>
              <a:spcAft>
                <a:spcPts val="700"/>
              </a:spcAft>
              <a:defRPr sz="1800" b="0">
                <a:solidFill>
                  <a:srgbClr val="102C3B"/>
                </a:solidFill>
                <a:latin typeface="Aptos"/>
              </a:defRPr>
            </a:pPr>
            <a:r>
              <a:t>Tageszeit und Wochentag</a:t>
            </a:r>
          </a:p>
          <a:p>
            <a:pPr>
              <a:spcAft>
                <a:spcPts val="700"/>
              </a:spcAft>
              <a:defRPr sz="1800" b="0">
                <a:solidFill>
                  <a:srgbClr val="102C3B"/>
                </a:solidFill>
                <a:latin typeface="Aptos"/>
              </a:defRPr>
            </a:pPr>
            <a:endParaRPr/>
          </a:p>
          <a:p>
            <a:pPr>
              <a:spcAft>
                <a:spcPts val="700"/>
              </a:spcAft>
              <a:defRPr sz="1800" b="0">
                <a:solidFill>
                  <a:srgbClr val="102C3B"/>
                </a:solidFill>
                <a:latin typeface="Aptos"/>
              </a:defRPr>
            </a:pPr>
            <a:r>
              <a:t>Stundenanteile vergleichen;</a:t>
            </a:r>
          </a:p>
          <a:p>
            <a:pPr>
              <a:spcAft>
                <a:spcPts val="700"/>
              </a:spcAft>
              <a:defRPr sz="1800" b="0">
                <a:solidFill>
                  <a:srgbClr val="102C3B"/>
                </a:solidFill>
                <a:latin typeface="Aptos"/>
              </a:defRPr>
            </a:pPr>
            <a:r>
              <a:t>H1 prüft Unterschiede.</a:t>
            </a:r>
          </a:p>
        </p:txBody>
      </p:sp>
      <p:sp>
        <p:nvSpPr>
          <p:cNvPr id="12" name="Rounded Rectangle 11"/>
          <p:cNvSpPr/>
          <p:nvPr/>
        </p:nvSpPr>
        <p:spPr>
          <a:xfrm>
            <a:off x="4315968" y="2331720"/>
            <a:ext cx="3547872" cy="29718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15968" y="2331720"/>
            <a:ext cx="41148" cy="2971800"/>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26280" y="2514600"/>
            <a:ext cx="3154679" cy="457200"/>
          </a:xfrm>
          <a:prstGeom prst="rect">
            <a:avLst/>
          </a:prstGeom>
          <a:noFill/>
        </p:spPr>
        <p:txBody>
          <a:bodyPr wrap="square" lIns="13716" tIns="13716" rIns="13716" bIns="13716">
            <a:spAutoFit/>
          </a:bodyPr>
          <a:lstStyle/>
          <a:p>
            <a:pPr>
              <a:spcAft>
                <a:spcPts val="700"/>
              </a:spcAft>
              <a:defRPr sz="1900" b="1">
                <a:solidFill>
                  <a:srgbClr val="087E83"/>
                </a:solidFill>
                <a:latin typeface="Aptos"/>
              </a:defRPr>
            </a:pPr>
            <a:r>
              <a:t>F2  Mit welcher Beteiligung?</a:t>
            </a:r>
          </a:p>
        </p:txBody>
      </p:sp>
      <p:sp>
        <p:nvSpPr>
          <p:cNvPr id="15" name="TextBox 14"/>
          <p:cNvSpPr txBox="1"/>
          <p:nvPr/>
        </p:nvSpPr>
        <p:spPr>
          <a:xfrm>
            <a:off x="4526280" y="3136391"/>
            <a:ext cx="3154679" cy="2029967"/>
          </a:xfrm>
          <a:prstGeom prst="rect">
            <a:avLst/>
          </a:prstGeom>
          <a:noFill/>
        </p:spPr>
        <p:txBody>
          <a:bodyPr wrap="square" lIns="13716" tIns="13716" rIns="13716" bIns="13716">
            <a:spAutoFit/>
          </a:bodyPr>
          <a:lstStyle/>
          <a:p>
            <a:pPr>
              <a:spcAft>
                <a:spcPts val="700"/>
              </a:spcAft>
              <a:defRPr sz="1800" b="0">
                <a:solidFill>
                  <a:srgbClr val="102C3B"/>
                </a:solidFill>
                <a:latin typeface="Aptos"/>
              </a:defRPr>
            </a:pPr>
            <a:r>
              <a:t>Beteiligung und Schwere</a:t>
            </a:r>
          </a:p>
          <a:p>
            <a:pPr>
              <a:spcAft>
                <a:spcPts val="700"/>
              </a:spcAft>
              <a:defRPr sz="1800" b="0">
                <a:solidFill>
                  <a:srgbClr val="102C3B"/>
                </a:solidFill>
                <a:latin typeface="Aptos"/>
              </a:defRPr>
            </a:pPr>
            <a:r>
              <a:t>bei Personenschadenunfällen</a:t>
            </a:r>
          </a:p>
          <a:p>
            <a:pPr>
              <a:spcAft>
                <a:spcPts val="700"/>
              </a:spcAft>
              <a:defRPr sz="1800" b="0">
                <a:solidFill>
                  <a:srgbClr val="102C3B"/>
                </a:solidFill>
                <a:latin typeface="Aptos"/>
              </a:defRPr>
            </a:pPr>
            <a:endParaRPr/>
          </a:p>
          <a:p>
            <a:pPr>
              <a:spcAft>
                <a:spcPts val="700"/>
              </a:spcAft>
              <a:defRPr sz="1800" b="0">
                <a:solidFill>
                  <a:srgbClr val="102C3B"/>
                </a:solidFill>
                <a:latin typeface="Aptos"/>
              </a:defRPr>
            </a:pPr>
            <a:r>
              <a:t>Drei Vergleiche; H2.</a:t>
            </a:r>
          </a:p>
        </p:txBody>
      </p:sp>
      <p:sp>
        <p:nvSpPr>
          <p:cNvPr id="16" name="Rounded Rectangle 15"/>
          <p:cNvSpPr/>
          <p:nvPr/>
        </p:nvSpPr>
        <p:spPr>
          <a:xfrm>
            <a:off x="8083296" y="2331720"/>
            <a:ext cx="3547872" cy="29718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083296" y="2331720"/>
            <a:ext cx="41148" cy="2971800"/>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93608" y="2514600"/>
            <a:ext cx="3154679" cy="457200"/>
          </a:xfrm>
          <a:prstGeom prst="rect">
            <a:avLst/>
          </a:prstGeom>
          <a:noFill/>
        </p:spPr>
        <p:txBody>
          <a:bodyPr wrap="square" lIns="13716" tIns="13716" rIns="13716" bIns="13716">
            <a:spAutoFit/>
          </a:bodyPr>
          <a:lstStyle/>
          <a:p>
            <a:pPr>
              <a:spcAft>
                <a:spcPts val="700"/>
              </a:spcAft>
              <a:defRPr sz="1900" b="1">
                <a:solidFill>
                  <a:srgbClr val="087E83"/>
                </a:solidFill>
                <a:latin typeface="Aptos"/>
              </a:defRPr>
            </a:pPr>
            <a:r>
              <a:t>F3  Was verändert sich?</a:t>
            </a:r>
          </a:p>
        </p:txBody>
      </p:sp>
      <p:sp>
        <p:nvSpPr>
          <p:cNvPr id="19" name="TextBox 18"/>
          <p:cNvSpPr txBox="1"/>
          <p:nvPr/>
        </p:nvSpPr>
        <p:spPr>
          <a:xfrm>
            <a:off x="8293608" y="3136391"/>
            <a:ext cx="3154679" cy="2029967"/>
          </a:xfrm>
          <a:prstGeom prst="rect">
            <a:avLst/>
          </a:prstGeom>
          <a:noFill/>
        </p:spPr>
        <p:txBody>
          <a:bodyPr wrap="square" lIns="13716" tIns="13716" rIns="13716" bIns="13716">
            <a:spAutoFit/>
          </a:bodyPr>
          <a:lstStyle/>
          <a:p>
            <a:pPr>
              <a:spcAft>
                <a:spcPts val="700"/>
              </a:spcAft>
              <a:defRPr sz="1800" b="0">
                <a:solidFill>
                  <a:srgbClr val="102C3B"/>
                </a:solidFill>
                <a:latin typeface="Aptos"/>
              </a:defRPr>
            </a:pPr>
            <a:r>
              <a:t>Anzahl und Zusammensetzung</a:t>
            </a:r>
          </a:p>
          <a:p>
            <a:pPr>
              <a:spcAft>
                <a:spcPts val="700"/>
              </a:spcAft>
              <a:defRPr sz="1800" b="0">
                <a:solidFill>
                  <a:srgbClr val="102C3B"/>
                </a:solidFill>
                <a:latin typeface="Aptos"/>
              </a:defRPr>
            </a:pPr>
            <a:r>
              <a:t>über die Jahre</a:t>
            </a:r>
          </a:p>
          <a:p>
            <a:pPr>
              <a:spcAft>
                <a:spcPts val="700"/>
              </a:spcAft>
              <a:defRPr sz="1800" b="0">
                <a:solidFill>
                  <a:srgbClr val="102C3B"/>
                </a:solidFill>
                <a:latin typeface="Aptos"/>
              </a:defRPr>
            </a:pPr>
            <a:endParaRPr/>
          </a:p>
          <a:p>
            <a:pPr>
              <a:spcAft>
                <a:spcPts val="700"/>
              </a:spcAft>
              <a:defRPr sz="1800" b="0">
                <a:solidFill>
                  <a:srgbClr val="102C3B"/>
                </a:solidFill>
                <a:latin typeface="Aptos"/>
              </a:defRPr>
            </a:pPr>
            <a:r>
              <a:t>Jahresreihen und Anteile.</a:t>
            </a:r>
          </a:p>
        </p:txBody>
      </p:sp>
      <p:sp>
        <p:nvSpPr>
          <p:cNvPr id="20" name="Rounded Rectangle 19"/>
          <p:cNvSpPr/>
          <p:nvPr/>
        </p:nvSpPr>
        <p:spPr>
          <a:xfrm>
            <a:off x="548640" y="5806440"/>
            <a:ext cx="11064240" cy="484632"/>
          </a:xfrm>
          <a:prstGeom prst="roundRect">
            <a:avLst>
              <a:gd name="adj" fmla="val 8000"/>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40664" y="5888736"/>
            <a:ext cx="10652760" cy="329184"/>
          </a:xfrm>
          <a:prstGeom prst="rect">
            <a:avLst/>
          </a:prstGeom>
          <a:noFill/>
        </p:spPr>
        <p:txBody>
          <a:bodyPr wrap="square" lIns="13716" tIns="13716" rIns="13716" bIns="13716">
            <a:spAutoFit/>
          </a:bodyPr>
          <a:lstStyle/>
          <a:p>
            <a:pPr>
              <a:spcAft>
                <a:spcPts val="700"/>
              </a:spcAft>
              <a:defRPr sz="1700" b="1">
                <a:solidFill>
                  <a:srgbClr val="102C3B"/>
                </a:solidFill>
                <a:latin typeface="Aptos"/>
              </a:defRPr>
            </a:pPr>
            <a:r>
              <a:t>Engineering-Ziel: dieselbe Quelle mit denselben Regeln nachvollziehbar auswerten.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6F5"/>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0292"/>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01752"/>
            <a:ext cx="10789920" cy="292608"/>
          </a:xfrm>
          <a:prstGeom prst="rect">
            <a:avLst/>
          </a:prstGeom>
          <a:noFill/>
        </p:spPr>
        <p:txBody>
          <a:bodyPr wrap="square" lIns="13716" tIns="13716" rIns="13716" bIns="13716">
            <a:spAutoFit/>
          </a:bodyPr>
          <a:lstStyle/>
          <a:p>
            <a:pPr>
              <a:spcAft>
                <a:spcPts val="700"/>
              </a:spcAft>
              <a:defRPr sz="1050" b="1">
                <a:solidFill>
                  <a:srgbClr val="087E83"/>
                </a:solidFill>
                <a:latin typeface="Aptos"/>
              </a:defRPr>
            </a:pPr>
            <a:r>
              <a:t>02 · DATENGRUNDLAGE</a:t>
            </a:r>
          </a:p>
        </p:txBody>
      </p:sp>
      <p:sp>
        <p:nvSpPr>
          <p:cNvPr id="4" name="TextBox 3"/>
          <p:cNvSpPr txBox="1"/>
          <p:nvPr/>
        </p:nvSpPr>
        <p:spPr>
          <a:xfrm>
            <a:off x="548640" y="795528"/>
            <a:ext cx="11064240" cy="621792"/>
          </a:xfrm>
          <a:prstGeom prst="rect">
            <a:avLst/>
          </a:prstGeom>
          <a:noFill/>
        </p:spPr>
        <p:txBody>
          <a:bodyPr wrap="square" lIns="13716" tIns="13716" rIns="13716" bIns="13716">
            <a:spAutoFit/>
          </a:bodyPr>
          <a:lstStyle/>
          <a:p>
            <a:pPr>
              <a:spcAft>
                <a:spcPts val="700"/>
              </a:spcAft>
              <a:defRPr sz="3100" b="1">
                <a:solidFill>
                  <a:srgbClr val="102C3B"/>
                </a:solidFill>
                <a:latin typeface="Aptos"/>
              </a:defRPr>
            </a:pPr>
            <a:r>
              <a:t>Eine Zeile entspricht einem registrierten Unfall</a:t>
            </a:r>
          </a:p>
        </p:txBody>
      </p:sp>
      <p:sp>
        <p:nvSpPr>
          <p:cNvPr id="5" name="TextBox 4"/>
          <p:cNvSpPr txBox="1"/>
          <p:nvPr/>
        </p:nvSpPr>
        <p:spPr>
          <a:xfrm>
            <a:off x="548640" y="1490472"/>
            <a:ext cx="11064240" cy="548640"/>
          </a:xfrm>
          <a:prstGeom prst="rect">
            <a:avLst/>
          </a:prstGeom>
          <a:noFill/>
        </p:spPr>
        <p:txBody>
          <a:bodyPr wrap="square" lIns="13716" tIns="13716" rIns="13716" bIns="13716">
            <a:spAutoFit/>
          </a:bodyPr>
          <a:lstStyle/>
          <a:p>
            <a:pPr>
              <a:spcAft>
                <a:spcPts val="700"/>
              </a:spcAft>
              <a:defRPr sz="1700" b="0">
                <a:solidFill>
                  <a:srgbClr val="536773"/>
                </a:solidFill>
                <a:latin typeface="Aptos"/>
              </a:defRPr>
            </a:pPr>
            <a:r>
              <a:t>Open Data Zürich · Datenlieferant: Bundesamt für Strassen ASTRA</a:t>
            </a:r>
          </a:p>
        </p:txBody>
      </p:sp>
      <p:sp>
        <p:nvSpPr>
          <p:cNvPr id="6" name="TextBox 5"/>
          <p:cNvSpPr txBox="1"/>
          <p:nvPr/>
        </p:nvSpPr>
        <p:spPr>
          <a:xfrm>
            <a:off x="548640" y="6519672"/>
            <a:ext cx="9966960" cy="182880"/>
          </a:xfrm>
          <a:prstGeom prst="rect">
            <a:avLst/>
          </a:prstGeom>
          <a:noFill/>
        </p:spPr>
        <p:txBody>
          <a:bodyPr wrap="square" lIns="13716" tIns="13716" rIns="13716" bIns="13716">
            <a:spAutoFit/>
          </a:bodyPr>
          <a:lstStyle/>
          <a:p>
            <a:pPr>
              <a:spcAft>
                <a:spcPts val="700"/>
              </a:spcAft>
              <a:defRPr sz="900" b="0">
                <a:solidFill>
                  <a:srgbClr val="536773"/>
                </a:solidFill>
                <a:latin typeface="Aptos"/>
              </a:defRPr>
            </a:pPr>
            <a:r>
              <a:t>ZHAW · Data Engineering HS26 · Souto / Fawaz / Muslija</a:t>
            </a:r>
          </a:p>
        </p:txBody>
      </p:sp>
      <p:sp>
        <p:nvSpPr>
          <p:cNvPr id="7" name="TextBox 6"/>
          <p:cNvSpPr txBox="1"/>
          <p:nvPr/>
        </p:nvSpPr>
        <p:spPr>
          <a:xfrm>
            <a:off x="10991088" y="6473952"/>
            <a:ext cx="640080" cy="274320"/>
          </a:xfrm>
          <a:prstGeom prst="rect">
            <a:avLst/>
          </a:prstGeom>
          <a:noFill/>
        </p:spPr>
        <p:txBody>
          <a:bodyPr wrap="square" lIns="13716" tIns="13716" rIns="13716" bIns="13716">
            <a:spAutoFit/>
          </a:bodyPr>
          <a:lstStyle/>
          <a:p>
            <a:pPr>
              <a:spcAft>
                <a:spcPts val="700"/>
              </a:spcAft>
              <a:defRPr sz="1100" b="1">
                <a:solidFill>
                  <a:srgbClr val="087E83"/>
                </a:solidFill>
                <a:latin typeface="Aptos"/>
              </a:defRPr>
            </a:pPr>
            <a:r>
              <a:t>03</a:t>
            </a:r>
          </a:p>
        </p:txBody>
      </p:sp>
      <p:sp>
        <p:nvSpPr>
          <p:cNvPr id="8" name="Rounded Rectangle 7"/>
          <p:cNvSpPr/>
          <p:nvPr/>
        </p:nvSpPr>
        <p:spPr>
          <a:xfrm>
            <a:off x="548640" y="2240280"/>
            <a:ext cx="3520440" cy="321868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2240280"/>
            <a:ext cx="41148" cy="3218688"/>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58952" y="2423160"/>
            <a:ext cx="3127248" cy="457200"/>
          </a:xfrm>
          <a:prstGeom prst="rect">
            <a:avLst/>
          </a:prstGeom>
          <a:noFill/>
        </p:spPr>
        <p:txBody>
          <a:bodyPr wrap="square" lIns="13716" tIns="13716" rIns="13716" bIns="13716">
            <a:spAutoFit/>
          </a:bodyPr>
          <a:lstStyle/>
          <a:p>
            <a:pPr>
              <a:spcAft>
                <a:spcPts val="700"/>
              </a:spcAft>
              <a:defRPr sz="1900" b="1">
                <a:solidFill>
                  <a:srgbClr val="087E83"/>
                </a:solidFill>
                <a:latin typeface="Aptos"/>
              </a:defRPr>
            </a:pPr>
            <a:r>
              <a:t>Was ist enthalten?</a:t>
            </a:r>
          </a:p>
        </p:txBody>
      </p:sp>
      <p:sp>
        <p:nvSpPr>
          <p:cNvPr id="11" name="TextBox 10"/>
          <p:cNvSpPr txBox="1"/>
          <p:nvPr/>
        </p:nvSpPr>
        <p:spPr>
          <a:xfrm>
            <a:off x="758952" y="3044952"/>
            <a:ext cx="3127248" cy="2276856"/>
          </a:xfrm>
          <a:prstGeom prst="rect">
            <a:avLst/>
          </a:prstGeom>
          <a:noFill/>
        </p:spPr>
        <p:txBody>
          <a:bodyPr wrap="square" lIns="13716" tIns="13716" rIns="13716" bIns="13716">
            <a:spAutoFit/>
          </a:bodyPr>
          <a:lstStyle/>
          <a:p>
            <a:pPr>
              <a:spcAft>
                <a:spcPts val="700"/>
              </a:spcAft>
              <a:defRPr sz="1800" b="0">
                <a:solidFill>
                  <a:srgbClr val="102C3B"/>
                </a:solidFill>
                <a:latin typeface="Aptos"/>
              </a:defRPr>
            </a:pPr>
            <a:r>
              <a:t>2011–2025 · 36 Rohspalten</a:t>
            </a:r>
          </a:p>
          <a:p>
            <a:pPr>
              <a:spcAft>
                <a:spcPts val="700"/>
              </a:spcAft>
              <a:defRPr sz="1800" b="0">
                <a:solidFill>
                  <a:srgbClr val="102C3B"/>
                </a:solidFill>
                <a:latin typeface="Aptos"/>
              </a:defRPr>
            </a:pPr>
            <a:r>
              <a:t>Zeit, Schwere, Unfallart</a:t>
            </a:r>
          </a:p>
          <a:p>
            <a:pPr>
              <a:spcAft>
                <a:spcPts val="700"/>
              </a:spcAft>
              <a:defRPr sz="1800" b="0">
                <a:solidFill>
                  <a:srgbClr val="102C3B"/>
                </a:solidFill>
                <a:latin typeface="Aptos"/>
              </a:defRPr>
            </a:pPr>
            <a:r>
              <a:t>Beteiligung und Koordinaten</a:t>
            </a:r>
          </a:p>
          <a:p>
            <a:pPr>
              <a:spcAft>
                <a:spcPts val="700"/>
              </a:spcAft>
              <a:defRPr sz="1800" b="0">
                <a:solidFill>
                  <a:srgbClr val="102C3B"/>
                </a:solidFill>
                <a:latin typeface="Aptos"/>
              </a:defRPr>
            </a:pPr>
            <a:endParaRPr/>
          </a:p>
          <a:p>
            <a:pPr>
              <a:spcAft>
                <a:spcPts val="700"/>
              </a:spcAft>
              <a:defRPr sz="1800" b="0">
                <a:solidFill>
                  <a:srgbClr val="102C3B"/>
                </a:solidFill>
                <a:latin typeface="Aptos"/>
              </a:defRPr>
            </a:pPr>
            <a:r>
              <a:t>70’767 eindeutige Unfall-IDs</a:t>
            </a:r>
          </a:p>
        </p:txBody>
      </p:sp>
      <p:sp>
        <p:nvSpPr>
          <p:cNvPr id="12" name="Rounded Rectangle 11"/>
          <p:cNvSpPr/>
          <p:nvPr/>
        </p:nvSpPr>
        <p:spPr>
          <a:xfrm>
            <a:off x="4315968" y="2240280"/>
            <a:ext cx="3520440" cy="321868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15968" y="2240280"/>
            <a:ext cx="41148" cy="3218688"/>
          </a:xfrm>
          <a:prstGeom prst="rect">
            <a:avLst/>
          </a:prstGeom>
          <a:solidFill>
            <a:srgbClr val="C56A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26280" y="2423160"/>
            <a:ext cx="3127248" cy="457200"/>
          </a:xfrm>
          <a:prstGeom prst="rect">
            <a:avLst/>
          </a:prstGeom>
          <a:noFill/>
        </p:spPr>
        <p:txBody>
          <a:bodyPr wrap="square" lIns="13716" tIns="13716" rIns="13716" bIns="13716">
            <a:spAutoFit/>
          </a:bodyPr>
          <a:lstStyle/>
          <a:p>
            <a:pPr>
              <a:spcAft>
                <a:spcPts val="700"/>
              </a:spcAft>
              <a:defRPr sz="1900" b="1">
                <a:solidFill>
                  <a:srgbClr val="C56A35"/>
                </a:solidFill>
                <a:latin typeface="Aptos"/>
              </a:defRPr>
            </a:pPr>
            <a:r>
              <a:t>Bruch in der Erfassung</a:t>
            </a:r>
          </a:p>
        </p:txBody>
      </p:sp>
      <p:sp>
        <p:nvSpPr>
          <p:cNvPr id="15" name="TextBox 14"/>
          <p:cNvSpPr txBox="1"/>
          <p:nvPr/>
        </p:nvSpPr>
        <p:spPr>
          <a:xfrm>
            <a:off x="4526280" y="3044952"/>
            <a:ext cx="3127248" cy="2276856"/>
          </a:xfrm>
          <a:prstGeom prst="rect">
            <a:avLst/>
          </a:prstGeom>
          <a:noFill/>
        </p:spPr>
        <p:txBody>
          <a:bodyPr wrap="square" lIns="13716" tIns="13716" rIns="13716" bIns="13716">
            <a:spAutoFit/>
          </a:bodyPr>
          <a:lstStyle/>
          <a:p>
            <a:pPr>
              <a:spcAft>
                <a:spcPts val="700"/>
              </a:spcAft>
              <a:defRPr sz="1800" b="0">
                <a:solidFill>
                  <a:srgbClr val="102C3B"/>
                </a:solidFill>
                <a:latin typeface="Aptos"/>
              </a:defRPr>
            </a:pPr>
            <a:r>
              <a:t>Ab Juli 2015 werden auch</a:t>
            </a:r>
          </a:p>
          <a:p>
            <a:pPr>
              <a:spcAft>
                <a:spcPts val="700"/>
              </a:spcAft>
              <a:defRPr sz="1800" b="0">
                <a:solidFill>
                  <a:srgbClr val="102C3B"/>
                </a:solidFill>
                <a:latin typeface="Aptos"/>
              </a:defRPr>
            </a:pPr>
            <a:r>
              <a:t>Bagatellunfälle gemeldet.</a:t>
            </a:r>
          </a:p>
          <a:p>
            <a:pPr>
              <a:spcAft>
                <a:spcPts val="700"/>
              </a:spcAft>
              <a:defRPr sz="1800" b="0">
                <a:solidFill>
                  <a:srgbClr val="102C3B"/>
                </a:solidFill>
                <a:latin typeface="Aptos"/>
              </a:defRPr>
            </a:pPr>
            <a:endParaRPr/>
          </a:p>
          <a:p>
            <a:pPr>
              <a:spcAft>
                <a:spcPts val="700"/>
              </a:spcAft>
              <a:defRPr sz="1800" b="0">
                <a:solidFill>
                  <a:srgbClr val="102C3B"/>
                </a:solidFill>
                <a:latin typeface="Aptos"/>
              </a:defRPr>
            </a:pPr>
            <a:r>
              <a:t>Gesamtzahlen über diesen</a:t>
            </a:r>
          </a:p>
          <a:p>
            <a:pPr>
              <a:spcAft>
                <a:spcPts val="700"/>
              </a:spcAft>
              <a:defRPr sz="1800" b="0">
                <a:solidFill>
                  <a:srgbClr val="102C3B"/>
                </a:solidFill>
                <a:latin typeface="Aptos"/>
              </a:defRPr>
            </a:pPr>
            <a:r>
              <a:t>Bruch vorsichtig vergleichen.</a:t>
            </a:r>
          </a:p>
        </p:txBody>
      </p:sp>
      <p:sp>
        <p:nvSpPr>
          <p:cNvPr id="16" name="Rounded Rectangle 15"/>
          <p:cNvSpPr/>
          <p:nvPr/>
        </p:nvSpPr>
        <p:spPr>
          <a:xfrm>
            <a:off x="8083296" y="2240280"/>
            <a:ext cx="3520440" cy="321868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083296" y="2240280"/>
            <a:ext cx="41148" cy="3218688"/>
          </a:xfrm>
          <a:prstGeom prst="rect">
            <a:avLst/>
          </a:prstGeom>
          <a:solidFill>
            <a:srgbClr val="C56A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93608" y="2423160"/>
            <a:ext cx="3127248" cy="457200"/>
          </a:xfrm>
          <a:prstGeom prst="rect">
            <a:avLst/>
          </a:prstGeom>
          <a:noFill/>
        </p:spPr>
        <p:txBody>
          <a:bodyPr wrap="square" lIns="13716" tIns="13716" rIns="13716" bIns="13716">
            <a:spAutoFit/>
          </a:bodyPr>
          <a:lstStyle/>
          <a:p>
            <a:pPr>
              <a:spcAft>
                <a:spcPts val="700"/>
              </a:spcAft>
              <a:defRPr sz="1900" b="1">
                <a:solidFill>
                  <a:srgbClr val="C56A35"/>
                </a:solidFill>
                <a:latin typeface="Aptos"/>
              </a:defRPr>
            </a:pPr>
            <a:r>
              <a:t>Unklare Definition</a:t>
            </a:r>
          </a:p>
        </p:txBody>
      </p:sp>
      <p:sp>
        <p:nvSpPr>
          <p:cNvPr id="19" name="TextBox 18"/>
          <p:cNvSpPr txBox="1"/>
          <p:nvPr/>
        </p:nvSpPr>
        <p:spPr>
          <a:xfrm>
            <a:off x="8293608" y="3044952"/>
            <a:ext cx="3127248" cy="2276856"/>
          </a:xfrm>
          <a:prstGeom prst="rect">
            <a:avLst/>
          </a:prstGeom>
          <a:noFill/>
        </p:spPr>
        <p:txBody>
          <a:bodyPr wrap="square" lIns="13716" tIns="13716" rIns="13716" bIns="13716">
            <a:spAutoFit/>
          </a:bodyPr>
          <a:lstStyle/>
          <a:p>
            <a:pPr>
              <a:spcAft>
                <a:spcPts val="700"/>
              </a:spcAft>
              <a:defRPr sz="1800" b="0">
                <a:solidFill>
                  <a:srgbClr val="102C3B"/>
                </a:solidFill>
                <a:latin typeface="Aptos"/>
              </a:defRPr>
            </a:pPr>
            <a:r>
              <a:t>Beteiligung ist im Katalog auf</a:t>
            </a:r>
          </a:p>
          <a:p>
            <a:pPr>
              <a:spcAft>
                <a:spcPts val="700"/>
              </a:spcAft>
              <a:defRPr sz="1800" b="0">
                <a:solidFill>
                  <a:srgbClr val="102C3B"/>
                </a:solidFill>
                <a:latin typeface="Aptos"/>
              </a:defRPr>
            </a:pPr>
            <a:r>
              <a:t>Personenschäden bezogen;</a:t>
            </a:r>
          </a:p>
          <a:p>
            <a:pPr>
              <a:spcAft>
                <a:spcPts val="700"/>
              </a:spcAft>
              <a:defRPr sz="1800" b="0">
                <a:solidFill>
                  <a:srgbClr val="102C3B"/>
                </a:solidFill>
                <a:latin typeface="Aptos"/>
              </a:defRPr>
            </a:pPr>
            <a:r>
              <a:t>positive Werte auch bei</a:t>
            </a:r>
          </a:p>
          <a:p>
            <a:pPr>
              <a:spcAft>
                <a:spcPts val="700"/>
              </a:spcAft>
              <a:defRPr sz="1800" b="0">
                <a:solidFill>
                  <a:srgbClr val="102C3B"/>
                </a:solidFill>
                <a:latin typeface="Aptos"/>
              </a:defRPr>
            </a:pPr>
            <a:r>
              <a:t>Sachschäden vorhanden.</a:t>
            </a:r>
          </a:p>
          <a:p>
            <a:pPr>
              <a:spcAft>
                <a:spcPts val="700"/>
              </a:spcAft>
              <a:defRPr sz="1800" b="0">
                <a:solidFill>
                  <a:srgbClr val="102C3B"/>
                </a:solidFill>
                <a:latin typeface="Aptos"/>
              </a:defRPr>
            </a:pPr>
            <a:r>
              <a:t>→ F2 nur Personenschäden.</a:t>
            </a:r>
          </a:p>
        </p:txBody>
      </p:sp>
      <p:sp>
        <p:nvSpPr>
          <p:cNvPr id="20" name="Rounded Rectangle 19"/>
          <p:cNvSpPr/>
          <p:nvPr/>
        </p:nvSpPr>
        <p:spPr>
          <a:xfrm>
            <a:off x="548640" y="5806440"/>
            <a:ext cx="11064240" cy="484632"/>
          </a:xfrm>
          <a:prstGeom prst="roundRect">
            <a:avLst>
              <a:gd name="adj" fmla="val 8000"/>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40664" y="5888736"/>
            <a:ext cx="10652760" cy="329184"/>
          </a:xfrm>
          <a:prstGeom prst="rect">
            <a:avLst/>
          </a:prstGeom>
          <a:noFill/>
        </p:spPr>
        <p:txBody>
          <a:bodyPr wrap="square" lIns="13716" tIns="13716" rIns="13716" bIns="13716">
            <a:spAutoFit/>
          </a:bodyPr>
          <a:lstStyle/>
          <a:p>
            <a:pPr>
              <a:spcAft>
                <a:spcPts val="700"/>
              </a:spcAft>
              <a:defRPr sz="1700" b="1">
                <a:solidFill>
                  <a:srgbClr val="102C3B"/>
                </a:solidFill>
                <a:latin typeface="Aptos"/>
              </a:defRPr>
            </a:pPr>
            <a:r>
              <a:t>Keine Daten zum Verkehrsaufkommen → keine Unfallrisiken pro Fahrt oder Kilometer.</a:t>
            </a:r>
          </a:p>
        </p:txBody>
      </p:sp>
      <p:sp>
        <p:nvSpPr>
          <p:cNvPr id="22" name="TextBox 21"/>
          <p:cNvSpPr txBox="1"/>
          <p:nvPr/>
        </p:nvSpPr>
        <p:spPr>
          <a:xfrm>
            <a:off x="566928" y="6318504"/>
            <a:ext cx="10607040" cy="173736"/>
          </a:xfrm>
          <a:prstGeom prst="rect">
            <a:avLst/>
          </a:prstGeom>
          <a:noFill/>
        </p:spPr>
        <p:txBody>
          <a:bodyPr wrap="square" lIns="13716" tIns="13716" rIns="13716" bIns="13716">
            <a:spAutoFit/>
          </a:bodyPr>
          <a:lstStyle/>
          <a:p>
            <a:pPr>
              <a:spcAft>
                <a:spcPts val="700"/>
              </a:spcAft>
              <a:defRPr sz="800" b="0">
                <a:solidFill>
                  <a:srgbClr val="536773"/>
                </a:solidFill>
                <a:latin typeface="Aptos"/>
              </a:defRPr>
            </a:pPr>
            <a:r>
              <a:t>Daten: Open Data Zürich / Bundesamt für Strassen ASTRA · Snapshot 13.10.2026</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6F5"/>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0292"/>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01752"/>
            <a:ext cx="10789920" cy="292608"/>
          </a:xfrm>
          <a:prstGeom prst="rect">
            <a:avLst/>
          </a:prstGeom>
          <a:noFill/>
        </p:spPr>
        <p:txBody>
          <a:bodyPr wrap="square" lIns="13716" tIns="13716" rIns="13716" bIns="13716">
            <a:spAutoFit/>
          </a:bodyPr>
          <a:lstStyle/>
          <a:p>
            <a:pPr>
              <a:spcAft>
                <a:spcPts val="700"/>
              </a:spcAft>
              <a:defRPr sz="1050" b="1">
                <a:solidFill>
                  <a:srgbClr val="087E83"/>
                </a:solidFill>
                <a:latin typeface="Aptos"/>
              </a:defRPr>
            </a:pPr>
            <a:r>
              <a:t>03 · ENTWURF DES LEBENSZYKLUS</a:t>
            </a:r>
          </a:p>
        </p:txBody>
      </p:sp>
      <p:sp>
        <p:nvSpPr>
          <p:cNvPr id="4" name="TextBox 3"/>
          <p:cNvSpPr txBox="1"/>
          <p:nvPr/>
        </p:nvSpPr>
        <p:spPr>
          <a:xfrm>
            <a:off x="548640" y="795528"/>
            <a:ext cx="11064240" cy="621792"/>
          </a:xfrm>
          <a:prstGeom prst="rect">
            <a:avLst/>
          </a:prstGeom>
          <a:noFill/>
        </p:spPr>
        <p:txBody>
          <a:bodyPr wrap="square" lIns="13716" tIns="13716" rIns="13716" bIns="13716">
            <a:spAutoFit/>
          </a:bodyPr>
          <a:lstStyle/>
          <a:p>
            <a:pPr>
              <a:spcAft>
                <a:spcPts val="700"/>
              </a:spcAft>
              <a:defRPr sz="3100" b="1">
                <a:solidFill>
                  <a:srgbClr val="102C3B"/>
                </a:solidFill>
                <a:latin typeface="Aptos"/>
              </a:defRPr>
            </a:pPr>
            <a:r>
              <a:t>Eine lokale Batch-Pipeline mit klarer Herkunft</a:t>
            </a:r>
          </a:p>
        </p:txBody>
      </p:sp>
      <p:sp>
        <p:nvSpPr>
          <p:cNvPr id="5" name="TextBox 4"/>
          <p:cNvSpPr txBox="1"/>
          <p:nvPr/>
        </p:nvSpPr>
        <p:spPr>
          <a:xfrm>
            <a:off x="548640" y="1490472"/>
            <a:ext cx="11064240" cy="548640"/>
          </a:xfrm>
          <a:prstGeom prst="rect">
            <a:avLst/>
          </a:prstGeom>
          <a:noFill/>
        </p:spPr>
        <p:txBody>
          <a:bodyPr wrap="square" lIns="13716" tIns="13716" rIns="13716" bIns="13716">
            <a:spAutoFit/>
          </a:bodyPr>
          <a:lstStyle/>
          <a:p>
            <a:pPr>
              <a:spcAft>
                <a:spcPts val="700"/>
              </a:spcAft>
              <a:defRPr sz="1700" b="0">
                <a:solidFill>
                  <a:srgbClr val="536773"/>
                </a:solidFill>
                <a:latin typeface="Aptos"/>
              </a:defRPr>
            </a:pPr>
            <a:r>
              <a:t>Generation liegt ausserhalb unseres Projekts; die eigene Verarbeitung beginnt beim Bezug.</a:t>
            </a:r>
          </a:p>
        </p:txBody>
      </p:sp>
      <p:sp>
        <p:nvSpPr>
          <p:cNvPr id="6" name="TextBox 5"/>
          <p:cNvSpPr txBox="1"/>
          <p:nvPr/>
        </p:nvSpPr>
        <p:spPr>
          <a:xfrm>
            <a:off x="548640" y="6519672"/>
            <a:ext cx="9966960" cy="182880"/>
          </a:xfrm>
          <a:prstGeom prst="rect">
            <a:avLst/>
          </a:prstGeom>
          <a:noFill/>
        </p:spPr>
        <p:txBody>
          <a:bodyPr wrap="square" lIns="13716" tIns="13716" rIns="13716" bIns="13716">
            <a:spAutoFit/>
          </a:bodyPr>
          <a:lstStyle/>
          <a:p>
            <a:pPr>
              <a:spcAft>
                <a:spcPts val="700"/>
              </a:spcAft>
              <a:defRPr sz="900" b="0">
                <a:solidFill>
                  <a:srgbClr val="536773"/>
                </a:solidFill>
                <a:latin typeface="Aptos"/>
              </a:defRPr>
            </a:pPr>
            <a:r>
              <a:t>ZHAW · Data Engineering HS26 · Souto / Fawaz / Muslija</a:t>
            </a:r>
          </a:p>
        </p:txBody>
      </p:sp>
      <p:sp>
        <p:nvSpPr>
          <p:cNvPr id="7" name="TextBox 6"/>
          <p:cNvSpPr txBox="1"/>
          <p:nvPr/>
        </p:nvSpPr>
        <p:spPr>
          <a:xfrm>
            <a:off x="10991088" y="6473952"/>
            <a:ext cx="640080" cy="274320"/>
          </a:xfrm>
          <a:prstGeom prst="rect">
            <a:avLst/>
          </a:prstGeom>
          <a:noFill/>
        </p:spPr>
        <p:txBody>
          <a:bodyPr wrap="square" lIns="13716" tIns="13716" rIns="13716" bIns="13716">
            <a:spAutoFit/>
          </a:bodyPr>
          <a:lstStyle/>
          <a:p>
            <a:pPr>
              <a:spcAft>
                <a:spcPts val="700"/>
              </a:spcAft>
              <a:defRPr sz="1100" b="1">
                <a:solidFill>
                  <a:srgbClr val="087E83"/>
                </a:solidFill>
                <a:latin typeface="Aptos"/>
              </a:defRPr>
            </a:pPr>
            <a:r>
              <a:t>04</a:t>
            </a:r>
          </a:p>
        </p:txBody>
      </p:sp>
      <p:sp>
        <p:nvSpPr>
          <p:cNvPr id="8" name="Rounded Rectangle 7"/>
          <p:cNvSpPr/>
          <p:nvPr/>
        </p:nvSpPr>
        <p:spPr>
          <a:xfrm>
            <a:off x="548640" y="2423160"/>
            <a:ext cx="2066543" cy="2084831"/>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13232" y="2615184"/>
            <a:ext cx="1737360" cy="402336"/>
          </a:xfrm>
          <a:prstGeom prst="rect">
            <a:avLst/>
          </a:prstGeom>
          <a:noFill/>
        </p:spPr>
        <p:txBody>
          <a:bodyPr wrap="square" lIns="13716" tIns="13716" rIns="13716" bIns="13716">
            <a:spAutoFit/>
          </a:bodyPr>
          <a:lstStyle/>
          <a:p>
            <a:pPr>
              <a:spcAft>
                <a:spcPts val="700"/>
              </a:spcAft>
              <a:defRPr sz="2400" b="1">
                <a:solidFill>
                  <a:srgbClr val="087E83"/>
                </a:solidFill>
                <a:latin typeface="Aptos"/>
              </a:defRPr>
            </a:pPr>
            <a:r>
              <a:t>01</a:t>
            </a:r>
          </a:p>
        </p:txBody>
      </p:sp>
      <p:sp>
        <p:nvSpPr>
          <p:cNvPr id="10" name="TextBox 9"/>
          <p:cNvSpPr txBox="1"/>
          <p:nvPr/>
        </p:nvSpPr>
        <p:spPr>
          <a:xfrm>
            <a:off x="713232" y="3163824"/>
            <a:ext cx="1783080" cy="384048"/>
          </a:xfrm>
          <a:prstGeom prst="rect">
            <a:avLst/>
          </a:prstGeom>
          <a:noFill/>
        </p:spPr>
        <p:txBody>
          <a:bodyPr wrap="square" lIns="13716" tIns="13716" rIns="13716" bIns="13716">
            <a:spAutoFit/>
          </a:bodyPr>
          <a:lstStyle/>
          <a:p>
            <a:pPr>
              <a:spcAft>
                <a:spcPts val="700"/>
              </a:spcAft>
              <a:defRPr sz="1800" b="1">
                <a:solidFill>
                  <a:srgbClr val="102C3B"/>
                </a:solidFill>
                <a:latin typeface="Aptos"/>
              </a:defRPr>
            </a:pPr>
            <a:r>
              <a:t>Generation</a:t>
            </a:r>
          </a:p>
        </p:txBody>
      </p:sp>
      <p:sp>
        <p:nvSpPr>
          <p:cNvPr id="11" name="TextBox 10"/>
          <p:cNvSpPr txBox="1"/>
          <p:nvPr/>
        </p:nvSpPr>
        <p:spPr>
          <a:xfrm>
            <a:off x="713232" y="3685032"/>
            <a:ext cx="1783080" cy="685800"/>
          </a:xfrm>
          <a:prstGeom prst="rect">
            <a:avLst/>
          </a:prstGeom>
          <a:noFill/>
        </p:spPr>
        <p:txBody>
          <a:bodyPr wrap="square" lIns="13716" tIns="13716" rIns="13716" bIns="13716">
            <a:spAutoFit/>
          </a:bodyPr>
          <a:lstStyle/>
          <a:p>
            <a:pPr>
              <a:spcAft>
                <a:spcPts val="700"/>
              </a:spcAft>
              <a:defRPr sz="1400" b="0">
                <a:solidFill>
                  <a:srgbClr val="536773"/>
                </a:solidFill>
                <a:latin typeface="Aptos"/>
              </a:defRPr>
            </a:pPr>
            <a:r>
              <a:t>Polizei / ASTRA</a:t>
            </a:r>
          </a:p>
          <a:p>
            <a:pPr>
              <a:spcAft>
                <a:spcPts val="700"/>
              </a:spcAft>
              <a:defRPr sz="1400" b="0">
                <a:solidFill>
                  <a:srgbClr val="536773"/>
                </a:solidFill>
                <a:latin typeface="Aptos"/>
              </a:defRPr>
            </a:pPr>
            <a:r>
              <a:t>Erfassung</a:t>
            </a:r>
          </a:p>
        </p:txBody>
      </p:sp>
      <p:sp>
        <p:nvSpPr>
          <p:cNvPr id="12" name="TextBox 11"/>
          <p:cNvSpPr txBox="1"/>
          <p:nvPr/>
        </p:nvSpPr>
        <p:spPr>
          <a:xfrm>
            <a:off x="2615184" y="3154680"/>
            <a:ext cx="192024" cy="365760"/>
          </a:xfrm>
          <a:prstGeom prst="rect">
            <a:avLst/>
          </a:prstGeom>
          <a:noFill/>
        </p:spPr>
        <p:txBody>
          <a:bodyPr wrap="square" lIns="13716" tIns="13716" rIns="13716" bIns="13716">
            <a:spAutoFit/>
          </a:bodyPr>
          <a:lstStyle/>
          <a:p>
            <a:pPr>
              <a:spcAft>
                <a:spcPts val="700"/>
              </a:spcAft>
              <a:defRPr sz="2100" b="1">
                <a:solidFill>
                  <a:srgbClr val="087E83"/>
                </a:solidFill>
                <a:latin typeface="Aptos"/>
              </a:defRPr>
            </a:pPr>
            <a:r>
              <a:t>›</a:t>
            </a:r>
          </a:p>
        </p:txBody>
      </p:sp>
      <p:sp>
        <p:nvSpPr>
          <p:cNvPr id="13" name="Rounded Rectangle 12"/>
          <p:cNvSpPr/>
          <p:nvPr/>
        </p:nvSpPr>
        <p:spPr>
          <a:xfrm>
            <a:off x="2798064" y="2423160"/>
            <a:ext cx="2066543" cy="2084831"/>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962656" y="2615184"/>
            <a:ext cx="1737360" cy="402336"/>
          </a:xfrm>
          <a:prstGeom prst="rect">
            <a:avLst/>
          </a:prstGeom>
          <a:noFill/>
        </p:spPr>
        <p:txBody>
          <a:bodyPr wrap="square" lIns="13716" tIns="13716" rIns="13716" bIns="13716">
            <a:spAutoFit/>
          </a:bodyPr>
          <a:lstStyle/>
          <a:p>
            <a:pPr>
              <a:spcAft>
                <a:spcPts val="700"/>
              </a:spcAft>
              <a:defRPr sz="2400" b="1">
                <a:solidFill>
                  <a:srgbClr val="087E83"/>
                </a:solidFill>
                <a:latin typeface="Aptos"/>
              </a:defRPr>
            </a:pPr>
            <a:r>
              <a:t>02</a:t>
            </a:r>
          </a:p>
        </p:txBody>
      </p:sp>
      <p:sp>
        <p:nvSpPr>
          <p:cNvPr id="15" name="TextBox 14"/>
          <p:cNvSpPr txBox="1"/>
          <p:nvPr/>
        </p:nvSpPr>
        <p:spPr>
          <a:xfrm>
            <a:off x="2962656" y="3163824"/>
            <a:ext cx="1783080" cy="384048"/>
          </a:xfrm>
          <a:prstGeom prst="rect">
            <a:avLst/>
          </a:prstGeom>
          <a:noFill/>
        </p:spPr>
        <p:txBody>
          <a:bodyPr wrap="square" lIns="13716" tIns="13716" rIns="13716" bIns="13716">
            <a:spAutoFit/>
          </a:bodyPr>
          <a:lstStyle/>
          <a:p>
            <a:pPr>
              <a:spcAft>
                <a:spcPts val="700"/>
              </a:spcAft>
              <a:defRPr sz="1800" b="1">
                <a:solidFill>
                  <a:srgbClr val="102C3B"/>
                </a:solidFill>
                <a:latin typeface="Aptos"/>
              </a:defRPr>
            </a:pPr>
            <a:r>
              <a:t>Ingestion</a:t>
            </a:r>
          </a:p>
        </p:txBody>
      </p:sp>
      <p:sp>
        <p:nvSpPr>
          <p:cNvPr id="16" name="TextBox 15"/>
          <p:cNvSpPr txBox="1"/>
          <p:nvPr/>
        </p:nvSpPr>
        <p:spPr>
          <a:xfrm>
            <a:off x="2962656" y="3685032"/>
            <a:ext cx="1783080" cy="685800"/>
          </a:xfrm>
          <a:prstGeom prst="rect">
            <a:avLst/>
          </a:prstGeom>
          <a:noFill/>
        </p:spPr>
        <p:txBody>
          <a:bodyPr wrap="square" lIns="13716" tIns="13716" rIns="13716" bIns="13716">
            <a:spAutoFit/>
          </a:bodyPr>
          <a:lstStyle/>
          <a:p>
            <a:pPr>
              <a:spcAft>
                <a:spcPts val="700"/>
              </a:spcAft>
              <a:defRPr sz="1400" b="0">
                <a:solidFill>
                  <a:srgbClr val="536773"/>
                </a:solidFill>
                <a:latin typeface="Aptos"/>
              </a:defRPr>
            </a:pPr>
            <a:r>
              <a:t>CSV + Metadaten</a:t>
            </a:r>
          </a:p>
          <a:p>
            <a:pPr>
              <a:spcAft>
                <a:spcPts val="700"/>
              </a:spcAft>
              <a:defRPr sz="1400" b="0">
                <a:solidFill>
                  <a:srgbClr val="536773"/>
                </a:solidFill>
                <a:latin typeface="Aptos"/>
              </a:defRPr>
            </a:pPr>
            <a:r>
              <a:t>Snapshot + Hash</a:t>
            </a:r>
          </a:p>
        </p:txBody>
      </p:sp>
      <p:sp>
        <p:nvSpPr>
          <p:cNvPr id="17" name="TextBox 16"/>
          <p:cNvSpPr txBox="1"/>
          <p:nvPr/>
        </p:nvSpPr>
        <p:spPr>
          <a:xfrm>
            <a:off x="4864608" y="3154680"/>
            <a:ext cx="192024" cy="365760"/>
          </a:xfrm>
          <a:prstGeom prst="rect">
            <a:avLst/>
          </a:prstGeom>
          <a:noFill/>
        </p:spPr>
        <p:txBody>
          <a:bodyPr wrap="square" lIns="13716" tIns="13716" rIns="13716" bIns="13716">
            <a:spAutoFit/>
          </a:bodyPr>
          <a:lstStyle/>
          <a:p>
            <a:pPr>
              <a:spcAft>
                <a:spcPts val="700"/>
              </a:spcAft>
              <a:defRPr sz="2100" b="1">
                <a:solidFill>
                  <a:srgbClr val="087E83"/>
                </a:solidFill>
                <a:latin typeface="Aptos"/>
              </a:defRPr>
            </a:pPr>
            <a:r>
              <a:t>›</a:t>
            </a:r>
          </a:p>
        </p:txBody>
      </p:sp>
      <p:sp>
        <p:nvSpPr>
          <p:cNvPr id="18" name="Rounded Rectangle 17"/>
          <p:cNvSpPr/>
          <p:nvPr/>
        </p:nvSpPr>
        <p:spPr>
          <a:xfrm>
            <a:off x="5047488" y="2423160"/>
            <a:ext cx="2066543" cy="2084831"/>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212079" y="2615184"/>
            <a:ext cx="1737360" cy="402336"/>
          </a:xfrm>
          <a:prstGeom prst="rect">
            <a:avLst/>
          </a:prstGeom>
          <a:noFill/>
        </p:spPr>
        <p:txBody>
          <a:bodyPr wrap="square" lIns="13716" tIns="13716" rIns="13716" bIns="13716">
            <a:spAutoFit/>
          </a:bodyPr>
          <a:lstStyle/>
          <a:p>
            <a:pPr>
              <a:spcAft>
                <a:spcPts val="700"/>
              </a:spcAft>
              <a:defRPr sz="2400" b="1">
                <a:solidFill>
                  <a:srgbClr val="087E83"/>
                </a:solidFill>
                <a:latin typeface="Aptos"/>
              </a:defRPr>
            </a:pPr>
            <a:r>
              <a:t>03</a:t>
            </a:r>
          </a:p>
        </p:txBody>
      </p:sp>
      <p:sp>
        <p:nvSpPr>
          <p:cNvPr id="20" name="TextBox 19"/>
          <p:cNvSpPr txBox="1"/>
          <p:nvPr/>
        </p:nvSpPr>
        <p:spPr>
          <a:xfrm>
            <a:off x="5212079" y="3163824"/>
            <a:ext cx="1783080" cy="384048"/>
          </a:xfrm>
          <a:prstGeom prst="rect">
            <a:avLst/>
          </a:prstGeom>
          <a:noFill/>
        </p:spPr>
        <p:txBody>
          <a:bodyPr wrap="square" lIns="13716" tIns="13716" rIns="13716" bIns="13716">
            <a:spAutoFit/>
          </a:bodyPr>
          <a:lstStyle/>
          <a:p>
            <a:pPr>
              <a:spcAft>
                <a:spcPts val="700"/>
              </a:spcAft>
              <a:defRPr sz="1800" b="1">
                <a:solidFill>
                  <a:srgbClr val="102C3B"/>
                </a:solidFill>
                <a:latin typeface="Aptos"/>
              </a:defRPr>
            </a:pPr>
            <a:r>
              <a:t>Storage</a:t>
            </a:r>
          </a:p>
        </p:txBody>
      </p:sp>
      <p:sp>
        <p:nvSpPr>
          <p:cNvPr id="21" name="TextBox 20"/>
          <p:cNvSpPr txBox="1"/>
          <p:nvPr/>
        </p:nvSpPr>
        <p:spPr>
          <a:xfrm>
            <a:off x="5212079" y="3685032"/>
            <a:ext cx="1783080" cy="685800"/>
          </a:xfrm>
          <a:prstGeom prst="rect">
            <a:avLst/>
          </a:prstGeom>
          <a:noFill/>
        </p:spPr>
        <p:txBody>
          <a:bodyPr wrap="square" lIns="13716" tIns="13716" rIns="13716" bIns="13716">
            <a:spAutoFit/>
          </a:bodyPr>
          <a:lstStyle/>
          <a:p>
            <a:pPr>
              <a:spcAft>
                <a:spcPts val="700"/>
              </a:spcAft>
              <a:defRPr sz="1400" b="0">
                <a:solidFill>
                  <a:srgbClr val="536773"/>
                </a:solidFill>
                <a:latin typeface="Aptos"/>
              </a:defRPr>
            </a:pPr>
            <a:r>
              <a:t>Raw-Dateien erhalten</a:t>
            </a:r>
          </a:p>
          <a:p>
            <a:pPr>
              <a:spcAft>
                <a:spcPts val="700"/>
              </a:spcAft>
              <a:defRPr sz="1400" b="0">
                <a:solidFill>
                  <a:srgbClr val="536773"/>
                </a:solidFill>
                <a:latin typeface="Aptos"/>
              </a:defRPr>
            </a:pPr>
            <a:r>
              <a:t>CSV und SQLite</a:t>
            </a:r>
          </a:p>
        </p:txBody>
      </p:sp>
      <p:sp>
        <p:nvSpPr>
          <p:cNvPr id="22" name="TextBox 21"/>
          <p:cNvSpPr txBox="1"/>
          <p:nvPr/>
        </p:nvSpPr>
        <p:spPr>
          <a:xfrm>
            <a:off x="7114031" y="3154680"/>
            <a:ext cx="192024" cy="365760"/>
          </a:xfrm>
          <a:prstGeom prst="rect">
            <a:avLst/>
          </a:prstGeom>
          <a:noFill/>
        </p:spPr>
        <p:txBody>
          <a:bodyPr wrap="square" lIns="13716" tIns="13716" rIns="13716" bIns="13716">
            <a:spAutoFit/>
          </a:bodyPr>
          <a:lstStyle/>
          <a:p>
            <a:pPr>
              <a:spcAft>
                <a:spcPts val="700"/>
              </a:spcAft>
              <a:defRPr sz="2100" b="1">
                <a:solidFill>
                  <a:srgbClr val="087E83"/>
                </a:solidFill>
                <a:latin typeface="Aptos"/>
              </a:defRPr>
            </a:pPr>
            <a:r>
              <a:t>›</a:t>
            </a:r>
          </a:p>
        </p:txBody>
      </p:sp>
      <p:sp>
        <p:nvSpPr>
          <p:cNvPr id="23" name="Rounded Rectangle 22"/>
          <p:cNvSpPr/>
          <p:nvPr/>
        </p:nvSpPr>
        <p:spPr>
          <a:xfrm>
            <a:off x="7296912" y="2423160"/>
            <a:ext cx="2066543" cy="2084831"/>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461504" y="2615184"/>
            <a:ext cx="1737360" cy="402336"/>
          </a:xfrm>
          <a:prstGeom prst="rect">
            <a:avLst/>
          </a:prstGeom>
          <a:noFill/>
        </p:spPr>
        <p:txBody>
          <a:bodyPr wrap="square" lIns="13716" tIns="13716" rIns="13716" bIns="13716">
            <a:spAutoFit/>
          </a:bodyPr>
          <a:lstStyle/>
          <a:p>
            <a:pPr>
              <a:spcAft>
                <a:spcPts val="700"/>
              </a:spcAft>
              <a:defRPr sz="2400" b="1">
                <a:solidFill>
                  <a:srgbClr val="087E83"/>
                </a:solidFill>
                <a:latin typeface="Aptos"/>
              </a:defRPr>
            </a:pPr>
            <a:r>
              <a:t>04</a:t>
            </a:r>
          </a:p>
        </p:txBody>
      </p:sp>
      <p:sp>
        <p:nvSpPr>
          <p:cNvPr id="25" name="TextBox 24"/>
          <p:cNvSpPr txBox="1"/>
          <p:nvPr/>
        </p:nvSpPr>
        <p:spPr>
          <a:xfrm>
            <a:off x="7461504" y="3163824"/>
            <a:ext cx="1783080" cy="384048"/>
          </a:xfrm>
          <a:prstGeom prst="rect">
            <a:avLst/>
          </a:prstGeom>
          <a:noFill/>
        </p:spPr>
        <p:txBody>
          <a:bodyPr wrap="square" lIns="13716" tIns="13716" rIns="13716" bIns="13716">
            <a:spAutoFit/>
          </a:bodyPr>
          <a:lstStyle/>
          <a:p>
            <a:pPr>
              <a:spcAft>
                <a:spcPts val="700"/>
              </a:spcAft>
              <a:defRPr sz="1800" b="1">
                <a:solidFill>
                  <a:srgbClr val="102C3B"/>
                </a:solidFill>
                <a:latin typeface="Aptos"/>
              </a:defRPr>
            </a:pPr>
            <a:r>
              <a:t>Transformation</a:t>
            </a:r>
          </a:p>
        </p:txBody>
      </p:sp>
      <p:sp>
        <p:nvSpPr>
          <p:cNvPr id="26" name="TextBox 25"/>
          <p:cNvSpPr txBox="1"/>
          <p:nvPr/>
        </p:nvSpPr>
        <p:spPr>
          <a:xfrm>
            <a:off x="7461504" y="3685032"/>
            <a:ext cx="1783080" cy="685800"/>
          </a:xfrm>
          <a:prstGeom prst="rect">
            <a:avLst/>
          </a:prstGeom>
          <a:noFill/>
        </p:spPr>
        <p:txBody>
          <a:bodyPr wrap="square" lIns="13716" tIns="13716" rIns="13716" bIns="13716">
            <a:spAutoFit/>
          </a:bodyPr>
          <a:lstStyle/>
          <a:p>
            <a:pPr>
              <a:spcAft>
                <a:spcPts val="700"/>
              </a:spcAft>
              <a:defRPr sz="1400" b="0">
                <a:solidFill>
                  <a:srgbClr val="536773"/>
                </a:solidFill>
                <a:latin typeface="Aptos"/>
              </a:defRPr>
            </a:pPr>
            <a:r>
              <a:t>Profil, Typen, Features</a:t>
            </a:r>
          </a:p>
          <a:p>
            <a:pPr>
              <a:spcAft>
                <a:spcPts val="700"/>
              </a:spcAft>
              <a:defRPr sz="1400" b="0">
                <a:solidFill>
                  <a:srgbClr val="536773"/>
                </a:solidFill>
                <a:latin typeface="Aptos"/>
              </a:defRPr>
            </a:pPr>
            <a:r>
              <a:t>Qualitätsbericht</a:t>
            </a:r>
          </a:p>
        </p:txBody>
      </p:sp>
      <p:sp>
        <p:nvSpPr>
          <p:cNvPr id="27" name="TextBox 26"/>
          <p:cNvSpPr txBox="1"/>
          <p:nvPr/>
        </p:nvSpPr>
        <p:spPr>
          <a:xfrm>
            <a:off x="9363455" y="3154680"/>
            <a:ext cx="192024" cy="365760"/>
          </a:xfrm>
          <a:prstGeom prst="rect">
            <a:avLst/>
          </a:prstGeom>
          <a:noFill/>
        </p:spPr>
        <p:txBody>
          <a:bodyPr wrap="square" lIns="13716" tIns="13716" rIns="13716" bIns="13716">
            <a:spAutoFit/>
          </a:bodyPr>
          <a:lstStyle/>
          <a:p>
            <a:pPr>
              <a:spcAft>
                <a:spcPts val="700"/>
              </a:spcAft>
              <a:defRPr sz="2100" b="1">
                <a:solidFill>
                  <a:srgbClr val="087E83"/>
                </a:solidFill>
                <a:latin typeface="Aptos"/>
              </a:defRPr>
            </a:pPr>
            <a:r>
              <a:t>›</a:t>
            </a:r>
          </a:p>
        </p:txBody>
      </p:sp>
      <p:sp>
        <p:nvSpPr>
          <p:cNvPr id="28" name="Rounded Rectangle 27"/>
          <p:cNvSpPr/>
          <p:nvPr/>
        </p:nvSpPr>
        <p:spPr>
          <a:xfrm>
            <a:off x="9546336" y="2423160"/>
            <a:ext cx="2066543" cy="2084831"/>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710928" y="2615184"/>
            <a:ext cx="1737360" cy="402336"/>
          </a:xfrm>
          <a:prstGeom prst="rect">
            <a:avLst/>
          </a:prstGeom>
          <a:noFill/>
        </p:spPr>
        <p:txBody>
          <a:bodyPr wrap="square" lIns="13716" tIns="13716" rIns="13716" bIns="13716">
            <a:spAutoFit/>
          </a:bodyPr>
          <a:lstStyle/>
          <a:p>
            <a:pPr>
              <a:spcAft>
                <a:spcPts val="700"/>
              </a:spcAft>
              <a:defRPr sz="2400" b="1">
                <a:solidFill>
                  <a:srgbClr val="087E83"/>
                </a:solidFill>
                <a:latin typeface="Aptos"/>
              </a:defRPr>
            </a:pPr>
            <a:r>
              <a:t>05</a:t>
            </a:r>
          </a:p>
        </p:txBody>
      </p:sp>
      <p:sp>
        <p:nvSpPr>
          <p:cNvPr id="30" name="TextBox 29"/>
          <p:cNvSpPr txBox="1"/>
          <p:nvPr/>
        </p:nvSpPr>
        <p:spPr>
          <a:xfrm>
            <a:off x="9710928" y="3163824"/>
            <a:ext cx="1783080" cy="384048"/>
          </a:xfrm>
          <a:prstGeom prst="rect">
            <a:avLst/>
          </a:prstGeom>
          <a:noFill/>
        </p:spPr>
        <p:txBody>
          <a:bodyPr wrap="square" lIns="13716" tIns="13716" rIns="13716" bIns="13716">
            <a:spAutoFit/>
          </a:bodyPr>
          <a:lstStyle/>
          <a:p>
            <a:pPr>
              <a:spcAft>
                <a:spcPts val="700"/>
              </a:spcAft>
              <a:defRPr sz="1800" b="1">
                <a:solidFill>
                  <a:srgbClr val="102C3B"/>
                </a:solidFill>
                <a:latin typeface="Aptos"/>
              </a:defRPr>
            </a:pPr>
            <a:r>
              <a:t>Serving</a:t>
            </a:r>
          </a:p>
        </p:txBody>
      </p:sp>
      <p:sp>
        <p:nvSpPr>
          <p:cNvPr id="31" name="TextBox 30"/>
          <p:cNvSpPr txBox="1"/>
          <p:nvPr/>
        </p:nvSpPr>
        <p:spPr>
          <a:xfrm>
            <a:off x="9710928" y="3685032"/>
            <a:ext cx="1783080" cy="685800"/>
          </a:xfrm>
          <a:prstGeom prst="rect">
            <a:avLst/>
          </a:prstGeom>
          <a:noFill/>
        </p:spPr>
        <p:txBody>
          <a:bodyPr wrap="square" lIns="13716" tIns="13716" rIns="13716" bIns="13716">
            <a:spAutoFit/>
          </a:bodyPr>
          <a:lstStyle/>
          <a:p>
            <a:pPr>
              <a:spcAft>
                <a:spcPts val="700"/>
              </a:spcAft>
              <a:defRPr sz="1400" b="0">
                <a:solidFill>
                  <a:srgbClr val="536773"/>
                </a:solidFill>
                <a:latin typeface="Aptos"/>
              </a:defRPr>
            </a:pPr>
            <a:r>
              <a:t>SQL / Notebooks</a:t>
            </a:r>
          </a:p>
          <a:p>
            <a:pPr>
              <a:spcAft>
                <a:spcPts val="700"/>
              </a:spcAft>
              <a:defRPr sz="1400" b="0">
                <a:solidFill>
                  <a:srgbClr val="536773"/>
                </a:solidFill>
                <a:latin typeface="Aptos"/>
              </a:defRPr>
            </a:pPr>
            <a:r>
              <a:t>Diagramme und Folien</a:t>
            </a:r>
          </a:p>
        </p:txBody>
      </p:sp>
      <p:sp>
        <p:nvSpPr>
          <p:cNvPr id="32" name="Rounded Rectangle 31"/>
          <p:cNvSpPr/>
          <p:nvPr/>
        </p:nvSpPr>
        <p:spPr>
          <a:xfrm>
            <a:off x="548640" y="4809744"/>
            <a:ext cx="11064240" cy="740664"/>
          </a:xfrm>
          <a:prstGeom prst="roundRect">
            <a:avLst>
              <a:gd name="adj" fmla="val 8000"/>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49808" y="4965192"/>
            <a:ext cx="10698480" cy="475488"/>
          </a:xfrm>
          <a:prstGeom prst="rect">
            <a:avLst/>
          </a:prstGeom>
          <a:noFill/>
        </p:spPr>
        <p:txBody>
          <a:bodyPr wrap="square" lIns="13716" tIns="13716" rIns="13716" bIns="13716">
            <a:spAutoFit/>
          </a:bodyPr>
          <a:lstStyle/>
          <a:p>
            <a:pPr>
              <a:spcAft>
                <a:spcPts val="700"/>
              </a:spcAft>
              <a:defRPr sz="1700" b="0">
                <a:solidFill>
                  <a:srgbClr val="102C3B"/>
                </a:solidFill>
                <a:latin typeface="Aptos"/>
              </a:defRPr>
            </a:pPr>
            <a:r>
              <a:t>Unterströmungen: Sicherheit · Governance · DataOps · Orchestrierung · Software Engineering</a:t>
            </a:r>
          </a:p>
        </p:txBody>
      </p:sp>
      <p:sp>
        <p:nvSpPr>
          <p:cNvPr id="34" name="Rounded Rectangle 33"/>
          <p:cNvSpPr/>
          <p:nvPr/>
        </p:nvSpPr>
        <p:spPr>
          <a:xfrm>
            <a:off x="548640" y="5806440"/>
            <a:ext cx="11064240" cy="484632"/>
          </a:xfrm>
          <a:prstGeom prst="roundRect">
            <a:avLst>
              <a:gd name="adj" fmla="val 8000"/>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40664" y="5888736"/>
            <a:ext cx="10652760" cy="329184"/>
          </a:xfrm>
          <a:prstGeom prst="rect">
            <a:avLst/>
          </a:prstGeom>
          <a:noFill/>
        </p:spPr>
        <p:txBody>
          <a:bodyPr wrap="square" lIns="13716" tIns="13716" rIns="13716" bIns="13716">
            <a:spAutoFit/>
          </a:bodyPr>
          <a:lstStyle/>
          <a:p>
            <a:pPr>
              <a:spcAft>
                <a:spcPts val="700"/>
              </a:spcAft>
              <a:defRPr sz="1700" b="1">
                <a:solidFill>
                  <a:srgbClr val="102C3B"/>
                </a:solidFill>
                <a:latin typeface="Aptos"/>
              </a:defRPr>
            </a:pPr>
            <a:r>
              <a:t>Storage begleitet mehrere Phasen; die Reihenfolge ist kein starres Wasserfallmodell.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6F5"/>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0292"/>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01752"/>
            <a:ext cx="10789920" cy="292608"/>
          </a:xfrm>
          <a:prstGeom prst="rect">
            <a:avLst/>
          </a:prstGeom>
          <a:noFill/>
        </p:spPr>
        <p:txBody>
          <a:bodyPr wrap="square" lIns="13716" tIns="13716" rIns="13716" bIns="13716">
            <a:spAutoFit/>
          </a:bodyPr>
          <a:lstStyle/>
          <a:p>
            <a:pPr>
              <a:spcAft>
                <a:spcPts val="700"/>
              </a:spcAft>
              <a:defRPr sz="1050" b="1">
                <a:solidFill>
                  <a:srgbClr val="087E83"/>
                </a:solidFill>
                <a:latin typeface="Aptos"/>
              </a:defRPr>
            </a:pPr>
            <a:r>
              <a:t>04 · INGESTION</a:t>
            </a:r>
          </a:p>
        </p:txBody>
      </p:sp>
      <p:sp>
        <p:nvSpPr>
          <p:cNvPr id="4" name="TextBox 3"/>
          <p:cNvSpPr txBox="1"/>
          <p:nvPr/>
        </p:nvSpPr>
        <p:spPr>
          <a:xfrm>
            <a:off x="548640" y="795528"/>
            <a:ext cx="11064240" cy="621792"/>
          </a:xfrm>
          <a:prstGeom prst="rect">
            <a:avLst/>
          </a:prstGeom>
          <a:noFill/>
        </p:spPr>
        <p:txBody>
          <a:bodyPr wrap="square" lIns="13716" tIns="13716" rIns="13716" bIns="13716">
            <a:spAutoFit/>
          </a:bodyPr>
          <a:lstStyle/>
          <a:p>
            <a:pPr>
              <a:spcAft>
                <a:spcPts val="700"/>
              </a:spcAft>
              <a:defRPr sz="3100" b="1">
                <a:solidFill>
                  <a:srgbClr val="102C3B"/>
                </a:solidFill>
                <a:latin typeface="Aptos"/>
              </a:defRPr>
            </a:pPr>
            <a:r>
              <a:t>Ein Snapshot schützt vor unbemerkten Datenwechseln</a:t>
            </a:r>
          </a:p>
        </p:txBody>
      </p:sp>
      <p:sp>
        <p:nvSpPr>
          <p:cNvPr id="5" name="TextBox 4"/>
          <p:cNvSpPr txBox="1"/>
          <p:nvPr/>
        </p:nvSpPr>
        <p:spPr>
          <a:xfrm>
            <a:off x="548640" y="1490472"/>
            <a:ext cx="11064240" cy="548640"/>
          </a:xfrm>
          <a:prstGeom prst="rect">
            <a:avLst/>
          </a:prstGeom>
          <a:noFill/>
        </p:spPr>
        <p:txBody>
          <a:bodyPr wrap="square" lIns="13716" tIns="13716" rIns="13716" bIns="13716">
            <a:spAutoFit/>
          </a:bodyPr>
          <a:lstStyle/>
          <a:p>
            <a:pPr>
              <a:spcAft>
                <a:spcPts val="700"/>
              </a:spcAft>
              <a:defRPr sz="1700" b="0">
                <a:solidFill>
                  <a:srgbClr val="536773"/>
                </a:solidFill>
                <a:latin typeface="Aptos"/>
              </a:defRPr>
            </a:pPr>
            <a:r>
              <a:t>Standardlauf offline · Ein neuer Download ist eine bewusste Entscheidung.</a:t>
            </a:r>
          </a:p>
        </p:txBody>
      </p:sp>
      <p:sp>
        <p:nvSpPr>
          <p:cNvPr id="6" name="TextBox 5"/>
          <p:cNvSpPr txBox="1"/>
          <p:nvPr/>
        </p:nvSpPr>
        <p:spPr>
          <a:xfrm>
            <a:off x="548640" y="6519672"/>
            <a:ext cx="9966960" cy="182880"/>
          </a:xfrm>
          <a:prstGeom prst="rect">
            <a:avLst/>
          </a:prstGeom>
          <a:noFill/>
        </p:spPr>
        <p:txBody>
          <a:bodyPr wrap="square" lIns="13716" tIns="13716" rIns="13716" bIns="13716">
            <a:spAutoFit/>
          </a:bodyPr>
          <a:lstStyle/>
          <a:p>
            <a:pPr>
              <a:spcAft>
                <a:spcPts val="700"/>
              </a:spcAft>
              <a:defRPr sz="900" b="0">
                <a:solidFill>
                  <a:srgbClr val="536773"/>
                </a:solidFill>
                <a:latin typeface="Aptos"/>
              </a:defRPr>
            </a:pPr>
            <a:r>
              <a:t>ZHAW · Data Engineering HS26 · Souto / Fawaz / Muslija</a:t>
            </a:r>
          </a:p>
        </p:txBody>
      </p:sp>
      <p:sp>
        <p:nvSpPr>
          <p:cNvPr id="7" name="TextBox 6"/>
          <p:cNvSpPr txBox="1"/>
          <p:nvPr/>
        </p:nvSpPr>
        <p:spPr>
          <a:xfrm>
            <a:off x="10991088" y="6473952"/>
            <a:ext cx="640080" cy="274320"/>
          </a:xfrm>
          <a:prstGeom prst="rect">
            <a:avLst/>
          </a:prstGeom>
          <a:noFill/>
        </p:spPr>
        <p:txBody>
          <a:bodyPr wrap="square" lIns="13716" tIns="13716" rIns="13716" bIns="13716">
            <a:spAutoFit/>
          </a:bodyPr>
          <a:lstStyle/>
          <a:p>
            <a:pPr>
              <a:spcAft>
                <a:spcPts val="700"/>
              </a:spcAft>
              <a:defRPr sz="1100" b="1">
                <a:solidFill>
                  <a:srgbClr val="087E83"/>
                </a:solidFill>
                <a:latin typeface="Aptos"/>
              </a:defRPr>
            </a:pPr>
            <a:r>
              <a:t>05</a:t>
            </a:r>
          </a:p>
        </p:txBody>
      </p:sp>
      <p:sp>
        <p:nvSpPr>
          <p:cNvPr id="8" name="Rounded Rectangle 7"/>
          <p:cNvSpPr/>
          <p:nvPr/>
        </p:nvSpPr>
        <p:spPr>
          <a:xfrm>
            <a:off x="548640" y="2286000"/>
            <a:ext cx="5394960" cy="30632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2286000"/>
            <a:ext cx="41148" cy="3063240"/>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58952" y="2468880"/>
            <a:ext cx="5001768" cy="457200"/>
          </a:xfrm>
          <a:prstGeom prst="rect">
            <a:avLst/>
          </a:prstGeom>
          <a:noFill/>
        </p:spPr>
        <p:txBody>
          <a:bodyPr wrap="square" lIns="13716" tIns="13716" rIns="13716" bIns="13716">
            <a:spAutoFit/>
          </a:bodyPr>
          <a:lstStyle/>
          <a:p>
            <a:pPr>
              <a:spcAft>
                <a:spcPts val="700"/>
              </a:spcAft>
              <a:defRPr sz="1900" b="1">
                <a:solidFill>
                  <a:srgbClr val="087E83"/>
                </a:solidFill>
                <a:latin typeface="Aptos"/>
              </a:defRPr>
            </a:pPr>
            <a:r>
              <a:t>1  Beschaffen und festhalten</a:t>
            </a:r>
          </a:p>
        </p:txBody>
      </p:sp>
      <p:sp>
        <p:nvSpPr>
          <p:cNvPr id="11" name="TextBox 10"/>
          <p:cNvSpPr txBox="1"/>
          <p:nvPr/>
        </p:nvSpPr>
        <p:spPr>
          <a:xfrm>
            <a:off x="758952" y="3090672"/>
            <a:ext cx="5001768" cy="2121408"/>
          </a:xfrm>
          <a:prstGeom prst="rect">
            <a:avLst/>
          </a:prstGeom>
          <a:noFill/>
        </p:spPr>
        <p:txBody>
          <a:bodyPr wrap="square" lIns="13716" tIns="13716" rIns="13716" bIns="13716">
            <a:spAutoFit/>
          </a:bodyPr>
          <a:lstStyle/>
          <a:p>
            <a:pPr>
              <a:spcAft>
                <a:spcPts val="700"/>
              </a:spcAft>
              <a:defRPr sz="1900" b="0">
                <a:solidFill>
                  <a:srgbClr val="102C3B"/>
                </a:solidFill>
                <a:latin typeface="Aptos"/>
              </a:defRPr>
            </a:pPr>
            <a:r>
              <a:t>Öffentliche CSV und Katalogmetadaten</a:t>
            </a:r>
          </a:p>
          <a:p>
            <a:pPr>
              <a:spcAft>
                <a:spcPts val="700"/>
              </a:spcAft>
              <a:defRPr sz="1900" b="0">
                <a:solidFill>
                  <a:srgbClr val="102C3B"/>
                </a:solidFill>
                <a:latin typeface="Aptos"/>
              </a:defRPr>
            </a:pPr>
            <a:r>
              <a:t>Abrufzeit, Quelle und SHA-256 speichern</a:t>
            </a:r>
          </a:p>
          <a:p>
            <a:pPr>
              <a:spcAft>
                <a:spcPts val="700"/>
              </a:spcAft>
              <a:defRPr sz="1900" b="0">
                <a:solidFill>
                  <a:srgbClr val="102C3B"/>
                </a:solidFill>
                <a:latin typeface="Aptos"/>
              </a:defRPr>
            </a:pPr>
            <a:r>
              <a:t>Rohdaten unverändert aufbewahren</a:t>
            </a:r>
          </a:p>
          <a:p>
            <a:pPr>
              <a:spcAft>
                <a:spcPts val="700"/>
              </a:spcAft>
              <a:defRPr sz="1900" b="0">
                <a:solidFill>
                  <a:srgbClr val="102C3B"/>
                </a:solidFill>
                <a:latin typeface="Aptos"/>
              </a:defRPr>
            </a:pPr>
            <a:r>
              <a:t>Neue Downloads als separaten Snapshot</a:t>
            </a:r>
          </a:p>
        </p:txBody>
      </p:sp>
      <p:sp>
        <p:nvSpPr>
          <p:cNvPr id="12" name="Rounded Rectangle 11"/>
          <p:cNvSpPr/>
          <p:nvPr/>
        </p:nvSpPr>
        <p:spPr>
          <a:xfrm>
            <a:off x="6217920" y="2286000"/>
            <a:ext cx="5394960" cy="30632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217920" y="2286000"/>
            <a:ext cx="41148" cy="3063240"/>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28232" y="2468880"/>
            <a:ext cx="5001768" cy="457200"/>
          </a:xfrm>
          <a:prstGeom prst="rect">
            <a:avLst/>
          </a:prstGeom>
          <a:noFill/>
        </p:spPr>
        <p:txBody>
          <a:bodyPr wrap="square" lIns="13716" tIns="13716" rIns="13716" bIns="13716">
            <a:spAutoFit/>
          </a:bodyPr>
          <a:lstStyle/>
          <a:p>
            <a:pPr>
              <a:spcAft>
                <a:spcPts val="700"/>
              </a:spcAft>
              <a:defRPr sz="1900" b="1">
                <a:solidFill>
                  <a:srgbClr val="087E83"/>
                </a:solidFill>
                <a:latin typeface="Aptos"/>
              </a:defRPr>
            </a:pPr>
            <a:r>
              <a:t>2  Vor der Verarbeitung prüfen</a:t>
            </a:r>
          </a:p>
        </p:txBody>
      </p:sp>
      <p:sp>
        <p:nvSpPr>
          <p:cNvPr id="15" name="TextBox 14"/>
          <p:cNvSpPr txBox="1"/>
          <p:nvPr/>
        </p:nvSpPr>
        <p:spPr>
          <a:xfrm>
            <a:off x="6428232" y="3090672"/>
            <a:ext cx="5001768" cy="2121408"/>
          </a:xfrm>
          <a:prstGeom prst="rect">
            <a:avLst/>
          </a:prstGeom>
          <a:noFill/>
        </p:spPr>
        <p:txBody>
          <a:bodyPr wrap="square" lIns="13716" tIns="13716" rIns="13716" bIns="13716">
            <a:spAutoFit/>
          </a:bodyPr>
          <a:lstStyle/>
          <a:p>
            <a:pPr>
              <a:spcAft>
                <a:spcPts val="700"/>
              </a:spcAft>
              <a:defRPr sz="1900" b="0">
                <a:solidFill>
                  <a:srgbClr val="102C3B"/>
                </a:solidFill>
                <a:latin typeface="Aptos"/>
              </a:defRPr>
            </a:pPr>
            <a:r>
              <a:t>Datei und Metadaten vorhanden?</a:t>
            </a:r>
          </a:p>
          <a:p>
            <a:pPr>
              <a:spcAft>
                <a:spcPts val="700"/>
              </a:spcAft>
              <a:defRPr sz="1900" b="0">
                <a:solidFill>
                  <a:srgbClr val="102C3B"/>
                </a:solidFill>
                <a:latin typeface="Aptos"/>
              </a:defRPr>
            </a:pPr>
            <a:r>
              <a:t>Dateigrösse und Prüfsumme passend?</a:t>
            </a:r>
          </a:p>
          <a:p>
            <a:pPr>
              <a:spcAft>
                <a:spcPts val="700"/>
              </a:spcAft>
              <a:defRPr sz="1900" b="0">
                <a:solidFill>
                  <a:srgbClr val="102C3B"/>
                </a:solidFill>
                <a:latin typeface="Aptos"/>
              </a:defRPr>
            </a:pPr>
            <a:r>
              <a:t>CSV-Struktur und Pflichtfelder gültig?</a:t>
            </a:r>
          </a:p>
          <a:p>
            <a:pPr>
              <a:spcAft>
                <a:spcPts val="700"/>
              </a:spcAft>
              <a:defRPr sz="1900" b="0">
                <a:solidFill>
                  <a:srgbClr val="102C3B"/>
                </a:solidFill>
                <a:latin typeface="Aptos"/>
              </a:defRPr>
            </a:pPr>
            <a:r>
              <a:t>Bei Abweichung sichtbar abbrechen.</a:t>
            </a:r>
          </a:p>
        </p:txBody>
      </p:sp>
      <p:sp>
        <p:nvSpPr>
          <p:cNvPr id="16" name="Rounded Rectangle 15"/>
          <p:cNvSpPr/>
          <p:nvPr/>
        </p:nvSpPr>
        <p:spPr>
          <a:xfrm>
            <a:off x="548640" y="5806440"/>
            <a:ext cx="11064240" cy="484632"/>
          </a:xfrm>
          <a:prstGeom prst="roundRect">
            <a:avLst>
              <a:gd name="adj" fmla="val 8000"/>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40664" y="5888736"/>
            <a:ext cx="10652760" cy="329184"/>
          </a:xfrm>
          <a:prstGeom prst="rect">
            <a:avLst/>
          </a:prstGeom>
          <a:noFill/>
        </p:spPr>
        <p:txBody>
          <a:bodyPr wrap="square" lIns="13716" tIns="13716" rIns="13716" bIns="13716">
            <a:spAutoFit/>
          </a:bodyPr>
          <a:lstStyle/>
          <a:p>
            <a:pPr>
              <a:spcAft>
                <a:spcPts val="700"/>
              </a:spcAft>
              <a:defRPr sz="1700" b="1">
                <a:solidFill>
                  <a:srgbClr val="102C3B"/>
                </a:solidFill>
                <a:latin typeface="Aptos"/>
              </a:defRPr>
            </a:pPr>
            <a:r>
              <a:t>SHA-256 bestätigt Dateiintegrität – nicht die fachliche Richtigkeit der Unfalldaten.</a:t>
            </a:r>
          </a:p>
        </p:txBody>
      </p:sp>
      <p:sp>
        <p:nvSpPr>
          <p:cNvPr id="18" name="TextBox 17"/>
          <p:cNvSpPr txBox="1"/>
          <p:nvPr/>
        </p:nvSpPr>
        <p:spPr>
          <a:xfrm>
            <a:off x="731520" y="6382512"/>
            <a:ext cx="9692640" cy="137160"/>
          </a:xfrm>
          <a:prstGeom prst="rect">
            <a:avLst/>
          </a:prstGeom>
          <a:noFill/>
        </p:spPr>
        <p:txBody>
          <a:bodyPr wrap="square" lIns="13716" tIns="13716" rIns="13716" bIns="13716">
            <a:spAutoFit/>
          </a:bodyPr>
          <a:lstStyle/>
          <a:p>
            <a:pPr>
              <a:spcAft>
                <a:spcPts val="700"/>
              </a:spcAft>
              <a:defRPr sz="800" b="0">
                <a:solidFill>
                  <a:srgbClr val="536773"/>
                </a:solidFill>
                <a:latin typeface="Aptos"/>
              </a:defRPr>
            </a:pPr>
            <a:r>
              <a:t>Nachweis: ingestion.py · data/raw/source_metadata.json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6F5"/>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0292"/>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01752"/>
            <a:ext cx="10789920" cy="292608"/>
          </a:xfrm>
          <a:prstGeom prst="rect">
            <a:avLst/>
          </a:prstGeom>
          <a:noFill/>
        </p:spPr>
        <p:txBody>
          <a:bodyPr wrap="square" lIns="13716" tIns="13716" rIns="13716" bIns="13716">
            <a:spAutoFit/>
          </a:bodyPr>
          <a:lstStyle/>
          <a:p>
            <a:pPr>
              <a:spcAft>
                <a:spcPts val="700"/>
              </a:spcAft>
              <a:defRPr sz="1050" b="1">
                <a:solidFill>
                  <a:srgbClr val="087E83"/>
                </a:solidFill>
                <a:latin typeface="Aptos"/>
              </a:defRPr>
            </a:pPr>
            <a:r>
              <a:t>05 · STORAGE</a:t>
            </a:r>
          </a:p>
        </p:txBody>
      </p:sp>
      <p:sp>
        <p:nvSpPr>
          <p:cNvPr id="4" name="TextBox 3"/>
          <p:cNvSpPr txBox="1"/>
          <p:nvPr/>
        </p:nvSpPr>
        <p:spPr>
          <a:xfrm>
            <a:off x="548640" y="795528"/>
            <a:ext cx="11064240" cy="621792"/>
          </a:xfrm>
          <a:prstGeom prst="rect">
            <a:avLst/>
          </a:prstGeom>
          <a:noFill/>
        </p:spPr>
        <p:txBody>
          <a:bodyPr wrap="square" lIns="13716" tIns="13716" rIns="13716" bIns="13716">
            <a:spAutoFit/>
          </a:bodyPr>
          <a:lstStyle/>
          <a:p>
            <a:pPr>
              <a:spcAft>
                <a:spcPts val="700"/>
              </a:spcAft>
              <a:defRPr sz="3100" b="1">
                <a:solidFill>
                  <a:srgbClr val="102C3B"/>
                </a:solidFill>
                <a:latin typeface="Aptos"/>
              </a:defRPr>
            </a:pPr>
            <a:r>
              <a:t>SQLite passt zu unserem tatsächlichen Arbeitsumfang</a:t>
            </a:r>
          </a:p>
        </p:txBody>
      </p:sp>
      <p:sp>
        <p:nvSpPr>
          <p:cNvPr id="5" name="TextBox 4"/>
          <p:cNvSpPr txBox="1"/>
          <p:nvPr/>
        </p:nvSpPr>
        <p:spPr>
          <a:xfrm>
            <a:off x="548640" y="1490472"/>
            <a:ext cx="11064240" cy="548640"/>
          </a:xfrm>
          <a:prstGeom prst="rect">
            <a:avLst/>
          </a:prstGeom>
          <a:noFill/>
        </p:spPr>
        <p:txBody>
          <a:bodyPr wrap="square" lIns="13716" tIns="13716" rIns="13716" bIns="13716">
            <a:spAutoFit/>
          </a:bodyPr>
          <a:lstStyle/>
          <a:p>
            <a:pPr>
              <a:spcAft>
                <a:spcPts val="700"/>
              </a:spcAft>
              <a:defRPr sz="1700" b="0">
                <a:solidFill>
                  <a:srgbClr val="536773"/>
                </a:solidFill>
                <a:latin typeface="Aptos"/>
              </a:defRPr>
            </a:pPr>
            <a:r>
              <a:t>Lokale Analyse · ein kontrollierter Schreibprozess · überwiegend lesende Abfragen</a:t>
            </a:r>
          </a:p>
        </p:txBody>
      </p:sp>
      <p:sp>
        <p:nvSpPr>
          <p:cNvPr id="6" name="TextBox 5"/>
          <p:cNvSpPr txBox="1"/>
          <p:nvPr/>
        </p:nvSpPr>
        <p:spPr>
          <a:xfrm>
            <a:off x="548640" y="6519672"/>
            <a:ext cx="9966960" cy="182880"/>
          </a:xfrm>
          <a:prstGeom prst="rect">
            <a:avLst/>
          </a:prstGeom>
          <a:noFill/>
        </p:spPr>
        <p:txBody>
          <a:bodyPr wrap="square" lIns="13716" tIns="13716" rIns="13716" bIns="13716">
            <a:spAutoFit/>
          </a:bodyPr>
          <a:lstStyle/>
          <a:p>
            <a:pPr>
              <a:spcAft>
                <a:spcPts val="700"/>
              </a:spcAft>
              <a:defRPr sz="900" b="0">
                <a:solidFill>
                  <a:srgbClr val="536773"/>
                </a:solidFill>
                <a:latin typeface="Aptos"/>
              </a:defRPr>
            </a:pPr>
            <a:r>
              <a:t>ZHAW · Data Engineering HS26 · Souto / Fawaz / Muslija</a:t>
            </a:r>
          </a:p>
        </p:txBody>
      </p:sp>
      <p:sp>
        <p:nvSpPr>
          <p:cNvPr id="7" name="TextBox 6"/>
          <p:cNvSpPr txBox="1"/>
          <p:nvPr/>
        </p:nvSpPr>
        <p:spPr>
          <a:xfrm>
            <a:off x="10991088" y="6473952"/>
            <a:ext cx="640080" cy="274320"/>
          </a:xfrm>
          <a:prstGeom prst="rect">
            <a:avLst/>
          </a:prstGeom>
          <a:noFill/>
        </p:spPr>
        <p:txBody>
          <a:bodyPr wrap="square" lIns="13716" tIns="13716" rIns="13716" bIns="13716">
            <a:spAutoFit/>
          </a:bodyPr>
          <a:lstStyle/>
          <a:p>
            <a:pPr>
              <a:spcAft>
                <a:spcPts val="700"/>
              </a:spcAft>
              <a:defRPr sz="1100" b="1">
                <a:solidFill>
                  <a:srgbClr val="087E83"/>
                </a:solidFill>
                <a:latin typeface="Aptos"/>
              </a:defRPr>
            </a:pPr>
            <a:r>
              <a:t>06</a:t>
            </a:r>
          </a:p>
        </p:txBody>
      </p:sp>
      <p:sp>
        <p:nvSpPr>
          <p:cNvPr id="8" name="Rounded Rectangle 7"/>
          <p:cNvSpPr/>
          <p:nvPr/>
        </p:nvSpPr>
        <p:spPr>
          <a:xfrm>
            <a:off x="548640" y="2286000"/>
            <a:ext cx="3520440" cy="30175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2286000"/>
            <a:ext cx="41148" cy="3017520"/>
          </a:xfrm>
          <a:prstGeom prst="rect">
            <a:avLst/>
          </a:prstGeom>
          <a:solidFill>
            <a:srgbClr val="5367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58952" y="2468880"/>
            <a:ext cx="3127248" cy="457200"/>
          </a:xfrm>
          <a:prstGeom prst="rect">
            <a:avLst/>
          </a:prstGeom>
          <a:noFill/>
        </p:spPr>
        <p:txBody>
          <a:bodyPr wrap="square" lIns="13716" tIns="13716" rIns="13716" bIns="13716">
            <a:spAutoFit/>
          </a:bodyPr>
          <a:lstStyle/>
          <a:p>
            <a:pPr>
              <a:spcAft>
                <a:spcPts val="700"/>
              </a:spcAft>
              <a:defRPr sz="1900" b="1">
                <a:solidFill>
                  <a:srgbClr val="536773"/>
                </a:solidFill>
                <a:latin typeface="Aptos"/>
              </a:defRPr>
            </a:pPr>
            <a:r>
              <a:t>CSV</a:t>
            </a:r>
          </a:p>
        </p:txBody>
      </p:sp>
      <p:sp>
        <p:nvSpPr>
          <p:cNvPr id="11" name="TextBox 10"/>
          <p:cNvSpPr txBox="1"/>
          <p:nvPr/>
        </p:nvSpPr>
        <p:spPr>
          <a:xfrm>
            <a:off x="758952" y="3090672"/>
            <a:ext cx="3127248" cy="2075687"/>
          </a:xfrm>
          <a:prstGeom prst="rect">
            <a:avLst/>
          </a:prstGeom>
          <a:noFill/>
        </p:spPr>
        <p:txBody>
          <a:bodyPr wrap="square" lIns="13716" tIns="13716" rIns="13716" bIns="13716">
            <a:spAutoFit/>
          </a:bodyPr>
          <a:lstStyle/>
          <a:p>
            <a:pPr>
              <a:spcAft>
                <a:spcPts val="700"/>
              </a:spcAft>
              <a:defRPr sz="1800" b="0">
                <a:solidFill>
                  <a:srgbClr val="102C3B"/>
                </a:solidFill>
                <a:latin typeface="Aptos"/>
              </a:defRPr>
            </a:pPr>
            <a:r>
              <a:t>Einfacher Austausch</a:t>
            </a:r>
          </a:p>
          <a:p>
            <a:pPr>
              <a:spcAft>
                <a:spcPts val="700"/>
              </a:spcAft>
              <a:defRPr sz="1800" b="0">
                <a:solidFill>
                  <a:srgbClr val="102C3B"/>
                </a:solidFill>
                <a:latin typeface="Aptos"/>
              </a:defRPr>
            </a:pPr>
            <a:r>
              <a:t>Originalformat der Quelle</a:t>
            </a:r>
          </a:p>
          <a:p>
            <a:pPr>
              <a:spcAft>
                <a:spcPts val="700"/>
              </a:spcAft>
              <a:defRPr sz="1800" b="0">
                <a:solidFill>
                  <a:srgbClr val="102C3B"/>
                </a:solidFill>
                <a:latin typeface="Aptos"/>
              </a:defRPr>
            </a:pPr>
            <a:endParaRPr/>
          </a:p>
          <a:p>
            <a:pPr>
              <a:spcAft>
                <a:spcPts val="700"/>
              </a:spcAft>
              <a:defRPr sz="1800" b="0">
                <a:solidFill>
                  <a:srgbClr val="102C3B"/>
                </a:solidFill>
                <a:latin typeface="Aptos"/>
              </a:defRPr>
            </a:pPr>
            <a:r>
              <a:t>Keine Datenbankregeln</a:t>
            </a:r>
          </a:p>
          <a:p>
            <a:pPr>
              <a:spcAft>
                <a:spcPts val="700"/>
              </a:spcAft>
              <a:defRPr sz="1800" b="0">
                <a:solidFill>
                  <a:srgbClr val="102C3B"/>
                </a:solidFill>
                <a:latin typeface="Aptos"/>
              </a:defRPr>
            </a:pPr>
            <a:r>
              <a:t>→ Raw und Export</a:t>
            </a:r>
          </a:p>
        </p:txBody>
      </p:sp>
      <p:sp>
        <p:nvSpPr>
          <p:cNvPr id="12" name="Rounded Rectangle 11"/>
          <p:cNvSpPr/>
          <p:nvPr/>
        </p:nvSpPr>
        <p:spPr>
          <a:xfrm>
            <a:off x="4315968" y="2286000"/>
            <a:ext cx="3520440" cy="30175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15968" y="2286000"/>
            <a:ext cx="41148" cy="3017520"/>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26280" y="2468880"/>
            <a:ext cx="3127248" cy="457200"/>
          </a:xfrm>
          <a:prstGeom prst="rect">
            <a:avLst/>
          </a:prstGeom>
          <a:noFill/>
        </p:spPr>
        <p:txBody>
          <a:bodyPr wrap="square" lIns="13716" tIns="13716" rIns="13716" bIns="13716">
            <a:spAutoFit/>
          </a:bodyPr>
          <a:lstStyle/>
          <a:p>
            <a:pPr>
              <a:spcAft>
                <a:spcPts val="700"/>
              </a:spcAft>
              <a:defRPr sz="1900" b="1">
                <a:solidFill>
                  <a:srgbClr val="087E83"/>
                </a:solidFill>
                <a:latin typeface="Aptos"/>
              </a:defRPr>
            </a:pPr>
            <a:r>
              <a:t>SQLite · gewählt</a:t>
            </a:r>
          </a:p>
        </p:txBody>
      </p:sp>
      <p:sp>
        <p:nvSpPr>
          <p:cNvPr id="15" name="TextBox 14"/>
          <p:cNvSpPr txBox="1"/>
          <p:nvPr/>
        </p:nvSpPr>
        <p:spPr>
          <a:xfrm>
            <a:off x="4526280" y="3090672"/>
            <a:ext cx="3127248" cy="2075687"/>
          </a:xfrm>
          <a:prstGeom prst="rect">
            <a:avLst/>
          </a:prstGeom>
          <a:noFill/>
        </p:spPr>
        <p:txBody>
          <a:bodyPr wrap="square" lIns="13716" tIns="13716" rIns="13716" bIns="13716">
            <a:spAutoFit/>
          </a:bodyPr>
          <a:lstStyle/>
          <a:p>
            <a:pPr>
              <a:spcAft>
                <a:spcPts val="700"/>
              </a:spcAft>
              <a:defRPr sz="1800" b="0">
                <a:solidFill>
                  <a:srgbClr val="102C3B"/>
                </a:solidFill>
                <a:latin typeface="Aptos"/>
              </a:defRPr>
            </a:pPr>
            <a:r>
              <a:t>SQL in einer portablen Datei</a:t>
            </a:r>
          </a:p>
          <a:p>
            <a:pPr>
              <a:spcAft>
                <a:spcPts val="700"/>
              </a:spcAft>
              <a:defRPr sz="1800" b="0">
                <a:solidFill>
                  <a:srgbClr val="102C3B"/>
                </a:solidFill>
                <a:latin typeface="Aptos"/>
              </a:defRPr>
            </a:pPr>
            <a:r>
              <a:t>Primärschlüssel + CHECKs</a:t>
            </a:r>
          </a:p>
          <a:p>
            <a:pPr>
              <a:spcAft>
                <a:spcPts val="700"/>
              </a:spcAft>
              <a:defRPr sz="1800" b="0">
                <a:solidFill>
                  <a:srgbClr val="102C3B"/>
                </a:solidFill>
                <a:latin typeface="Aptos"/>
              </a:defRPr>
            </a:pPr>
            <a:r>
              <a:t>Transaktionaler Aufbau</a:t>
            </a:r>
          </a:p>
          <a:p>
            <a:pPr>
              <a:spcAft>
                <a:spcPts val="700"/>
              </a:spcAft>
              <a:defRPr sz="1800" b="0">
                <a:solidFill>
                  <a:srgbClr val="102C3B"/>
                </a:solidFill>
                <a:latin typeface="Aptos"/>
              </a:defRPr>
            </a:pPr>
            <a:endParaRPr/>
          </a:p>
          <a:p>
            <a:pPr>
              <a:spcAft>
                <a:spcPts val="700"/>
              </a:spcAft>
              <a:defRPr sz="1800" b="0">
                <a:solidFill>
                  <a:srgbClr val="102C3B"/>
                </a:solidFill>
                <a:latin typeface="Aptos"/>
              </a:defRPr>
            </a:pPr>
            <a:r>
              <a:t>Kein Serverbetrieb nötig</a:t>
            </a:r>
          </a:p>
        </p:txBody>
      </p:sp>
      <p:sp>
        <p:nvSpPr>
          <p:cNvPr id="16" name="Rounded Rectangle 15"/>
          <p:cNvSpPr/>
          <p:nvPr/>
        </p:nvSpPr>
        <p:spPr>
          <a:xfrm>
            <a:off x="8083296" y="2286000"/>
            <a:ext cx="3520440" cy="30175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083296" y="2286000"/>
            <a:ext cx="41148" cy="3017520"/>
          </a:xfrm>
          <a:prstGeom prst="rect">
            <a:avLst/>
          </a:prstGeom>
          <a:solidFill>
            <a:srgbClr val="5367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93608" y="2468880"/>
            <a:ext cx="3127248" cy="457200"/>
          </a:xfrm>
          <a:prstGeom prst="rect">
            <a:avLst/>
          </a:prstGeom>
          <a:noFill/>
        </p:spPr>
        <p:txBody>
          <a:bodyPr wrap="square" lIns="13716" tIns="13716" rIns="13716" bIns="13716">
            <a:spAutoFit/>
          </a:bodyPr>
          <a:lstStyle/>
          <a:p>
            <a:pPr>
              <a:spcAft>
                <a:spcPts val="700"/>
              </a:spcAft>
              <a:defRPr sz="1900" b="1">
                <a:solidFill>
                  <a:srgbClr val="536773"/>
                </a:solidFill>
                <a:latin typeface="Aptos"/>
              </a:defRPr>
            </a:pPr>
            <a:r>
              <a:t>PostgreSQL</a:t>
            </a:r>
          </a:p>
        </p:txBody>
      </p:sp>
      <p:sp>
        <p:nvSpPr>
          <p:cNvPr id="19" name="TextBox 18"/>
          <p:cNvSpPr txBox="1"/>
          <p:nvPr/>
        </p:nvSpPr>
        <p:spPr>
          <a:xfrm>
            <a:off x="8293608" y="3090672"/>
            <a:ext cx="3127248" cy="2075687"/>
          </a:xfrm>
          <a:prstGeom prst="rect">
            <a:avLst/>
          </a:prstGeom>
          <a:noFill/>
        </p:spPr>
        <p:txBody>
          <a:bodyPr wrap="square" lIns="13716" tIns="13716" rIns="13716" bIns="13716">
            <a:spAutoFit/>
          </a:bodyPr>
          <a:lstStyle/>
          <a:p>
            <a:pPr>
              <a:spcAft>
                <a:spcPts val="700"/>
              </a:spcAft>
              <a:defRPr sz="1800" b="0">
                <a:solidFill>
                  <a:srgbClr val="102C3B"/>
                </a:solidFill>
                <a:latin typeface="Aptos"/>
              </a:defRPr>
            </a:pPr>
            <a:r>
              <a:t>Zentraler Mehrnutzerbetrieb</a:t>
            </a:r>
          </a:p>
          <a:p>
            <a:pPr>
              <a:spcAft>
                <a:spcPts val="700"/>
              </a:spcAft>
              <a:defRPr sz="1800" b="0">
                <a:solidFill>
                  <a:srgbClr val="102C3B"/>
                </a:solidFill>
                <a:latin typeface="Aptos"/>
              </a:defRPr>
            </a:pPr>
            <a:r>
              <a:t>Viele parallele Schreibzugriffe</a:t>
            </a:r>
          </a:p>
          <a:p>
            <a:pPr>
              <a:spcAft>
                <a:spcPts val="700"/>
              </a:spcAft>
              <a:defRPr sz="1800" b="0">
                <a:solidFill>
                  <a:srgbClr val="102C3B"/>
                </a:solidFill>
                <a:latin typeface="Aptos"/>
              </a:defRPr>
            </a:pPr>
            <a:endParaRPr/>
          </a:p>
          <a:p>
            <a:pPr>
              <a:spcAft>
                <a:spcPts val="700"/>
              </a:spcAft>
              <a:defRPr sz="1800" b="0">
                <a:solidFill>
                  <a:srgbClr val="102C3B"/>
                </a:solidFill>
                <a:latin typeface="Aptos"/>
              </a:defRPr>
            </a:pPr>
            <a:r>
              <a:t>Dafür wären Server und</a:t>
            </a:r>
          </a:p>
          <a:p>
            <a:pPr>
              <a:spcAft>
                <a:spcPts val="700"/>
              </a:spcAft>
              <a:defRPr sz="1800" b="0">
                <a:solidFill>
                  <a:srgbClr val="102C3B"/>
                </a:solidFill>
                <a:latin typeface="Aptos"/>
              </a:defRPr>
            </a:pPr>
            <a:r>
              <a:t>Betrieb zusätzlich nötig.</a:t>
            </a:r>
          </a:p>
        </p:txBody>
      </p:sp>
      <p:sp>
        <p:nvSpPr>
          <p:cNvPr id="20" name="Rounded Rectangle 19"/>
          <p:cNvSpPr/>
          <p:nvPr/>
        </p:nvSpPr>
        <p:spPr>
          <a:xfrm>
            <a:off x="548640" y="5806440"/>
            <a:ext cx="11064240" cy="484632"/>
          </a:xfrm>
          <a:prstGeom prst="roundRect">
            <a:avLst>
              <a:gd name="adj" fmla="val 8000"/>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40664" y="5888736"/>
            <a:ext cx="10652760" cy="329184"/>
          </a:xfrm>
          <a:prstGeom prst="rect">
            <a:avLst/>
          </a:prstGeom>
          <a:noFill/>
        </p:spPr>
        <p:txBody>
          <a:bodyPr wrap="square" lIns="13716" tIns="13716" rIns="13716" bIns="13716">
            <a:spAutoFit/>
          </a:bodyPr>
          <a:lstStyle/>
          <a:p>
            <a:pPr>
              <a:spcAft>
                <a:spcPts val="700"/>
              </a:spcAft>
              <a:defRPr sz="1700" b="1">
                <a:solidFill>
                  <a:srgbClr val="102C3B"/>
                </a:solidFill>
                <a:latin typeface="Aptos"/>
              </a:defRPr>
            </a:pPr>
            <a:r>
              <a:t>Relational: feste Spalten, eindeutige Unfall-ID und SQL-Aggregationen für F1–F3.</a:t>
            </a:r>
          </a:p>
        </p:txBody>
      </p:sp>
      <p:sp>
        <p:nvSpPr>
          <p:cNvPr id="22" name="TextBox 21"/>
          <p:cNvSpPr txBox="1"/>
          <p:nvPr/>
        </p:nvSpPr>
        <p:spPr>
          <a:xfrm>
            <a:off x="566928" y="6318504"/>
            <a:ext cx="10607040" cy="173736"/>
          </a:xfrm>
          <a:prstGeom prst="rect">
            <a:avLst/>
          </a:prstGeom>
          <a:noFill/>
        </p:spPr>
        <p:txBody>
          <a:bodyPr wrap="square" lIns="13716" tIns="13716" rIns="13716" bIns="13716">
            <a:spAutoFit/>
          </a:bodyPr>
          <a:lstStyle/>
          <a:p>
            <a:pPr>
              <a:spcAft>
                <a:spcPts val="700"/>
              </a:spcAft>
              <a:defRPr sz="800" b="0">
                <a:solidFill>
                  <a:srgbClr val="536773"/>
                </a:solidFill>
                <a:latin typeface="Aptos"/>
              </a:defRPr>
            </a:pPr>
            <a:r>
              <a:t>Begründung: sqlite.org/whentouse.html · Schema: src/de_projekt/schema.sql</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6F5"/>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0292"/>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01752"/>
            <a:ext cx="10789920" cy="292608"/>
          </a:xfrm>
          <a:prstGeom prst="rect">
            <a:avLst/>
          </a:prstGeom>
          <a:noFill/>
        </p:spPr>
        <p:txBody>
          <a:bodyPr wrap="square" lIns="13716" tIns="13716" rIns="13716" bIns="13716">
            <a:spAutoFit/>
          </a:bodyPr>
          <a:lstStyle/>
          <a:p>
            <a:pPr>
              <a:spcAft>
                <a:spcPts val="700"/>
              </a:spcAft>
              <a:defRPr sz="1050" b="1">
                <a:solidFill>
                  <a:srgbClr val="087E83"/>
                </a:solidFill>
                <a:latin typeface="Aptos"/>
              </a:defRPr>
            </a:pPr>
            <a:r>
              <a:t>06 · TRANSFORMATION TEIL 1</a:t>
            </a:r>
          </a:p>
        </p:txBody>
      </p:sp>
      <p:sp>
        <p:nvSpPr>
          <p:cNvPr id="4" name="TextBox 3"/>
          <p:cNvSpPr txBox="1"/>
          <p:nvPr/>
        </p:nvSpPr>
        <p:spPr>
          <a:xfrm>
            <a:off x="548640" y="795528"/>
            <a:ext cx="11064240" cy="621792"/>
          </a:xfrm>
          <a:prstGeom prst="rect">
            <a:avLst/>
          </a:prstGeom>
          <a:noFill/>
        </p:spPr>
        <p:txBody>
          <a:bodyPr wrap="square" lIns="13716" tIns="13716" rIns="13716" bIns="13716">
            <a:spAutoFit/>
          </a:bodyPr>
          <a:lstStyle/>
          <a:p>
            <a:pPr>
              <a:spcAft>
                <a:spcPts val="700"/>
              </a:spcAft>
              <a:defRPr sz="3100" b="1">
                <a:solidFill>
                  <a:srgbClr val="102C3B"/>
                </a:solidFill>
                <a:latin typeface="Aptos"/>
              </a:defRPr>
            </a:pPr>
            <a:r>
              <a:t>Bereinigen heisst auch: begründet nichts löschen</a:t>
            </a:r>
          </a:p>
        </p:txBody>
      </p:sp>
      <p:sp>
        <p:nvSpPr>
          <p:cNvPr id="5" name="TextBox 4"/>
          <p:cNvSpPr txBox="1"/>
          <p:nvPr/>
        </p:nvSpPr>
        <p:spPr>
          <a:xfrm>
            <a:off x="548640" y="1490472"/>
            <a:ext cx="11064240" cy="548640"/>
          </a:xfrm>
          <a:prstGeom prst="rect">
            <a:avLst/>
          </a:prstGeom>
          <a:noFill/>
        </p:spPr>
        <p:txBody>
          <a:bodyPr wrap="square" lIns="13716" tIns="13716" rIns="13716" bIns="13716">
            <a:spAutoFit/>
          </a:bodyPr>
          <a:lstStyle/>
          <a:p>
            <a:pPr>
              <a:spcAft>
                <a:spcPts val="700"/>
              </a:spcAft>
              <a:defRPr sz="1700" b="0">
                <a:solidFill>
                  <a:srgbClr val="536773"/>
                </a:solidFill>
                <a:latin typeface="Aptos"/>
              </a:defRPr>
            </a:pPr>
            <a:r>
              <a:t>Profilbefund: keine leeren Felder, geprüften NA-Marker oder Duplikate im Snapshot.</a:t>
            </a:r>
          </a:p>
        </p:txBody>
      </p:sp>
      <p:sp>
        <p:nvSpPr>
          <p:cNvPr id="6" name="TextBox 5"/>
          <p:cNvSpPr txBox="1"/>
          <p:nvPr/>
        </p:nvSpPr>
        <p:spPr>
          <a:xfrm>
            <a:off x="548640" y="6519672"/>
            <a:ext cx="9966960" cy="182880"/>
          </a:xfrm>
          <a:prstGeom prst="rect">
            <a:avLst/>
          </a:prstGeom>
          <a:noFill/>
        </p:spPr>
        <p:txBody>
          <a:bodyPr wrap="square" lIns="13716" tIns="13716" rIns="13716" bIns="13716">
            <a:spAutoFit/>
          </a:bodyPr>
          <a:lstStyle/>
          <a:p>
            <a:pPr>
              <a:spcAft>
                <a:spcPts val="700"/>
              </a:spcAft>
              <a:defRPr sz="900" b="0">
                <a:solidFill>
                  <a:srgbClr val="536773"/>
                </a:solidFill>
                <a:latin typeface="Aptos"/>
              </a:defRPr>
            </a:pPr>
            <a:r>
              <a:t>ZHAW · Data Engineering HS26 · Souto / Fawaz / Muslija</a:t>
            </a:r>
          </a:p>
        </p:txBody>
      </p:sp>
      <p:sp>
        <p:nvSpPr>
          <p:cNvPr id="7" name="TextBox 6"/>
          <p:cNvSpPr txBox="1"/>
          <p:nvPr/>
        </p:nvSpPr>
        <p:spPr>
          <a:xfrm>
            <a:off x="10991088" y="6473952"/>
            <a:ext cx="640080" cy="274320"/>
          </a:xfrm>
          <a:prstGeom prst="rect">
            <a:avLst/>
          </a:prstGeom>
          <a:noFill/>
        </p:spPr>
        <p:txBody>
          <a:bodyPr wrap="square" lIns="13716" tIns="13716" rIns="13716" bIns="13716">
            <a:spAutoFit/>
          </a:bodyPr>
          <a:lstStyle/>
          <a:p>
            <a:pPr>
              <a:spcAft>
                <a:spcPts val="700"/>
              </a:spcAft>
              <a:defRPr sz="1100" b="1">
                <a:solidFill>
                  <a:srgbClr val="087E83"/>
                </a:solidFill>
                <a:latin typeface="Aptos"/>
              </a:defRPr>
            </a:pPr>
            <a:r>
              <a:t>07</a:t>
            </a:r>
          </a:p>
        </p:txBody>
      </p:sp>
      <p:sp>
        <p:nvSpPr>
          <p:cNvPr id="8" name="Rounded Rectangle 7"/>
          <p:cNvSpPr/>
          <p:nvPr/>
        </p:nvSpPr>
        <p:spPr>
          <a:xfrm>
            <a:off x="548640" y="2240280"/>
            <a:ext cx="5394960" cy="325526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2240280"/>
            <a:ext cx="41148" cy="3255264"/>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58952" y="2423160"/>
            <a:ext cx="5001768" cy="457200"/>
          </a:xfrm>
          <a:prstGeom prst="rect">
            <a:avLst/>
          </a:prstGeom>
          <a:noFill/>
        </p:spPr>
        <p:txBody>
          <a:bodyPr wrap="square" lIns="13716" tIns="13716" rIns="13716" bIns="13716">
            <a:spAutoFit/>
          </a:bodyPr>
          <a:lstStyle/>
          <a:p>
            <a:pPr>
              <a:spcAft>
                <a:spcPts val="700"/>
              </a:spcAft>
              <a:defRPr sz="1900" b="1">
                <a:solidFill>
                  <a:srgbClr val="087E83"/>
                </a:solidFill>
                <a:latin typeface="Aptos"/>
              </a:defRPr>
            </a:pPr>
            <a:r>
              <a:t>Von 36 auf 22 Spalten</a:t>
            </a:r>
          </a:p>
        </p:txBody>
      </p:sp>
      <p:sp>
        <p:nvSpPr>
          <p:cNvPr id="11" name="TextBox 10"/>
          <p:cNvSpPr txBox="1"/>
          <p:nvPr/>
        </p:nvSpPr>
        <p:spPr>
          <a:xfrm>
            <a:off x="758952" y="3044952"/>
            <a:ext cx="5001768" cy="2313432"/>
          </a:xfrm>
          <a:prstGeom prst="rect">
            <a:avLst/>
          </a:prstGeom>
          <a:noFill/>
        </p:spPr>
        <p:txBody>
          <a:bodyPr wrap="square" lIns="13716" tIns="13716" rIns="13716" bIns="13716">
            <a:spAutoFit/>
          </a:bodyPr>
          <a:lstStyle/>
          <a:p>
            <a:pPr>
              <a:spcAft>
                <a:spcPts val="700"/>
              </a:spcAft>
              <a:defRPr sz="1800" b="0">
                <a:solidFill>
                  <a:srgbClr val="102C3B"/>
                </a:solidFill>
                <a:latin typeface="Aptos"/>
              </a:defRPr>
            </a:pPr>
            <a:r>
              <a:t>19 Originalfelder + 3 neue Merkmale</a:t>
            </a:r>
          </a:p>
          <a:p>
            <a:pPr>
              <a:spcAft>
                <a:spcPts val="700"/>
              </a:spcAft>
              <a:defRPr sz="1800" b="0">
                <a:solidFill>
                  <a:srgbClr val="102C3B"/>
                </a:solidFill>
                <a:latin typeface="Aptos"/>
              </a:defRPr>
            </a:pPr>
            <a:r>
              <a:t>Explizite Zahlen-, Text- und boolesche Typen</a:t>
            </a:r>
          </a:p>
          <a:p>
            <a:pPr>
              <a:spcAft>
                <a:spcPts val="700"/>
              </a:spcAft>
              <a:defRPr sz="1800" b="0">
                <a:solidFill>
                  <a:srgbClr val="102C3B"/>
                </a:solidFill>
                <a:latin typeface="Aptos"/>
              </a:defRPr>
            </a:pPr>
            <a:r>
              <a:t>Sprachredundanzen nur im Export entfernen</a:t>
            </a:r>
          </a:p>
          <a:p>
            <a:pPr>
              <a:spcAft>
                <a:spcPts val="700"/>
              </a:spcAft>
              <a:defRPr sz="1800" b="0">
                <a:solidFill>
                  <a:srgbClr val="102C3B"/>
                </a:solidFill>
                <a:latin typeface="Aptos"/>
              </a:defRPr>
            </a:pPr>
            <a:r>
              <a:t>Keine Zeilen löschen, nichts imputieren</a:t>
            </a:r>
          </a:p>
          <a:p>
            <a:pPr>
              <a:spcAft>
                <a:spcPts val="700"/>
              </a:spcAft>
              <a:defRPr sz="1800" b="0">
                <a:solidFill>
                  <a:srgbClr val="102C3B"/>
                </a:solidFill>
                <a:latin typeface="Aptos"/>
              </a:defRPr>
            </a:pPr>
            <a:r>
              <a:t>Unbekannt bleibt NULL; ungültig → Abbruch</a:t>
            </a:r>
          </a:p>
        </p:txBody>
      </p:sp>
      <p:sp>
        <p:nvSpPr>
          <p:cNvPr id="12" name="Rounded Rectangle 11"/>
          <p:cNvSpPr/>
          <p:nvPr/>
        </p:nvSpPr>
        <p:spPr>
          <a:xfrm>
            <a:off x="6217920" y="2240280"/>
            <a:ext cx="5394960" cy="325526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217920" y="2240280"/>
            <a:ext cx="41148" cy="3255264"/>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28232" y="2423160"/>
            <a:ext cx="5001768" cy="457200"/>
          </a:xfrm>
          <a:prstGeom prst="rect">
            <a:avLst/>
          </a:prstGeom>
          <a:noFill/>
        </p:spPr>
        <p:txBody>
          <a:bodyPr wrap="square" lIns="13716" tIns="13716" rIns="13716" bIns="13716">
            <a:spAutoFit/>
          </a:bodyPr>
          <a:lstStyle/>
          <a:p>
            <a:pPr>
              <a:spcAft>
                <a:spcPts val="700"/>
              </a:spcAft>
              <a:defRPr sz="1900" b="1">
                <a:solidFill>
                  <a:srgbClr val="087E83"/>
                </a:solidFill>
                <a:latin typeface="Aptos"/>
              </a:defRPr>
            </a:pPr>
            <a:r>
              <a:t>Drei nachvollziehbare Features</a:t>
            </a:r>
          </a:p>
        </p:txBody>
      </p:sp>
      <p:sp>
        <p:nvSpPr>
          <p:cNvPr id="15" name="TextBox 14"/>
          <p:cNvSpPr txBox="1"/>
          <p:nvPr/>
        </p:nvSpPr>
        <p:spPr>
          <a:xfrm>
            <a:off x="6428232" y="3044952"/>
            <a:ext cx="5001768" cy="2313432"/>
          </a:xfrm>
          <a:prstGeom prst="rect">
            <a:avLst/>
          </a:prstGeom>
          <a:noFill/>
        </p:spPr>
        <p:txBody>
          <a:bodyPr wrap="square" lIns="13716" tIns="13716" rIns="13716" bIns="13716">
            <a:spAutoFit/>
          </a:bodyPr>
          <a:lstStyle/>
          <a:p>
            <a:pPr>
              <a:spcAft>
                <a:spcPts val="700"/>
              </a:spcAft>
              <a:defRPr sz="1800" b="0">
                <a:solidFill>
                  <a:srgbClr val="102C3B"/>
                </a:solidFill>
                <a:latin typeface="Aptos"/>
              </a:defRPr>
            </a:pPr>
            <a:r>
              <a:t>is_weekend: Samstag / Sonntag</a:t>
            </a:r>
          </a:p>
          <a:p>
            <a:pPr>
              <a:spcAft>
                <a:spcPts val="700"/>
              </a:spcAft>
              <a:defRPr sz="1800" b="0">
                <a:solidFill>
                  <a:srgbClr val="102C3B"/>
                </a:solidFill>
                <a:latin typeface="Aptos"/>
              </a:defRPr>
            </a:pPr>
            <a:r>
              <a:t>time_period: vier Sechs-Stunden-Blöcke</a:t>
            </a:r>
          </a:p>
          <a:p>
            <a:pPr>
              <a:spcAft>
                <a:spcPts val="700"/>
              </a:spcAft>
              <a:defRPr sz="1800" b="0">
                <a:solidFill>
                  <a:srgbClr val="102C3B"/>
                </a:solidFill>
                <a:latin typeface="Aptos"/>
              </a:defRPr>
            </a:pPr>
            <a:r>
              <a:t>vulnerable_road_user: Fussgänger ODER Velo</a:t>
            </a:r>
          </a:p>
          <a:p>
            <a:pPr>
              <a:spcAft>
                <a:spcPts val="700"/>
              </a:spcAft>
              <a:defRPr sz="1800" b="0">
                <a:solidFill>
                  <a:srgbClr val="102C3B"/>
                </a:solidFill>
                <a:latin typeface="Aptos"/>
              </a:defRPr>
            </a:pPr>
            <a:endParaRPr/>
          </a:p>
          <a:p>
            <a:pPr>
              <a:spcAft>
                <a:spcPts val="700"/>
              </a:spcAft>
              <a:defRPr sz="1800" b="0">
                <a:solidFill>
                  <a:srgbClr val="102C3B"/>
                </a:solidFill>
                <a:latin typeface="Aptos"/>
              </a:defRPr>
            </a:pPr>
            <a:r>
              <a:t>H1 nutzt Wochenende × Originalstunde;</a:t>
            </a:r>
          </a:p>
          <a:p>
            <a:pPr>
              <a:spcAft>
                <a:spcPts val="700"/>
              </a:spcAft>
              <a:defRPr sz="1800" b="0">
                <a:solidFill>
                  <a:srgbClr val="102C3B"/>
                </a:solidFill>
                <a:latin typeface="Aptos"/>
              </a:defRPr>
            </a:pPr>
            <a:r>
              <a:t>die anderen Features ergänzen den Bestand.</a:t>
            </a:r>
          </a:p>
        </p:txBody>
      </p:sp>
      <p:sp>
        <p:nvSpPr>
          <p:cNvPr id="16" name="Rounded Rectangle 15"/>
          <p:cNvSpPr/>
          <p:nvPr/>
        </p:nvSpPr>
        <p:spPr>
          <a:xfrm>
            <a:off x="548640" y="5806440"/>
            <a:ext cx="11064240" cy="484632"/>
          </a:xfrm>
          <a:prstGeom prst="roundRect">
            <a:avLst>
              <a:gd name="adj" fmla="val 8000"/>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40664" y="5888736"/>
            <a:ext cx="10652760" cy="329184"/>
          </a:xfrm>
          <a:prstGeom prst="rect">
            <a:avLst/>
          </a:prstGeom>
          <a:noFill/>
        </p:spPr>
        <p:txBody>
          <a:bodyPr wrap="square" lIns="13716" tIns="13716" rIns="13716" bIns="13716">
            <a:spAutoFit/>
          </a:bodyPr>
          <a:lstStyle/>
          <a:p>
            <a:pPr>
              <a:spcAft>
                <a:spcPts val="700"/>
              </a:spcAft>
              <a:defRPr sz="1700" b="1">
                <a:solidFill>
                  <a:srgbClr val="102C3B"/>
                </a:solidFill>
                <a:latin typeface="Aptos"/>
              </a:defRPr>
            </a:pPr>
            <a:r>
              <a:t>70’767 hinein → 70’767 hinaus · Regeln und Prüfsummen stehen im Qualitätsbericht.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6F5"/>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0292"/>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01752"/>
            <a:ext cx="10789920" cy="292608"/>
          </a:xfrm>
          <a:prstGeom prst="rect">
            <a:avLst/>
          </a:prstGeom>
          <a:noFill/>
        </p:spPr>
        <p:txBody>
          <a:bodyPr wrap="square" lIns="13716" tIns="13716" rIns="13716" bIns="13716">
            <a:spAutoFit/>
          </a:bodyPr>
          <a:lstStyle/>
          <a:p>
            <a:pPr>
              <a:spcAft>
                <a:spcPts val="700"/>
              </a:spcAft>
              <a:defRPr sz="1050" b="1">
                <a:solidFill>
                  <a:srgbClr val="087E83"/>
                </a:solidFill>
                <a:latin typeface="Aptos"/>
              </a:defRPr>
            </a:pPr>
            <a:r>
              <a:t>07 · SKALIERBARKEIT</a:t>
            </a:r>
          </a:p>
        </p:txBody>
      </p:sp>
      <p:sp>
        <p:nvSpPr>
          <p:cNvPr id="4" name="TextBox 3"/>
          <p:cNvSpPr txBox="1"/>
          <p:nvPr/>
        </p:nvSpPr>
        <p:spPr>
          <a:xfrm>
            <a:off x="548640" y="795528"/>
            <a:ext cx="11064240" cy="621792"/>
          </a:xfrm>
          <a:prstGeom prst="rect">
            <a:avLst/>
          </a:prstGeom>
          <a:noFill/>
        </p:spPr>
        <p:txBody>
          <a:bodyPr wrap="square" lIns="13716" tIns="13716" rIns="13716" bIns="13716">
            <a:spAutoFit/>
          </a:bodyPr>
          <a:lstStyle/>
          <a:p>
            <a:pPr>
              <a:spcAft>
                <a:spcPts val="700"/>
              </a:spcAft>
              <a:defRPr sz="3100" b="1">
                <a:solidFill>
                  <a:srgbClr val="102C3B"/>
                </a:solidFill>
                <a:latin typeface="Aptos"/>
              </a:defRPr>
            </a:pPr>
            <a:r>
              <a:t>Zehnmal mehr Daten brauchen rund zehnmal so lange</a:t>
            </a:r>
          </a:p>
        </p:txBody>
      </p:sp>
      <p:sp>
        <p:nvSpPr>
          <p:cNvPr id="5" name="TextBox 4"/>
          <p:cNvSpPr txBox="1"/>
          <p:nvPr/>
        </p:nvSpPr>
        <p:spPr>
          <a:xfrm>
            <a:off x="548640" y="1490472"/>
            <a:ext cx="11064240" cy="548640"/>
          </a:xfrm>
          <a:prstGeom prst="rect">
            <a:avLst/>
          </a:prstGeom>
          <a:noFill/>
        </p:spPr>
        <p:txBody>
          <a:bodyPr wrap="square" lIns="13716" tIns="13716" rIns="13716" bIns="13716">
            <a:spAutoFit/>
          </a:bodyPr>
          <a:lstStyle/>
          <a:p>
            <a:pPr>
              <a:spcAft>
                <a:spcPts val="700"/>
              </a:spcAft>
              <a:defRPr sz="1700" b="0">
                <a:solidFill>
                  <a:srgbClr val="536773"/>
                </a:solidFill>
                <a:latin typeface="Aptos"/>
              </a:defRPr>
            </a:pPr>
            <a:r>
              <a:t>Gemessen: echter Snapshot vervielfacht, unveränderte Pipeline · Storage ≈ 70 % der Zeit</a:t>
            </a:r>
          </a:p>
        </p:txBody>
      </p:sp>
      <p:sp>
        <p:nvSpPr>
          <p:cNvPr id="6" name="TextBox 5"/>
          <p:cNvSpPr txBox="1"/>
          <p:nvPr/>
        </p:nvSpPr>
        <p:spPr>
          <a:xfrm>
            <a:off x="548640" y="6519672"/>
            <a:ext cx="9966960" cy="182880"/>
          </a:xfrm>
          <a:prstGeom prst="rect">
            <a:avLst/>
          </a:prstGeom>
          <a:noFill/>
        </p:spPr>
        <p:txBody>
          <a:bodyPr wrap="square" lIns="13716" tIns="13716" rIns="13716" bIns="13716">
            <a:spAutoFit/>
          </a:bodyPr>
          <a:lstStyle/>
          <a:p>
            <a:pPr>
              <a:spcAft>
                <a:spcPts val="700"/>
              </a:spcAft>
              <a:defRPr sz="900" b="0">
                <a:solidFill>
                  <a:srgbClr val="536773"/>
                </a:solidFill>
                <a:latin typeface="Aptos"/>
              </a:defRPr>
            </a:pPr>
            <a:r>
              <a:t>ZHAW · Data Engineering HS26 · Souto / Fawaz / Muslija</a:t>
            </a:r>
          </a:p>
        </p:txBody>
      </p:sp>
      <p:sp>
        <p:nvSpPr>
          <p:cNvPr id="7" name="TextBox 6"/>
          <p:cNvSpPr txBox="1"/>
          <p:nvPr/>
        </p:nvSpPr>
        <p:spPr>
          <a:xfrm>
            <a:off x="10991088" y="6473952"/>
            <a:ext cx="640080" cy="274320"/>
          </a:xfrm>
          <a:prstGeom prst="rect">
            <a:avLst/>
          </a:prstGeom>
          <a:noFill/>
        </p:spPr>
        <p:txBody>
          <a:bodyPr wrap="square" lIns="13716" tIns="13716" rIns="13716" bIns="13716">
            <a:spAutoFit/>
          </a:bodyPr>
          <a:lstStyle/>
          <a:p>
            <a:pPr>
              <a:spcAft>
                <a:spcPts val="700"/>
              </a:spcAft>
              <a:defRPr sz="1100" b="1">
                <a:solidFill>
                  <a:srgbClr val="087E83"/>
                </a:solidFill>
                <a:latin typeface="Aptos"/>
              </a:defRPr>
            </a:pPr>
            <a:r>
              <a:t>08</a:t>
            </a:r>
          </a:p>
        </p:txBody>
      </p:sp>
      <p:sp>
        <p:nvSpPr>
          <p:cNvPr id="8" name="TextBox 7"/>
          <p:cNvSpPr txBox="1"/>
          <p:nvPr/>
        </p:nvSpPr>
        <p:spPr>
          <a:xfrm>
            <a:off x="731520" y="2258568"/>
            <a:ext cx="1463040" cy="457200"/>
          </a:xfrm>
          <a:prstGeom prst="rect">
            <a:avLst/>
          </a:prstGeom>
          <a:noFill/>
        </p:spPr>
        <p:txBody>
          <a:bodyPr wrap="square" lIns="13716" tIns="13716" rIns="13716" bIns="13716">
            <a:spAutoFit/>
          </a:bodyPr>
          <a:lstStyle/>
          <a:p>
            <a:pPr>
              <a:spcAft>
                <a:spcPts val="700"/>
              </a:spcAft>
              <a:defRPr sz="1700" b="1">
                <a:solidFill>
                  <a:srgbClr val="087E83"/>
                </a:solidFill>
                <a:latin typeface="Aptos"/>
              </a:defRPr>
            </a:pPr>
            <a:r>
              <a:t>Faktor</a:t>
            </a:r>
          </a:p>
        </p:txBody>
      </p:sp>
      <p:sp>
        <p:nvSpPr>
          <p:cNvPr id="9" name="TextBox 8"/>
          <p:cNvSpPr txBox="1"/>
          <p:nvPr/>
        </p:nvSpPr>
        <p:spPr>
          <a:xfrm>
            <a:off x="2286000" y="2258568"/>
            <a:ext cx="1691640" cy="457200"/>
          </a:xfrm>
          <a:prstGeom prst="rect">
            <a:avLst/>
          </a:prstGeom>
          <a:noFill/>
        </p:spPr>
        <p:txBody>
          <a:bodyPr wrap="square" lIns="13716" tIns="13716" rIns="13716" bIns="13716">
            <a:spAutoFit/>
          </a:bodyPr>
          <a:lstStyle/>
          <a:p>
            <a:pPr>
              <a:spcAft>
                <a:spcPts val="700"/>
              </a:spcAft>
              <a:defRPr sz="1700" b="1">
                <a:solidFill>
                  <a:srgbClr val="087E83"/>
                </a:solidFill>
                <a:latin typeface="Aptos"/>
              </a:defRPr>
            </a:pPr>
            <a:r>
              <a:t>Unfälle</a:t>
            </a:r>
          </a:p>
        </p:txBody>
      </p:sp>
      <p:sp>
        <p:nvSpPr>
          <p:cNvPr id="10" name="TextBox 9"/>
          <p:cNvSpPr txBox="1"/>
          <p:nvPr/>
        </p:nvSpPr>
        <p:spPr>
          <a:xfrm>
            <a:off x="4069080" y="2258568"/>
            <a:ext cx="1965960" cy="457200"/>
          </a:xfrm>
          <a:prstGeom prst="rect">
            <a:avLst/>
          </a:prstGeom>
          <a:noFill/>
        </p:spPr>
        <p:txBody>
          <a:bodyPr wrap="square" lIns="13716" tIns="13716" rIns="13716" bIns="13716">
            <a:spAutoFit/>
          </a:bodyPr>
          <a:lstStyle/>
          <a:p>
            <a:pPr>
              <a:spcAft>
                <a:spcPts val="700"/>
              </a:spcAft>
              <a:defRPr sz="1700" b="1">
                <a:solidFill>
                  <a:srgbClr val="087E83"/>
                </a:solidFill>
                <a:latin typeface="Aptos"/>
              </a:defRPr>
            </a:pPr>
            <a:r>
              <a:t>Transformation</a:t>
            </a:r>
          </a:p>
        </p:txBody>
      </p:sp>
      <p:sp>
        <p:nvSpPr>
          <p:cNvPr id="11" name="TextBox 10"/>
          <p:cNvSpPr txBox="1"/>
          <p:nvPr/>
        </p:nvSpPr>
        <p:spPr>
          <a:xfrm>
            <a:off x="6172200" y="2258568"/>
            <a:ext cx="1600200" cy="457200"/>
          </a:xfrm>
          <a:prstGeom prst="rect">
            <a:avLst/>
          </a:prstGeom>
          <a:noFill/>
        </p:spPr>
        <p:txBody>
          <a:bodyPr wrap="square" lIns="13716" tIns="13716" rIns="13716" bIns="13716">
            <a:spAutoFit/>
          </a:bodyPr>
          <a:lstStyle/>
          <a:p>
            <a:pPr>
              <a:spcAft>
                <a:spcPts val="700"/>
              </a:spcAft>
              <a:defRPr sz="1700" b="1">
                <a:solidFill>
                  <a:srgbClr val="087E83"/>
                </a:solidFill>
                <a:latin typeface="Aptos"/>
              </a:defRPr>
            </a:pPr>
            <a:r>
              <a:t>Storage</a:t>
            </a:r>
          </a:p>
        </p:txBody>
      </p:sp>
      <p:sp>
        <p:nvSpPr>
          <p:cNvPr id="12" name="TextBox 11"/>
          <p:cNvSpPr txBox="1"/>
          <p:nvPr/>
        </p:nvSpPr>
        <p:spPr>
          <a:xfrm>
            <a:off x="7863840" y="2258568"/>
            <a:ext cx="1463040" cy="457200"/>
          </a:xfrm>
          <a:prstGeom prst="rect">
            <a:avLst/>
          </a:prstGeom>
          <a:noFill/>
        </p:spPr>
        <p:txBody>
          <a:bodyPr wrap="square" lIns="13716" tIns="13716" rIns="13716" bIns="13716">
            <a:spAutoFit/>
          </a:bodyPr>
          <a:lstStyle/>
          <a:p>
            <a:pPr>
              <a:spcAft>
                <a:spcPts val="700"/>
              </a:spcAft>
              <a:defRPr sz="1700" b="1">
                <a:solidFill>
                  <a:srgbClr val="087E83"/>
                </a:solidFill>
                <a:latin typeface="Aptos"/>
              </a:defRPr>
            </a:pPr>
            <a:r>
              <a:t>Total</a:t>
            </a:r>
          </a:p>
        </p:txBody>
      </p:sp>
      <p:sp>
        <p:nvSpPr>
          <p:cNvPr id="13" name="TextBox 12"/>
          <p:cNvSpPr txBox="1"/>
          <p:nvPr/>
        </p:nvSpPr>
        <p:spPr>
          <a:xfrm>
            <a:off x="9418320" y="2258568"/>
            <a:ext cx="2011680" cy="457200"/>
          </a:xfrm>
          <a:prstGeom prst="rect">
            <a:avLst/>
          </a:prstGeom>
          <a:noFill/>
        </p:spPr>
        <p:txBody>
          <a:bodyPr wrap="square" lIns="13716" tIns="13716" rIns="13716" bIns="13716">
            <a:spAutoFit/>
          </a:bodyPr>
          <a:lstStyle/>
          <a:p>
            <a:pPr>
              <a:spcAft>
                <a:spcPts val="700"/>
              </a:spcAft>
              <a:defRPr sz="1700" b="1">
                <a:solidFill>
                  <a:srgbClr val="087E83"/>
                </a:solidFill>
                <a:latin typeface="Aptos"/>
              </a:defRPr>
            </a:pPr>
            <a:r>
              <a:t>Arbeitsspeicher</a:t>
            </a:r>
          </a:p>
        </p:txBody>
      </p:sp>
      <p:sp>
        <p:nvSpPr>
          <p:cNvPr id="14" name="Rectangle 13"/>
          <p:cNvSpPr/>
          <p:nvPr/>
        </p:nvSpPr>
        <p:spPr>
          <a:xfrm>
            <a:off x="548640" y="2807208"/>
            <a:ext cx="11064240" cy="5394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1520" y="2880360"/>
            <a:ext cx="1463040" cy="393192"/>
          </a:xfrm>
          <a:prstGeom prst="rect">
            <a:avLst/>
          </a:prstGeom>
          <a:noFill/>
        </p:spPr>
        <p:txBody>
          <a:bodyPr wrap="square" lIns="13716" tIns="13716" rIns="13716" bIns="13716">
            <a:spAutoFit/>
          </a:bodyPr>
          <a:lstStyle/>
          <a:p>
            <a:pPr>
              <a:spcAft>
                <a:spcPts val="700"/>
              </a:spcAft>
              <a:defRPr sz="1700" b="0">
                <a:solidFill>
                  <a:srgbClr val="102C3B"/>
                </a:solidFill>
                <a:latin typeface="Aptos"/>
              </a:defRPr>
            </a:pPr>
            <a:r>
              <a:t>1×</a:t>
            </a:r>
          </a:p>
        </p:txBody>
      </p:sp>
      <p:sp>
        <p:nvSpPr>
          <p:cNvPr id="16" name="TextBox 15"/>
          <p:cNvSpPr txBox="1"/>
          <p:nvPr/>
        </p:nvSpPr>
        <p:spPr>
          <a:xfrm>
            <a:off x="2286000" y="2880360"/>
            <a:ext cx="1691640" cy="393192"/>
          </a:xfrm>
          <a:prstGeom prst="rect">
            <a:avLst/>
          </a:prstGeom>
          <a:noFill/>
        </p:spPr>
        <p:txBody>
          <a:bodyPr wrap="square" lIns="13716" tIns="13716" rIns="13716" bIns="13716">
            <a:spAutoFit/>
          </a:bodyPr>
          <a:lstStyle/>
          <a:p>
            <a:pPr>
              <a:spcAft>
                <a:spcPts val="700"/>
              </a:spcAft>
              <a:defRPr sz="1700" b="0">
                <a:solidFill>
                  <a:srgbClr val="102C3B"/>
                </a:solidFill>
                <a:latin typeface="Aptos"/>
              </a:defRPr>
            </a:pPr>
            <a:r>
              <a:t>70’767</a:t>
            </a:r>
          </a:p>
        </p:txBody>
      </p:sp>
      <p:sp>
        <p:nvSpPr>
          <p:cNvPr id="17" name="TextBox 16"/>
          <p:cNvSpPr txBox="1"/>
          <p:nvPr/>
        </p:nvSpPr>
        <p:spPr>
          <a:xfrm>
            <a:off x="4069080" y="2880360"/>
            <a:ext cx="1965960" cy="393192"/>
          </a:xfrm>
          <a:prstGeom prst="rect">
            <a:avLst/>
          </a:prstGeom>
          <a:noFill/>
        </p:spPr>
        <p:txBody>
          <a:bodyPr wrap="square" lIns="13716" tIns="13716" rIns="13716" bIns="13716">
            <a:spAutoFit/>
          </a:bodyPr>
          <a:lstStyle/>
          <a:p>
            <a:pPr>
              <a:spcAft>
                <a:spcPts val="700"/>
              </a:spcAft>
              <a:defRPr sz="1700" b="0">
                <a:solidFill>
                  <a:srgbClr val="102C3B"/>
                </a:solidFill>
                <a:latin typeface="Aptos"/>
              </a:defRPr>
            </a:pPr>
            <a:r>
              <a:t>1,4 s</a:t>
            </a:r>
          </a:p>
        </p:txBody>
      </p:sp>
      <p:sp>
        <p:nvSpPr>
          <p:cNvPr id="18" name="TextBox 17"/>
          <p:cNvSpPr txBox="1"/>
          <p:nvPr/>
        </p:nvSpPr>
        <p:spPr>
          <a:xfrm>
            <a:off x="6172200" y="2880360"/>
            <a:ext cx="1600200" cy="393192"/>
          </a:xfrm>
          <a:prstGeom prst="rect">
            <a:avLst/>
          </a:prstGeom>
          <a:noFill/>
        </p:spPr>
        <p:txBody>
          <a:bodyPr wrap="square" lIns="13716" tIns="13716" rIns="13716" bIns="13716">
            <a:spAutoFit/>
          </a:bodyPr>
          <a:lstStyle/>
          <a:p>
            <a:pPr>
              <a:spcAft>
                <a:spcPts val="700"/>
              </a:spcAft>
              <a:defRPr sz="1700" b="0">
                <a:solidFill>
                  <a:srgbClr val="102C3B"/>
                </a:solidFill>
                <a:latin typeface="Aptos"/>
              </a:defRPr>
            </a:pPr>
            <a:r>
              <a:t>3,5 s</a:t>
            </a:r>
          </a:p>
        </p:txBody>
      </p:sp>
      <p:sp>
        <p:nvSpPr>
          <p:cNvPr id="19" name="TextBox 18"/>
          <p:cNvSpPr txBox="1"/>
          <p:nvPr/>
        </p:nvSpPr>
        <p:spPr>
          <a:xfrm>
            <a:off x="7863840" y="2880360"/>
            <a:ext cx="1463040" cy="393192"/>
          </a:xfrm>
          <a:prstGeom prst="rect">
            <a:avLst/>
          </a:prstGeom>
          <a:noFill/>
        </p:spPr>
        <p:txBody>
          <a:bodyPr wrap="square" lIns="13716" tIns="13716" rIns="13716" bIns="13716">
            <a:spAutoFit/>
          </a:bodyPr>
          <a:lstStyle/>
          <a:p>
            <a:pPr>
              <a:spcAft>
                <a:spcPts val="700"/>
              </a:spcAft>
              <a:defRPr sz="1700" b="0">
                <a:solidFill>
                  <a:srgbClr val="102C3B"/>
                </a:solidFill>
                <a:latin typeface="Aptos"/>
              </a:defRPr>
            </a:pPr>
            <a:r>
              <a:t>5,2 s</a:t>
            </a:r>
          </a:p>
        </p:txBody>
      </p:sp>
      <p:sp>
        <p:nvSpPr>
          <p:cNvPr id="20" name="TextBox 19"/>
          <p:cNvSpPr txBox="1"/>
          <p:nvPr/>
        </p:nvSpPr>
        <p:spPr>
          <a:xfrm>
            <a:off x="9418320" y="2880360"/>
            <a:ext cx="2011680" cy="393192"/>
          </a:xfrm>
          <a:prstGeom prst="rect">
            <a:avLst/>
          </a:prstGeom>
          <a:noFill/>
        </p:spPr>
        <p:txBody>
          <a:bodyPr wrap="square" lIns="13716" tIns="13716" rIns="13716" bIns="13716">
            <a:spAutoFit/>
          </a:bodyPr>
          <a:lstStyle/>
          <a:p>
            <a:pPr>
              <a:spcAft>
                <a:spcPts val="700"/>
              </a:spcAft>
              <a:defRPr sz="1700" b="0">
                <a:solidFill>
                  <a:srgbClr val="102C3B"/>
                </a:solidFill>
                <a:latin typeface="Aptos"/>
              </a:defRPr>
            </a:pPr>
            <a:r>
              <a:t>304 MB</a:t>
            </a:r>
          </a:p>
        </p:txBody>
      </p:sp>
      <p:sp>
        <p:nvSpPr>
          <p:cNvPr id="21" name="Rectangle 20"/>
          <p:cNvSpPr/>
          <p:nvPr/>
        </p:nvSpPr>
        <p:spPr>
          <a:xfrm>
            <a:off x="548640" y="3392424"/>
            <a:ext cx="11064240" cy="539496"/>
          </a:xfrm>
          <a:prstGeom prst="rect">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31520" y="3465576"/>
            <a:ext cx="1463040" cy="393192"/>
          </a:xfrm>
          <a:prstGeom prst="rect">
            <a:avLst/>
          </a:prstGeom>
          <a:noFill/>
        </p:spPr>
        <p:txBody>
          <a:bodyPr wrap="square" lIns="13716" tIns="13716" rIns="13716" bIns="13716">
            <a:spAutoFit/>
          </a:bodyPr>
          <a:lstStyle/>
          <a:p>
            <a:pPr>
              <a:spcAft>
                <a:spcPts val="700"/>
              </a:spcAft>
              <a:defRPr sz="1700" b="0">
                <a:solidFill>
                  <a:srgbClr val="102C3B"/>
                </a:solidFill>
                <a:latin typeface="Aptos"/>
              </a:defRPr>
            </a:pPr>
            <a:r>
              <a:t>2×</a:t>
            </a:r>
          </a:p>
        </p:txBody>
      </p:sp>
      <p:sp>
        <p:nvSpPr>
          <p:cNvPr id="23" name="TextBox 22"/>
          <p:cNvSpPr txBox="1"/>
          <p:nvPr/>
        </p:nvSpPr>
        <p:spPr>
          <a:xfrm>
            <a:off x="2286000" y="3465576"/>
            <a:ext cx="1691640" cy="393192"/>
          </a:xfrm>
          <a:prstGeom prst="rect">
            <a:avLst/>
          </a:prstGeom>
          <a:noFill/>
        </p:spPr>
        <p:txBody>
          <a:bodyPr wrap="square" lIns="13716" tIns="13716" rIns="13716" bIns="13716">
            <a:spAutoFit/>
          </a:bodyPr>
          <a:lstStyle/>
          <a:p>
            <a:pPr>
              <a:spcAft>
                <a:spcPts val="700"/>
              </a:spcAft>
              <a:defRPr sz="1700" b="0">
                <a:solidFill>
                  <a:srgbClr val="102C3B"/>
                </a:solidFill>
                <a:latin typeface="Aptos"/>
              </a:defRPr>
            </a:pPr>
            <a:r>
              <a:t>141’534</a:t>
            </a:r>
          </a:p>
        </p:txBody>
      </p:sp>
      <p:sp>
        <p:nvSpPr>
          <p:cNvPr id="24" name="TextBox 23"/>
          <p:cNvSpPr txBox="1"/>
          <p:nvPr/>
        </p:nvSpPr>
        <p:spPr>
          <a:xfrm>
            <a:off x="4069080" y="3465576"/>
            <a:ext cx="1965960" cy="393192"/>
          </a:xfrm>
          <a:prstGeom prst="rect">
            <a:avLst/>
          </a:prstGeom>
          <a:noFill/>
        </p:spPr>
        <p:txBody>
          <a:bodyPr wrap="square" lIns="13716" tIns="13716" rIns="13716" bIns="13716">
            <a:spAutoFit/>
          </a:bodyPr>
          <a:lstStyle/>
          <a:p>
            <a:pPr>
              <a:spcAft>
                <a:spcPts val="700"/>
              </a:spcAft>
              <a:defRPr sz="1700" b="0">
                <a:solidFill>
                  <a:srgbClr val="102C3B"/>
                </a:solidFill>
                <a:latin typeface="Aptos"/>
              </a:defRPr>
            </a:pPr>
            <a:r>
              <a:t>2,9 s</a:t>
            </a:r>
          </a:p>
        </p:txBody>
      </p:sp>
      <p:sp>
        <p:nvSpPr>
          <p:cNvPr id="25" name="TextBox 24"/>
          <p:cNvSpPr txBox="1"/>
          <p:nvPr/>
        </p:nvSpPr>
        <p:spPr>
          <a:xfrm>
            <a:off x="6172200" y="3465576"/>
            <a:ext cx="1600200" cy="393192"/>
          </a:xfrm>
          <a:prstGeom prst="rect">
            <a:avLst/>
          </a:prstGeom>
          <a:noFill/>
        </p:spPr>
        <p:txBody>
          <a:bodyPr wrap="square" lIns="13716" tIns="13716" rIns="13716" bIns="13716">
            <a:spAutoFit/>
          </a:bodyPr>
          <a:lstStyle/>
          <a:p>
            <a:pPr>
              <a:spcAft>
                <a:spcPts val="700"/>
              </a:spcAft>
              <a:defRPr sz="1700" b="0">
                <a:solidFill>
                  <a:srgbClr val="102C3B"/>
                </a:solidFill>
                <a:latin typeface="Aptos"/>
              </a:defRPr>
            </a:pPr>
            <a:r>
              <a:t>6,2 s</a:t>
            </a:r>
          </a:p>
        </p:txBody>
      </p:sp>
      <p:sp>
        <p:nvSpPr>
          <p:cNvPr id="26" name="TextBox 25"/>
          <p:cNvSpPr txBox="1"/>
          <p:nvPr/>
        </p:nvSpPr>
        <p:spPr>
          <a:xfrm>
            <a:off x="7863840" y="3465576"/>
            <a:ext cx="1463040" cy="393192"/>
          </a:xfrm>
          <a:prstGeom prst="rect">
            <a:avLst/>
          </a:prstGeom>
          <a:noFill/>
        </p:spPr>
        <p:txBody>
          <a:bodyPr wrap="square" lIns="13716" tIns="13716" rIns="13716" bIns="13716">
            <a:spAutoFit/>
          </a:bodyPr>
          <a:lstStyle/>
          <a:p>
            <a:pPr>
              <a:spcAft>
                <a:spcPts val="700"/>
              </a:spcAft>
              <a:defRPr sz="1700" b="0">
                <a:solidFill>
                  <a:srgbClr val="102C3B"/>
                </a:solidFill>
                <a:latin typeface="Aptos"/>
              </a:defRPr>
            </a:pPr>
            <a:r>
              <a:t>9,6 s</a:t>
            </a:r>
          </a:p>
        </p:txBody>
      </p:sp>
      <p:sp>
        <p:nvSpPr>
          <p:cNvPr id="27" name="TextBox 26"/>
          <p:cNvSpPr txBox="1"/>
          <p:nvPr/>
        </p:nvSpPr>
        <p:spPr>
          <a:xfrm>
            <a:off x="9418320" y="3465576"/>
            <a:ext cx="2011680" cy="393192"/>
          </a:xfrm>
          <a:prstGeom prst="rect">
            <a:avLst/>
          </a:prstGeom>
          <a:noFill/>
        </p:spPr>
        <p:txBody>
          <a:bodyPr wrap="square" lIns="13716" tIns="13716" rIns="13716" bIns="13716">
            <a:spAutoFit/>
          </a:bodyPr>
          <a:lstStyle/>
          <a:p>
            <a:pPr>
              <a:spcAft>
                <a:spcPts val="700"/>
              </a:spcAft>
              <a:defRPr sz="1700" b="0">
                <a:solidFill>
                  <a:srgbClr val="102C3B"/>
                </a:solidFill>
                <a:latin typeface="Aptos"/>
              </a:defRPr>
            </a:pPr>
            <a:r>
              <a:rPr dirty="0"/>
              <a:t>440 MB</a:t>
            </a:r>
          </a:p>
        </p:txBody>
      </p:sp>
      <p:sp>
        <p:nvSpPr>
          <p:cNvPr id="28" name="Rectangle 27"/>
          <p:cNvSpPr/>
          <p:nvPr/>
        </p:nvSpPr>
        <p:spPr>
          <a:xfrm>
            <a:off x="548640" y="3977639"/>
            <a:ext cx="11064240" cy="5394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31520" y="4050791"/>
            <a:ext cx="1463040" cy="393192"/>
          </a:xfrm>
          <a:prstGeom prst="rect">
            <a:avLst/>
          </a:prstGeom>
          <a:noFill/>
        </p:spPr>
        <p:txBody>
          <a:bodyPr wrap="square" lIns="13716" tIns="13716" rIns="13716" bIns="13716">
            <a:spAutoFit/>
          </a:bodyPr>
          <a:lstStyle/>
          <a:p>
            <a:pPr>
              <a:spcAft>
                <a:spcPts val="700"/>
              </a:spcAft>
              <a:defRPr sz="1700" b="0">
                <a:solidFill>
                  <a:srgbClr val="102C3B"/>
                </a:solidFill>
                <a:latin typeface="Aptos"/>
              </a:defRPr>
            </a:pPr>
            <a:r>
              <a:t>5×</a:t>
            </a:r>
          </a:p>
        </p:txBody>
      </p:sp>
      <p:sp>
        <p:nvSpPr>
          <p:cNvPr id="30" name="TextBox 29"/>
          <p:cNvSpPr txBox="1"/>
          <p:nvPr/>
        </p:nvSpPr>
        <p:spPr>
          <a:xfrm>
            <a:off x="2286000" y="4050791"/>
            <a:ext cx="1691640" cy="393192"/>
          </a:xfrm>
          <a:prstGeom prst="rect">
            <a:avLst/>
          </a:prstGeom>
          <a:noFill/>
        </p:spPr>
        <p:txBody>
          <a:bodyPr wrap="square" lIns="13716" tIns="13716" rIns="13716" bIns="13716">
            <a:spAutoFit/>
          </a:bodyPr>
          <a:lstStyle/>
          <a:p>
            <a:pPr>
              <a:spcAft>
                <a:spcPts val="700"/>
              </a:spcAft>
              <a:defRPr sz="1700" b="0">
                <a:solidFill>
                  <a:srgbClr val="102C3B"/>
                </a:solidFill>
                <a:latin typeface="Aptos"/>
              </a:defRPr>
            </a:pPr>
            <a:r>
              <a:t>353’835</a:t>
            </a:r>
          </a:p>
        </p:txBody>
      </p:sp>
      <p:sp>
        <p:nvSpPr>
          <p:cNvPr id="31" name="TextBox 30"/>
          <p:cNvSpPr txBox="1"/>
          <p:nvPr/>
        </p:nvSpPr>
        <p:spPr>
          <a:xfrm>
            <a:off x="4069080" y="4050791"/>
            <a:ext cx="1965960" cy="393192"/>
          </a:xfrm>
          <a:prstGeom prst="rect">
            <a:avLst/>
          </a:prstGeom>
          <a:noFill/>
        </p:spPr>
        <p:txBody>
          <a:bodyPr wrap="square" lIns="13716" tIns="13716" rIns="13716" bIns="13716">
            <a:spAutoFit/>
          </a:bodyPr>
          <a:lstStyle/>
          <a:p>
            <a:pPr>
              <a:spcAft>
                <a:spcPts val="700"/>
              </a:spcAft>
              <a:defRPr sz="1700" b="0">
                <a:solidFill>
                  <a:srgbClr val="102C3B"/>
                </a:solidFill>
                <a:latin typeface="Aptos"/>
              </a:defRPr>
            </a:pPr>
            <a:r>
              <a:t>7,1 s</a:t>
            </a:r>
          </a:p>
        </p:txBody>
      </p:sp>
      <p:sp>
        <p:nvSpPr>
          <p:cNvPr id="32" name="TextBox 31"/>
          <p:cNvSpPr txBox="1"/>
          <p:nvPr/>
        </p:nvSpPr>
        <p:spPr>
          <a:xfrm>
            <a:off x="6172200" y="4050791"/>
            <a:ext cx="1600200" cy="393192"/>
          </a:xfrm>
          <a:prstGeom prst="rect">
            <a:avLst/>
          </a:prstGeom>
          <a:noFill/>
        </p:spPr>
        <p:txBody>
          <a:bodyPr wrap="square" lIns="13716" tIns="13716" rIns="13716" bIns="13716">
            <a:spAutoFit/>
          </a:bodyPr>
          <a:lstStyle/>
          <a:p>
            <a:pPr>
              <a:spcAft>
                <a:spcPts val="700"/>
              </a:spcAft>
              <a:defRPr sz="1700" b="0">
                <a:solidFill>
                  <a:srgbClr val="102C3B"/>
                </a:solidFill>
                <a:latin typeface="Aptos"/>
              </a:defRPr>
            </a:pPr>
            <a:r>
              <a:t>18,9 s</a:t>
            </a:r>
          </a:p>
        </p:txBody>
      </p:sp>
      <p:sp>
        <p:nvSpPr>
          <p:cNvPr id="33" name="TextBox 32"/>
          <p:cNvSpPr txBox="1"/>
          <p:nvPr/>
        </p:nvSpPr>
        <p:spPr>
          <a:xfrm>
            <a:off x="7863840" y="4050791"/>
            <a:ext cx="1463040" cy="393192"/>
          </a:xfrm>
          <a:prstGeom prst="rect">
            <a:avLst/>
          </a:prstGeom>
          <a:noFill/>
        </p:spPr>
        <p:txBody>
          <a:bodyPr wrap="square" lIns="13716" tIns="13716" rIns="13716" bIns="13716">
            <a:spAutoFit/>
          </a:bodyPr>
          <a:lstStyle/>
          <a:p>
            <a:pPr>
              <a:spcAft>
                <a:spcPts val="700"/>
              </a:spcAft>
              <a:defRPr sz="1700" b="0">
                <a:solidFill>
                  <a:srgbClr val="102C3B"/>
                </a:solidFill>
                <a:latin typeface="Aptos"/>
              </a:defRPr>
            </a:pPr>
            <a:r>
              <a:t>27,1 s</a:t>
            </a:r>
          </a:p>
        </p:txBody>
      </p:sp>
      <p:sp>
        <p:nvSpPr>
          <p:cNvPr id="34" name="TextBox 33"/>
          <p:cNvSpPr txBox="1"/>
          <p:nvPr/>
        </p:nvSpPr>
        <p:spPr>
          <a:xfrm>
            <a:off x="9418320" y="4050791"/>
            <a:ext cx="2011680" cy="393192"/>
          </a:xfrm>
          <a:prstGeom prst="rect">
            <a:avLst/>
          </a:prstGeom>
          <a:noFill/>
        </p:spPr>
        <p:txBody>
          <a:bodyPr wrap="square" lIns="13716" tIns="13716" rIns="13716" bIns="13716">
            <a:spAutoFit/>
          </a:bodyPr>
          <a:lstStyle/>
          <a:p>
            <a:pPr>
              <a:spcAft>
                <a:spcPts val="700"/>
              </a:spcAft>
              <a:defRPr sz="1700" b="0">
                <a:solidFill>
                  <a:srgbClr val="102C3B"/>
                </a:solidFill>
                <a:latin typeface="Aptos"/>
              </a:defRPr>
            </a:pPr>
            <a:r>
              <a:t>966 MB</a:t>
            </a:r>
          </a:p>
        </p:txBody>
      </p:sp>
      <p:sp>
        <p:nvSpPr>
          <p:cNvPr id="35" name="Rectangle 34"/>
          <p:cNvSpPr/>
          <p:nvPr/>
        </p:nvSpPr>
        <p:spPr>
          <a:xfrm>
            <a:off x="548640" y="4562856"/>
            <a:ext cx="11064240" cy="539496"/>
          </a:xfrm>
          <a:prstGeom prst="rect">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31520" y="4636008"/>
            <a:ext cx="1463040" cy="393192"/>
          </a:xfrm>
          <a:prstGeom prst="rect">
            <a:avLst/>
          </a:prstGeom>
          <a:noFill/>
        </p:spPr>
        <p:txBody>
          <a:bodyPr wrap="square" lIns="13716" tIns="13716" rIns="13716" bIns="13716">
            <a:spAutoFit/>
          </a:bodyPr>
          <a:lstStyle/>
          <a:p>
            <a:pPr>
              <a:spcAft>
                <a:spcPts val="700"/>
              </a:spcAft>
              <a:defRPr sz="1700" b="0">
                <a:solidFill>
                  <a:srgbClr val="102C3B"/>
                </a:solidFill>
                <a:latin typeface="Aptos"/>
              </a:defRPr>
            </a:pPr>
            <a:r>
              <a:t>10×</a:t>
            </a:r>
          </a:p>
        </p:txBody>
      </p:sp>
      <p:sp>
        <p:nvSpPr>
          <p:cNvPr id="37" name="TextBox 36"/>
          <p:cNvSpPr txBox="1"/>
          <p:nvPr/>
        </p:nvSpPr>
        <p:spPr>
          <a:xfrm>
            <a:off x="2286000" y="4636008"/>
            <a:ext cx="1691640" cy="393192"/>
          </a:xfrm>
          <a:prstGeom prst="rect">
            <a:avLst/>
          </a:prstGeom>
          <a:noFill/>
        </p:spPr>
        <p:txBody>
          <a:bodyPr wrap="square" lIns="13716" tIns="13716" rIns="13716" bIns="13716">
            <a:spAutoFit/>
          </a:bodyPr>
          <a:lstStyle/>
          <a:p>
            <a:pPr>
              <a:spcAft>
                <a:spcPts val="700"/>
              </a:spcAft>
              <a:defRPr sz="1700" b="0">
                <a:solidFill>
                  <a:srgbClr val="102C3B"/>
                </a:solidFill>
                <a:latin typeface="Aptos"/>
              </a:defRPr>
            </a:pPr>
            <a:r>
              <a:t>707’670</a:t>
            </a:r>
          </a:p>
        </p:txBody>
      </p:sp>
      <p:sp>
        <p:nvSpPr>
          <p:cNvPr id="38" name="TextBox 37"/>
          <p:cNvSpPr txBox="1"/>
          <p:nvPr/>
        </p:nvSpPr>
        <p:spPr>
          <a:xfrm>
            <a:off x="4069080" y="4636008"/>
            <a:ext cx="1965960" cy="393192"/>
          </a:xfrm>
          <a:prstGeom prst="rect">
            <a:avLst/>
          </a:prstGeom>
          <a:noFill/>
        </p:spPr>
        <p:txBody>
          <a:bodyPr wrap="square" lIns="13716" tIns="13716" rIns="13716" bIns="13716">
            <a:spAutoFit/>
          </a:bodyPr>
          <a:lstStyle/>
          <a:p>
            <a:pPr>
              <a:spcAft>
                <a:spcPts val="700"/>
              </a:spcAft>
              <a:defRPr sz="1700" b="0">
                <a:solidFill>
                  <a:srgbClr val="102C3B"/>
                </a:solidFill>
                <a:latin typeface="Aptos"/>
              </a:defRPr>
            </a:pPr>
            <a:r>
              <a:t>14,1 s</a:t>
            </a:r>
          </a:p>
        </p:txBody>
      </p:sp>
      <p:sp>
        <p:nvSpPr>
          <p:cNvPr id="39" name="TextBox 38"/>
          <p:cNvSpPr txBox="1"/>
          <p:nvPr/>
        </p:nvSpPr>
        <p:spPr>
          <a:xfrm>
            <a:off x="6172200" y="4636008"/>
            <a:ext cx="1600200" cy="393192"/>
          </a:xfrm>
          <a:prstGeom prst="rect">
            <a:avLst/>
          </a:prstGeom>
          <a:noFill/>
        </p:spPr>
        <p:txBody>
          <a:bodyPr wrap="square" lIns="13716" tIns="13716" rIns="13716" bIns="13716">
            <a:spAutoFit/>
          </a:bodyPr>
          <a:lstStyle/>
          <a:p>
            <a:pPr>
              <a:spcAft>
                <a:spcPts val="700"/>
              </a:spcAft>
              <a:defRPr sz="1700" b="0">
                <a:solidFill>
                  <a:srgbClr val="102C3B"/>
                </a:solidFill>
                <a:latin typeface="Aptos"/>
              </a:defRPr>
            </a:pPr>
            <a:r>
              <a:t>39,9 s</a:t>
            </a:r>
          </a:p>
        </p:txBody>
      </p:sp>
      <p:sp>
        <p:nvSpPr>
          <p:cNvPr id="40" name="TextBox 39"/>
          <p:cNvSpPr txBox="1"/>
          <p:nvPr/>
        </p:nvSpPr>
        <p:spPr>
          <a:xfrm>
            <a:off x="7863840" y="4636008"/>
            <a:ext cx="1463040" cy="393192"/>
          </a:xfrm>
          <a:prstGeom prst="rect">
            <a:avLst/>
          </a:prstGeom>
          <a:noFill/>
        </p:spPr>
        <p:txBody>
          <a:bodyPr wrap="square" lIns="13716" tIns="13716" rIns="13716" bIns="13716">
            <a:spAutoFit/>
          </a:bodyPr>
          <a:lstStyle/>
          <a:p>
            <a:pPr>
              <a:spcAft>
                <a:spcPts val="700"/>
              </a:spcAft>
              <a:defRPr sz="1700" b="0">
                <a:solidFill>
                  <a:srgbClr val="102C3B"/>
                </a:solidFill>
                <a:latin typeface="Aptos"/>
              </a:defRPr>
            </a:pPr>
            <a:r>
              <a:t>56,2 s</a:t>
            </a:r>
          </a:p>
        </p:txBody>
      </p:sp>
      <p:sp>
        <p:nvSpPr>
          <p:cNvPr id="41" name="TextBox 40"/>
          <p:cNvSpPr txBox="1"/>
          <p:nvPr/>
        </p:nvSpPr>
        <p:spPr>
          <a:xfrm>
            <a:off x="9418320" y="4636008"/>
            <a:ext cx="2011680" cy="393192"/>
          </a:xfrm>
          <a:prstGeom prst="rect">
            <a:avLst/>
          </a:prstGeom>
          <a:noFill/>
        </p:spPr>
        <p:txBody>
          <a:bodyPr wrap="square" lIns="13716" tIns="13716" rIns="13716" bIns="13716">
            <a:spAutoFit/>
          </a:bodyPr>
          <a:lstStyle/>
          <a:p>
            <a:pPr>
              <a:spcAft>
                <a:spcPts val="700"/>
              </a:spcAft>
              <a:defRPr sz="1700" b="0">
                <a:solidFill>
                  <a:srgbClr val="102C3B"/>
                </a:solidFill>
                <a:latin typeface="Aptos"/>
              </a:defRPr>
            </a:pPr>
            <a:r>
              <a:t>1’835 MB</a:t>
            </a:r>
          </a:p>
        </p:txBody>
      </p:sp>
      <p:sp>
        <p:nvSpPr>
          <p:cNvPr id="42" name="Rounded Rectangle 41"/>
          <p:cNvSpPr/>
          <p:nvPr/>
        </p:nvSpPr>
        <p:spPr>
          <a:xfrm>
            <a:off x="548640" y="5806440"/>
            <a:ext cx="11064240" cy="484632"/>
          </a:xfrm>
          <a:prstGeom prst="roundRect">
            <a:avLst>
              <a:gd name="adj" fmla="val 8000"/>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740664" y="5888736"/>
            <a:ext cx="10652760" cy="329184"/>
          </a:xfrm>
          <a:prstGeom prst="rect">
            <a:avLst/>
          </a:prstGeom>
          <a:noFill/>
        </p:spPr>
        <p:txBody>
          <a:bodyPr wrap="square" lIns="13716" tIns="13716" rIns="13716" bIns="13716">
            <a:spAutoFit/>
          </a:bodyPr>
          <a:lstStyle/>
          <a:p>
            <a:pPr>
              <a:spcAft>
                <a:spcPts val="700"/>
              </a:spcAft>
              <a:defRPr sz="1700" b="1">
                <a:solidFill>
                  <a:srgbClr val="102C3B"/>
                </a:solidFill>
                <a:latin typeface="Aptos"/>
              </a:defRPr>
            </a:pPr>
            <a:r>
              <a:t>Grenze ist der Arbeitsspeicher: Mit 8 GB reicht der Entwurf für das 30- bis 40-Fache.</a:t>
            </a:r>
          </a:p>
        </p:txBody>
      </p:sp>
      <p:sp>
        <p:nvSpPr>
          <p:cNvPr id="44" name="TextBox 43"/>
          <p:cNvSpPr txBox="1"/>
          <p:nvPr/>
        </p:nvSpPr>
        <p:spPr>
          <a:xfrm>
            <a:off x="566928" y="6318504"/>
            <a:ext cx="10607040" cy="173736"/>
          </a:xfrm>
          <a:prstGeom prst="rect">
            <a:avLst/>
          </a:prstGeom>
          <a:noFill/>
        </p:spPr>
        <p:txBody>
          <a:bodyPr wrap="square" lIns="13716" tIns="13716" rIns="13716" bIns="13716">
            <a:spAutoFit/>
          </a:bodyPr>
          <a:lstStyle/>
          <a:p>
            <a:pPr>
              <a:spcAft>
                <a:spcPts val="700"/>
              </a:spcAft>
              <a:defRPr sz="800" b="0">
                <a:solidFill>
                  <a:srgbClr val="536773"/>
                </a:solidFill>
                <a:latin typeface="Aptos"/>
              </a:defRPr>
            </a:pPr>
            <a:r>
              <a:t>Nachweis: src/de_projekt/benchmark.py · data/processed/scaling_benchmark.csv · macOS (Apple Silicon), Python 3.14.7, 26.10.2026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6F5"/>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0292"/>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01752"/>
            <a:ext cx="10789920" cy="292608"/>
          </a:xfrm>
          <a:prstGeom prst="rect">
            <a:avLst/>
          </a:prstGeom>
          <a:noFill/>
        </p:spPr>
        <p:txBody>
          <a:bodyPr wrap="square" lIns="13716" tIns="13716" rIns="13716" bIns="13716">
            <a:spAutoFit/>
          </a:bodyPr>
          <a:lstStyle/>
          <a:p>
            <a:pPr>
              <a:spcAft>
                <a:spcPts val="700"/>
              </a:spcAft>
              <a:defRPr sz="1050" b="1">
                <a:solidFill>
                  <a:srgbClr val="087E83"/>
                </a:solidFill>
                <a:latin typeface="Aptos"/>
              </a:defRPr>
            </a:pPr>
            <a:r>
              <a:t>08 · METHODEN</a:t>
            </a:r>
          </a:p>
        </p:txBody>
      </p:sp>
      <p:sp>
        <p:nvSpPr>
          <p:cNvPr id="4" name="TextBox 3"/>
          <p:cNvSpPr txBox="1"/>
          <p:nvPr/>
        </p:nvSpPr>
        <p:spPr>
          <a:xfrm>
            <a:off x="548640" y="795528"/>
            <a:ext cx="11064240" cy="621792"/>
          </a:xfrm>
          <a:prstGeom prst="rect">
            <a:avLst/>
          </a:prstGeom>
          <a:noFill/>
        </p:spPr>
        <p:txBody>
          <a:bodyPr wrap="square" lIns="13716" tIns="13716" rIns="13716" bIns="13716">
            <a:spAutoFit/>
          </a:bodyPr>
          <a:lstStyle/>
          <a:p>
            <a:pPr>
              <a:spcAft>
                <a:spcPts val="700"/>
              </a:spcAft>
              <a:defRPr sz="3100" b="1">
                <a:solidFill>
                  <a:srgbClr val="102C3B"/>
                </a:solidFill>
                <a:latin typeface="Aptos"/>
              </a:defRPr>
            </a:pPr>
            <a:r>
              <a:t>Wir testen Zusammenhänge und berichten ihre Stärke</a:t>
            </a:r>
          </a:p>
        </p:txBody>
      </p:sp>
      <p:sp>
        <p:nvSpPr>
          <p:cNvPr id="5" name="TextBox 4"/>
          <p:cNvSpPr txBox="1"/>
          <p:nvPr/>
        </p:nvSpPr>
        <p:spPr>
          <a:xfrm>
            <a:off x="548640" y="1490472"/>
            <a:ext cx="11064240" cy="548640"/>
          </a:xfrm>
          <a:prstGeom prst="rect">
            <a:avLst/>
          </a:prstGeom>
          <a:noFill/>
        </p:spPr>
        <p:txBody>
          <a:bodyPr wrap="square" lIns="13716" tIns="13716" rIns="13716" bIns="13716">
            <a:spAutoFit/>
          </a:bodyPr>
          <a:lstStyle/>
          <a:p>
            <a:pPr>
              <a:spcAft>
                <a:spcPts val="700"/>
              </a:spcAft>
              <a:defRPr sz="1700" b="0">
                <a:solidFill>
                  <a:srgbClr val="536773"/>
                </a:solidFill>
                <a:latin typeface="Aptos"/>
              </a:defRPr>
            </a:pPr>
            <a:r>
              <a:t>Pearson-Chi-Quadrat · α = 0,05 · Cramérs V ergänzt den p-Wert</a:t>
            </a:r>
          </a:p>
        </p:txBody>
      </p:sp>
      <p:sp>
        <p:nvSpPr>
          <p:cNvPr id="6" name="TextBox 5"/>
          <p:cNvSpPr txBox="1"/>
          <p:nvPr/>
        </p:nvSpPr>
        <p:spPr>
          <a:xfrm>
            <a:off x="548640" y="6519672"/>
            <a:ext cx="9966960" cy="182880"/>
          </a:xfrm>
          <a:prstGeom prst="rect">
            <a:avLst/>
          </a:prstGeom>
          <a:noFill/>
        </p:spPr>
        <p:txBody>
          <a:bodyPr wrap="square" lIns="13716" tIns="13716" rIns="13716" bIns="13716">
            <a:spAutoFit/>
          </a:bodyPr>
          <a:lstStyle/>
          <a:p>
            <a:pPr>
              <a:spcAft>
                <a:spcPts val="700"/>
              </a:spcAft>
              <a:defRPr sz="900" b="0">
                <a:solidFill>
                  <a:srgbClr val="536773"/>
                </a:solidFill>
                <a:latin typeface="Aptos"/>
              </a:defRPr>
            </a:pPr>
            <a:r>
              <a:t>ZHAW · Data Engineering HS26 · Souto / Fawaz / Muslija</a:t>
            </a:r>
          </a:p>
        </p:txBody>
      </p:sp>
      <p:sp>
        <p:nvSpPr>
          <p:cNvPr id="7" name="TextBox 6"/>
          <p:cNvSpPr txBox="1"/>
          <p:nvPr/>
        </p:nvSpPr>
        <p:spPr>
          <a:xfrm>
            <a:off x="10991088" y="6473952"/>
            <a:ext cx="640080" cy="274320"/>
          </a:xfrm>
          <a:prstGeom prst="rect">
            <a:avLst/>
          </a:prstGeom>
          <a:noFill/>
        </p:spPr>
        <p:txBody>
          <a:bodyPr wrap="square" lIns="13716" tIns="13716" rIns="13716" bIns="13716">
            <a:spAutoFit/>
          </a:bodyPr>
          <a:lstStyle/>
          <a:p>
            <a:pPr>
              <a:spcAft>
                <a:spcPts val="700"/>
              </a:spcAft>
              <a:defRPr sz="1100" b="1">
                <a:solidFill>
                  <a:srgbClr val="087E83"/>
                </a:solidFill>
                <a:latin typeface="Aptos"/>
              </a:defRPr>
            </a:pPr>
            <a:r>
              <a:t>09</a:t>
            </a:r>
          </a:p>
        </p:txBody>
      </p:sp>
      <p:sp>
        <p:nvSpPr>
          <p:cNvPr id="8" name="Rounded Rectangle 7"/>
          <p:cNvSpPr/>
          <p:nvPr/>
        </p:nvSpPr>
        <p:spPr>
          <a:xfrm>
            <a:off x="548640" y="2240280"/>
            <a:ext cx="5394960" cy="32278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2240280"/>
            <a:ext cx="41148" cy="3227832"/>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58952" y="2423160"/>
            <a:ext cx="5001768" cy="457200"/>
          </a:xfrm>
          <a:prstGeom prst="rect">
            <a:avLst/>
          </a:prstGeom>
          <a:noFill/>
        </p:spPr>
        <p:txBody>
          <a:bodyPr wrap="square" lIns="13716" tIns="13716" rIns="13716" bIns="13716">
            <a:spAutoFit/>
          </a:bodyPr>
          <a:lstStyle/>
          <a:p>
            <a:pPr>
              <a:spcAft>
                <a:spcPts val="700"/>
              </a:spcAft>
              <a:defRPr sz="1900" b="1">
                <a:solidFill>
                  <a:srgbClr val="087E83"/>
                </a:solidFill>
                <a:latin typeface="Aptos"/>
              </a:defRPr>
            </a:pPr>
            <a:r>
              <a:t>H1 · Zeitliche Verteilung</a:t>
            </a:r>
          </a:p>
        </p:txBody>
      </p:sp>
      <p:sp>
        <p:nvSpPr>
          <p:cNvPr id="11" name="TextBox 10"/>
          <p:cNvSpPr txBox="1"/>
          <p:nvPr/>
        </p:nvSpPr>
        <p:spPr>
          <a:xfrm>
            <a:off x="758952" y="3044952"/>
            <a:ext cx="5001768" cy="2286000"/>
          </a:xfrm>
          <a:prstGeom prst="rect">
            <a:avLst/>
          </a:prstGeom>
          <a:noFill/>
        </p:spPr>
        <p:txBody>
          <a:bodyPr wrap="square" lIns="13716" tIns="13716" rIns="13716" bIns="13716">
            <a:spAutoFit/>
          </a:bodyPr>
          <a:lstStyle/>
          <a:p>
            <a:pPr>
              <a:spcAft>
                <a:spcPts val="700"/>
              </a:spcAft>
              <a:defRPr sz="1800" b="0">
                <a:solidFill>
                  <a:srgbClr val="102C3B"/>
                </a:solidFill>
                <a:latin typeface="Aptos"/>
              </a:defRPr>
            </a:pPr>
            <a:r>
              <a:t>H0: Gleiche Stundenverteilung an</a:t>
            </a:r>
          </a:p>
          <a:p>
            <a:pPr>
              <a:spcAft>
                <a:spcPts val="700"/>
              </a:spcAft>
              <a:defRPr sz="1800" b="0">
                <a:solidFill>
                  <a:srgbClr val="102C3B"/>
                </a:solidFill>
                <a:latin typeface="Aptos"/>
              </a:defRPr>
            </a:pPr>
            <a:r>
              <a:t>Werktagen und Wochenenden.</a:t>
            </a:r>
          </a:p>
          <a:p>
            <a:pPr>
              <a:spcAft>
                <a:spcPts val="700"/>
              </a:spcAft>
              <a:defRPr sz="1800" b="0">
                <a:solidFill>
                  <a:srgbClr val="102C3B"/>
                </a:solidFill>
                <a:latin typeface="Aptos"/>
              </a:defRPr>
            </a:pPr>
            <a:r>
              <a:t>Alternative: unterschiedliche Verteilung.</a:t>
            </a:r>
          </a:p>
          <a:p>
            <a:pPr>
              <a:spcAft>
                <a:spcPts val="700"/>
              </a:spcAft>
              <a:defRPr sz="1800" b="0">
                <a:solidFill>
                  <a:srgbClr val="102C3B"/>
                </a:solidFill>
                <a:latin typeface="Aptos"/>
              </a:defRPr>
            </a:pPr>
            <a:endParaRPr/>
          </a:p>
          <a:p>
            <a:pPr>
              <a:spcAft>
                <a:spcPts val="700"/>
              </a:spcAft>
              <a:defRPr sz="1800" b="0">
                <a:solidFill>
                  <a:srgbClr val="102C3B"/>
                </a:solidFill>
                <a:latin typeface="Aptos"/>
              </a:defRPr>
            </a:pPr>
            <a:r>
              <a:t>Tabelle: 2 Gruppen × 24 Stunden</a:t>
            </a:r>
          </a:p>
          <a:p>
            <a:pPr>
              <a:spcAft>
                <a:spcPts val="700"/>
              </a:spcAft>
              <a:defRPr sz="1800" b="0">
                <a:solidFill>
                  <a:srgbClr val="102C3B"/>
                </a:solidFill>
                <a:latin typeface="Aptos"/>
              </a:defRPr>
            </a:pPr>
            <a:r>
              <a:t>Alle 70’767 Unfälle</a:t>
            </a:r>
          </a:p>
        </p:txBody>
      </p:sp>
      <p:sp>
        <p:nvSpPr>
          <p:cNvPr id="12" name="Rounded Rectangle 11"/>
          <p:cNvSpPr/>
          <p:nvPr/>
        </p:nvSpPr>
        <p:spPr>
          <a:xfrm>
            <a:off x="6217920" y="2240280"/>
            <a:ext cx="5394960" cy="32278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217920" y="2240280"/>
            <a:ext cx="41148" cy="3227832"/>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28232" y="2423160"/>
            <a:ext cx="5001768" cy="457200"/>
          </a:xfrm>
          <a:prstGeom prst="rect">
            <a:avLst/>
          </a:prstGeom>
          <a:noFill/>
        </p:spPr>
        <p:txBody>
          <a:bodyPr wrap="square" lIns="13716" tIns="13716" rIns="13716" bIns="13716">
            <a:spAutoFit/>
          </a:bodyPr>
          <a:lstStyle/>
          <a:p>
            <a:pPr>
              <a:spcAft>
                <a:spcPts val="700"/>
              </a:spcAft>
              <a:defRPr sz="1900" b="1">
                <a:solidFill>
                  <a:srgbClr val="087E83"/>
                </a:solidFill>
                <a:latin typeface="Aptos"/>
              </a:defRPr>
            </a:pPr>
            <a:r>
              <a:t>H2 · Beteiligung und Schwere</a:t>
            </a:r>
          </a:p>
        </p:txBody>
      </p:sp>
      <p:sp>
        <p:nvSpPr>
          <p:cNvPr id="15" name="TextBox 14"/>
          <p:cNvSpPr txBox="1"/>
          <p:nvPr/>
        </p:nvSpPr>
        <p:spPr>
          <a:xfrm>
            <a:off x="6428232" y="3044952"/>
            <a:ext cx="5001768" cy="2286000"/>
          </a:xfrm>
          <a:prstGeom prst="rect">
            <a:avLst/>
          </a:prstGeom>
          <a:noFill/>
        </p:spPr>
        <p:txBody>
          <a:bodyPr wrap="square" lIns="13716" tIns="13716" rIns="13716" bIns="13716">
            <a:spAutoFit/>
          </a:bodyPr>
          <a:lstStyle/>
          <a:p>
            <a:pPr>
              <a:spcAft>
                <a:spcPts val="700"/>
              </a:spcAft>
              <a:defRPr sz="1800" b="0">
                <a:solidFill>
                  <a:srgbClr val="102C3B"/>
                </a:solidFill>
                <a:latin typeface="Aptos"/>
              </a:defRPr>
            </a:pPr>
            <a:r>
              <a:t>H0: Beteiligung und Schwere unabhängig.</a:t>
            </a:r>
          </a:p>
          <a:p>
            <a:pPr>
              <a:spcAft>
                <a:spcPts val="700"/>
              </a:spcAft>
              <a:defRPr sz="1800" b="0">
                <a:solidFill>
                  <a:srgbClr val="102C3B"/>
                </a:solidFill>
                <a:latin typeface="Aptos"/>
              </a:defRPr>
            </a:pPr>
            <a:r>
              <a:t>Alternative: ein Zusammenhang besteht.</a:t>
            </a:r>
          </a:p>
          <a:p>
            <a:pPr>
              <a:spcAft>
                <a:spcPts val="700"/>
              </a:spcAft>
              <a:defRPr sz="1800" b="0">
                <a:solidFill>
                  <a:srgbClr val="102C3B"/>
                </a:solidFill>
                <a:latin typeface="Aptos"/>
              </a:defRPr>
            </a:pPr>
            <a:r>
              <a:t>Drei Tests: Fussgänger, Velo, Motorrad</a:t>
            </a:r>
          </a:p>
          <a:p>
            <a:pPr>
              <a:spcAft>
                <a:spcPts val="700"/>
              </a:spcAft>
              <a:defRPr sz="1800" b="0">
                <a:solidFill>
                  <a:srgbClr val="102C3B"/>
                </a:solidFill>
                <a:latin typeface="Aptos"/>
              </a:defRPr>
            </a:pPr>
            <a:endParaRPr/>
          </a:p>
          <a:p>
            <a:pPr>
              <a:spcAft>
                <a:spcPts val="700"/>
              </a:spcAft>
              <a:defRPr sz="1800" b="0">
                <a:solidFill>
                  <a:srgbClr val="102C3B"/>
                </a:solidFill>
                <a:latin typeface="Aptos"/>
              </a:defRPr>
            </a:pPr>
            <a:r>
              <a:t>Je 2 × 3 Zellen · 18’164 Personenschäden</a:t>
            </a:r>
          </a:p>
          <a:p>
            <a:pPr>
              <a:spcAft>
                <a:spcPts val="700"/>
              </a:spcAft>
              <a:defRPr sz="1800" b="0">
                <a:solidFill>
                  <a:srgbClr val="102C3B"/>
                </a:solidFill>
                <a:latin typeface="Aptos"/>
              </a:defRPr>
            </a:pPr>
            <a:r>
              <a:t>Holm korrigiert die drei p-Werte.</a:t>
            </a:r>
          </a:p>
        </p:txBody>
      </p:sp>
      <p:sp>
        <p:nvSpPr>
          <p:cNvPr id="16" name="Rounded Rectangle 15"/>
          <p:cNvSpPr/>
          <p:nvPr/>
        </p:nvSpPr>
        <p:spPr>
          <a:xfrm>
            <a:off x="548640" y="5806440"/>
            <a:ext cx="11064240" cy="484632"/>
          </a:xfrm>
          <a:prstGeom prst="roundRect">
            <a:avLst>
              <a:gd name="adj" fmla="val 8000"/>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40664" y="5888736"/>
            <a:ext cx="10652760" cy="329184"/>
          </a:xfrm>
          <a:prstGeom prst="rect">
            <a:avLst/>
          </a:prstGeom>
          <a:noFill/>
        </p:spPr>
        <p:txBody>
          <a:bodyPr wrap="square" lIns="13716" tIns="13716" rIns="13716" bIns="13716">
            <a:spAutoFit/>
          </a:bodyPr>
          <a:lstStyle/>
          <a:p>
            <a:pPr>
              <a:spcAft>
                <a:spcPts val="700"/>
              </a:spcAft>
              <a:defRPr sz="1700" b="1">
                <a:solidFill>
                  <a:srgbClr val="102C3B"/>
                </a:solidFill>
                <a:latin typeface="Aptos"/>
              </a:defRPr>
            </a:pPr>
            <a:r>
              <a:t>Erwartete Zellen alle &gt; 5; zeitliche Unabhängigkeit bleibt eine Modellannahme.</a:t>
            </a:r>
          </a:p>
        </p:txBody>
      </p:sp>
      <p:sp>
        <p:nvSpPr>
          <p:cNvPr id="18" name="TextBox 17"/>
          <p:cNvSpPr txBox="1"/>
          <p:nvPr/>
        </p:nvSpPr>
        <p:spPr>
          <a:xfrm>
            <a:off x="566928" y="6318504"/>
            <a:ext cx="10607040" cy="173736"/>
          </a:xfrm>
          <a:prstGeom prst="rect">
            <a:avLst/>
          </a:prstGeom>
          <a:noFill/>
        </p:spPr>
        <p:txBody>
          <a:bodyPr wrap="square" lIns="13716" tIns="13716" rIns="13716" bIns="13716">
            <a:spAutoFit/>
          </a:bodyPr>
          <a:lstStyle/>
          <a:p>
            <a:pPr>
              <a:spcAft>
                <a:spcPts val="700"/>
              </a:spcAft>
              <a:defRPr sz="800" b="0">
                <a:solidFill>
                  <a:srgbClr val="536773"/>
                </a:solidFill>
                <a:latin typeface="Aptos"/>
              </a:defRPr>
            </a:pPr>
            <a:r>
              <a:t>Methode: SciPy chi2_contingency · Holm (1979), Scandinavian Journal of Statistics 6(2), 65–70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6F5"/>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0292"/>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01752"/>
            <a:ext cx="10789920" cy="292608"/>
          </a:xfrm>
          <a:prstGeom prst="rect">
            <a:avLst/>
          </a:prstGeom>
          <a:noFill/>
        </p:spPr>
        <p:txBody>
          <a:bodyPr wrap="square" lIns="13716" tIns="13716" rIns="13716" bIns="13716">
            <a:spAutoFit/>
          </a:bodyPr>
          <a:lstStyle/>
          <a:p>
            <a:pPr>
              <a:spcAft>
                <a:spcPts val="700"/>
              </a:spcAft>
              <a:defRPr sz="1050" b="1">
                <a:solidFill>
                  <a:srgbClr val="087E83"/>
                </a:solidFill>
                <a:latin typeface="Aptos"/>
              </a:defRPr>
            </a:pPr>
            <a:r>
              <a:t>09 · ERGEBNIS F1</a:t>
            </a:r>
          </a:p>
        </p:txBody>
      </p:sp>
      <p:sp>
        <p:nvSpPr>
          <p:cNvPr id="4" name="TextBox 3"/>
          <p:cNvSpPr txBox="1"/>
          <p:nvPr/>
        </p:nvSpPr>
        <p:spPr>
          <a:xfrm>
            <a:off x="548640" y="795528"/>
            <a:ext cx="11064240" cy="621792"/>
          </a:xfrm>
          <a:prstGeom prst="rect">
            <a:avLst/>
          </a:prstGeom>
          <a:noFill/>
        </p:spPr>
        <p:txBody>
          <a:bodyPr wrap="square" lIns="13716" tIns="13716" rIns="13716" bIns="13716">
            <a:spAutoFit/>
          </a:bodyPr>
          <a:lstStyle/>
          <a:p>
            <a:pPr>
              <a:spcAft>
                <a:spcPts val="700"/>
              </a:spcAft>
              <a:defRPr sz="3100" b="1">
                <a:solidFill>
                  <a:srgbClr val="102C3B"/>
                </a:solidFill>
                <a:latin typeface="Aptos"/>
              </a:defRPr>
            </a:pPr>
            <a:r>
              <a:t>Am Wochenende verlagert sich die Stundenverteilung</a:t>
            </a:r>
          </a:p>
        </p:txBody>
      </p:sp>
      <p:sp>
        <p:nvSpPr>
          <p:cNvPr id="5" name="TextBox 4"/>
          <p:cNvSpPr txBox="1"/>
          <p:nvPr/>
        </p:nvSpPr>
        <p:spPr>
          <a:xfrm>
            <a:off x="548640" y="1490472"/>
            <a:ext cx="11064240" cy="548640"/>
          </a:xfrm>
          <a:prstGeom prst="rect">
            <a:avLst/>
          </a:prstGeom>
          <a:noFill/>
        </p:spPr>
        <p:txBody>
          <a:bodyPr wrap="square" lIns="13716" tIns="13716" rIns="13716" bIns="13716">
            <a:spAutoFit/>
          </a:bodyPr>
          <a:lstStyle/>
          <a:p>
            <a:pPr>
              <a:spcAft>
                <a:spcPts val="700"/>
              </a:spcAft>
              <a:defRPr sz="1700" b="0">
                <a:solidFill>
                  <a:srgbClr val="536773"/>
                </a:solidFill>
                <a:latin typeface="Aptos"/>
              </a:defRPr>
            </a:pPr>
            <a:r>
              <a:t>Relative Anteile innerhalb jeder Gruppe; kein blosser Vergleich von fünf mit zwei Tagen.</a:t>
            </a:r>
          </a:p>
        </p:txBody>
      </p:sp>
      <p:sp>
        <p:nvSpPr>
          <p:cNvPr id="6" name="TextBox 5"/>
          <p:cNvSpPr txBox="1"/>
          <p:nvPr/>
        </p:nvSpPr>
        <p:spPr>
          <a:xfrm>
            <a:off x="548640" y="6519672"/>
            <a:ext cx="9966960" cy="182880"/>
          </a:xfrm>
          <a:prstGeom prst="rect">
            <a:avLst/>
          </a:prstGeom>
          <a:noFill/>
        </p:spPr>
        <p:txBody>
          <a:bodyPr wrap="square" lIns="13716" tIns="13716" rIns="13716" bIns="13716">
            <a:spAutoFit/>
          </a:bodyPr>
          <a:lstStyle/>
          <a:p>
            <a:pPr>
              <a:spcAft>
                <a:spcPts val="700"/>
              </a:spcAft>
              <a:defRPr sz="900" b="0">
                <a:solidFill>
                  <a:srgbClr val="536773"/>
                </a:solidFill>
                <a:latin typeface="Aptos"/>
              </a:defRPr>
            </a:pPr>
            <a:r>
              <a:t>ZHAW · Data Engineering HS26 · Souto / Fawaz / Muslija</a:t>
            </a:r>
          </a:p>
        </p:txBody>
      </p:sp>
      <p:sp>
        <p:nvSpPr>
          <p:cNvPr id="7" name="TextBox 6"/>
          <p:cNvSpPr txBox="1"/>
          <p:nvPr/>
        </p:nvSpPr>
        <p:spPr>
          <a:xfrm>
            <a:off x="10991088" y="6473952"/>
            <a:ext cx="640080" cy="274320"/>
          </a:xfrm>
          <a:prstGeom prst="rect">
            <a:avLst/>
          </a:prstGeom>
          <a:noFill/>
        </p:spPr>
        <p:txBody>
          <a:bodyPr wrap="square" lIns="13716" tIns="13716" rIns="13716" bIns="13716">
            <a:spAutoFit/>
          </a:bodyPr>
          <a:lstStyle/>
          <a:p>
            <a:pPr>
              <a:spcAft>
                <a:spcPts val="700"/>
              </a:spcAft>
              <a:defRPr sz="1100" b="1">
                <a:solidFill>
                  <a:srgbClr val="087E83"/>
                </a:solidFill>
                <a:latin typeface="Aptos"/>
              </a:defRPr>
            </a:pPr>
            <a:r>
              <a:t>10</a:t>
            </a:r>
          </a:p>
        </p:txBody>
      </p:sp>
      <p:sp>
        <p:nvSpPr>
          <p:cNvPr id="8" name="Rounded Rectangle 7"/>
          <p:cNvSpPr/>
          <p:nvPr/>
        </p:nvSpPr>
        <p:spPr>
          <a:xfrm>
            <a:off x="548640" y="2221992"/>
            <a:ext cx="7498079" cy="34747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vortrag_f1.png"/>
          <p:cNvPicPr>
            <a:picLocks noChangeAspect="1"/>
          </p:cNvPicPr>
          <p:nvPr/>
        </p:nvPicPr>
        <p:blipFill>
          <a:blip r:embed="rId3"/>
          <a:stretch>
            <a:fillRect/>
          </a:stretch>
        </p:blipFill>
        <p:spPr>
          <a:xfrm>
            <a:off x="630936" y="2408119"/>
            <a:ext cx="7333488" cy="3084177"/>
          </a:xfrm>
          <a:prstGeom prst="rect">
            <a:avLst/>
          </a:prstGeom>
        </p:spPr>
      </p:pic>
      <p:sp>
        <p:nvSpPr>
          <p:cNvPr id="10" name="Rounded Rectangle 9"/>
          <p:cNvSpPr/>
          <p:nvPr/>
        </p:nvSpPr>
        <p:spPr>
          <a:xfrm>
            <a:off x="8257031" y="2221992"/>
            <a:ext cx="3355848" cy="34747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257031" y="2221992"/>
            <a:ext cx="41148" cy="3474720"/>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467344" y="2404872"/>
            <a:ext cx="2962656" cy="457200"/>
          </a:xfrm>
          <a:prstGeom prst="rect">
            <a:avLst/>
          </a:prstGeom>
          <a:noFill/>
        </p:spPr>
        <p:txBody>
          <a:bodyPr wrap="square" lIns="13716" tIns="13716" rIns="13716" bIns="13716">
            <a:spAutoFit/>
          </a:bodyPr>
          <a:lstStyle/>
          <a:p>
            <a:pPr>
              <a:spcAft>
                <a:spcPts val="700"/>
              </a:spcAft>
              <a:defRPr sz="1900" b="1">
                <a:solidFill>
                  <a:srgbClr val="087E83"/>
                </a:solidFill>
                <a:latin typeface="Aptos"/>
              </a:defRPr>
            </a:pPr>
            <a:r>
              <a:t>Nacht · 00–05 Uhr</a:t>
            </a:r>
          </a:p>
        </p:txBody>
      </p:sp>
      <p:sp>
        <p:nvSpPr>
          <p:cNvPr id="13" name="TextBox 12"/>
          <p:cNvSpPr txBox="1"/>
          <p:nvPr/>
        </p:nvSpPr>
        <p:spPr>
          <a:xfrm>
            <a:off x="8467344" y="3026664"/>
            <a:ext cx="2962656" cy="2532887"/>
          </a:xfrm>
          <a:prstGeom prst="rect">
            <a:avLst/>
          </a:prstGeom>
          <a:noFill/>
        </p:spPr>
        <p:txBody>
          <a:bodyPr wrap="square" lIns="13716" tIns="13716" rIns="13716" bIns="13716">
            <a:spAutoFit/>
          </a:bodyPr>
          <a:lstStyle/>
          <a:p>
            <a:pPr>
              <a:spcAft>
                <a:spcPts val="700"/>
              </a:spcAft>
              <a:defRPr sz="1700" b="0">
                <a:solidFill>
                  <a:srgbClr val="102C3B"/>
                </a:solidFill>
                <a:latin typeface="Aptos"/>
              </a:defRPr>
            </a:pPr>
            <a:r>
              <a:t>3,71 %  werktags</a:t>
            </a:r>
          </a:p>
          <a:p>
            <a:pPr>
              <a:spcAft>
                <a:spcPts val="700"/>
              </a:spcAft>
              <a:defRPr sz="1700" b="0">
                <a:solidFill>
                  <a:srgbClr val="102C3B"/>
                </a:solidFill>
                <a:latin typeface="Aptos"/>
              </a:defRPr>
            </a:pPr>
            <a:r>
              <a:t>14,63 %  am Wochenende</a:t>
            </a:r>
          </a:p>
          <a:p>
            <a:pPr>
              <a:spcAft>
                <a:spcPts val="700"/>
              </a:spcAft>
              <a:defRPr sz="1700" b="0">
                <a:solidFill>
                  <a:srgbClr val="102C3B"/>
                </a:solidFill>
                <a:latin typeface="Aptos"/>
              </a:defRPr>
            </a:pPr>
            <a:endParaRPr/>
          </a:p>
          <a:p>
            <a:pPr>
              <a:spcAft>
                <a:spcPts val="700"/>
              </a:spcAft>
              <a:defRPr sz="1700" b="0">
                <a:solidFill>
                  <a:srgbClr val="102C3B"/>
                </a:solidFill>
                <a:latin typeface="Aptos"/>
              </a:defRPr>
            </a:pPr>
            <a:r>
              <a:t>Spitzenstunde: 17 / 14 Uhr</a:t>
            </a:r>
          </a:p>
          <a:p>
            <a:pPr>
              <a:spcAft>
                <a:spcPts val="700"/>
              </a:spcAft>
              <a:defRPr sz="1700" b="0">
                <a:solidFill>
                  <a:srgbClr val="102C3B"/>
                </a:solidFill>
                <a:latin typeface="Aptos"/>
              </a:defRPr>
            </a:pPr>
            <a:r>
              <a:t>p &lt; 0,001 · V = 0,234</a:t>
            </a:r>
          </a:p>
          <a:p>
            <a:pPr>
              <a:spcAft>
                <a:spcPts val="700"/>
              </a:spcAft>
              <a:defRPr sz="1700" b="0">
                <a:solidFill>
                  <a:srgbClr val="102C3B"/>
                </a:solidFill>
                <a:latin typeface="Aptos"/>
              </a:defRPr>
            </a:pPr>
            <a:r>
              <a:t>H0 wird verworfen.</a:t>
            </a:r>
          </a:p>
        </p:txBody>
      </p:sp>
      <p:sp>
        <p:nvSpPr>
          <p:cNvPr id="14" name="Rounded Rectangle 13"/>
          <p:cNvSpPr/>
          <p:nvPr/>
        </p:nvSpPr>
        <p:spPr>
          <a:xfrm>
            <a:off x="548640" y="5806440"/>
            <a:ext cx="11064240" cy="484632"/>
          </a:xfrm>
          <a:prstGeom prst="roundRect">
            <a:avLst>
              <a:gd name="adj" fmla="val 8000"/>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40664" y="5888736"/>
            <a:ext cx="10652760" cy="329184"/>
          </a:xfrm>
          <a:prstGeom prst="rect">
            <a:avLst/>
          </a:prstGeom>
          <a:noFill/>
        </p:spPr>
        <p:txBody>
          <a:bodyPr wrap="square" lIns="13716" tIns="13716" rIns="13716" bIns="13716">
            <a:spAutoFit/>
          </a:bodyPr>
          <a:lstStyle/>
          <a:p>
            <a:pPr>
              <a:spcAft>
                <a:spcPts val="700"/>
              </a:spcAft>
              <a:defRPr sz="1700" b="1">
                <a:solidFill>
                  <a:srgbClr val="102C3B"/>
                </a:solidFill>
                <a:latin typeface="Aptos"/>
              </a:defRPr>
            </a:pPr>
            <a:r>
              <a:t>Befund: andere Verteilung registrierter Unfälle; kein höheres Risiko pro Wochenendfahrt.</a:t>
            </a:r>
          </a:p>
        </p:txBody>
      </p:sp>
      <p:sp>
        <p:nvSpPr>
          <p:cNvPr id="16" name="TextBox 15"/>
          <p:cNvSpPr txBox="1"/>
          <p:nvPr/>
        </p:nvSpPr>
        <p:spPr>
          <a:xfrm>
            <a:off x="566928" y="6318504"/>
            <a:ext cx="10607040" cy="173736"/>
          </a:xfrm>
          <a:prstGeom prst="rect">
            <a:avLst/>
          </a:prstGeom>
          <a:noFill/>
        </p:spPr>
        <p:txBody>
          <a:bodyPr wrap="square" lIns="13716" tIns="13716" rIns="13716" bIns="13716">
            <a:spAutoFit/>
          </a:bodyPr>
          <a:lstStyle/>
          <a:p>
            <a:pPr>
              <a:spcAft>
                <a:spcPts val="700"/>
              </a:spcAft>
              <a:defRPr sz="800" b="0">
                <a:solidFill>
                  <a:srgbClr val="536773"/>
                </a:solidFill>
                <a:latin typeface="Aptos"/>
              </a:defRPr>
            </a:pPr>
            <a:r>
              <a:t>Daten: Open Data Zürich / Bundesamt für Strassen ASTRA · Snapshot 13.10.2026</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6F5"/>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0292"/>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01752"/>
            <a:ext cx="10789920" cy="292608"/>
          </a:xfrm>
          <a:prstGeom prst="rect">
            <a:avLst/>
          </a:prstGeom>
          <a:noFill/>
        </p:spPr>
        <p:txBody>
          <a:bodyPr wrap="square" lIns="13716" tIns="13716" rIns="13716" bIns="13716">
            <a:spAutoFit/>
          </a:bodyPr>
          <a:lstStyle/>
          <a:p>
            <a:pPr>
              <a:spcAft>
                <a:spcPts val="700"/>
              </a:spcAft>
              <a:defRPr sz="1050" b="1">
                <a:solidFill>
                  <a:srgbClr val="087E83"/>
                </a:solidFill>
                <a:latin typeface="Aptos"/>
              </a:defRPr>
            </a:pPr>
            <a:r>
              <a:t>10 · ERGEBNIS F2</a:t>
            </a:r>
          </a:p>
        </p:txBody>
      </p:sp>
      <p:sp>
        <p:nvSpPr>
          <p:cNvPr id="4" name="TextBox 3"/>
          <p:cNvSpPr txBox="1"/>
          <p:nvPr/>
        </p:nvSpPr>
        <p:spPr>
          <a:xfrm>
            <a:off x="548640" y="795528"/>
            <a:ext cx="11064240" cy="621792"/>
          </a:xfrm>
          <a:prstGeom prst="rect">
            <a:avLst/>
          </a:prstGeom>
          <a:noFill/>
        </p:spPr>
        <p:txBody>
          <a:bodyPr wrap="square" lIns="13716" tIns="13716" rIns="13716" bIns="13716">
            <a:spAutoFit/>
          </a:bodyPr>
          <a:lstStyle/>
          <a:p>
            <a:pPr>
              <a:spcAft>
                <a:spcPts val="700"/>
              </a:spcAft>
              <a:defRPr sz="3100" b="1">
                <a:solidFill>
                  <a:srgbClr val="102C3B"/>
                </a:solidFill>
                <a:latin typeface="Aptos"/>
              </a:defRPr>
            </a:pPr>
            <a:r>
              <a:t>Beteiligung hängt mit der Unfallschwere zusammen</a:t>
            </a:r>
          </a:p>
        </p:txBody>
      </p:sp>
      <p:sp>
        <p:nvSpPr>
          <p:cNvPr id="5" name="TextBox 4"/>
          <p:cNvSpPr txBox="1"/>
          <p:nvPr/>
        </p:nvSpPr>
        <p:spPr>
          <a:xfrm>
            <a:off x="548640" y="1490472"/>
            <a:ext cx="11064240" cy="548640"/>
          </a:xfrm>
          <a:prstGeom prst="rect">
            <a:avLst/>
          </a:prstGeom>
          <a:noFill/>
        </p:spPr>
        <p:txBody>
          <a:bodyPr wrap="square" lIns="13716" tIns="13716" rIns="13716" bIns="13716">
            <a:spAutoFit/>
          </a:bodyPr>
          <a:lstStyle/>
          <a:p>
            <a:pPr>
              <a:spcAft>
                <a:spcPts val="700"/>
              </a:spcAft>
              <a:defRPr sz="1700" b="0">
                <a:solidFill>
                  <a:srgbClr val="536773"/>
                </a:solidFill>
                <a:latin typeface="Aptos"/>
              </a:defRPr>
            </a:pPr>
            <a:r>
              <a:t>Nur Personenschadenunfälle · Gezeigt: schwer / tödlich zur verständlichen Einordnung.</a:t>
            </a:r>
          </a:p>
        </p:txBody>
      </p:sp>
      <p:sp>
        <p:nvSpPr>
          <p:cNvPr id="6" name="TextBox 5"/>
          <p:cNvSpPr txBox="1"/>
          <p:nvPr/>
        </p:nvSpPr>
        <p:spPr>
          <a:xfrm>
            <a:off x="548640" y="6519672"/>
            <a:ext cx="9966960" cy="182880"/>
          </a:xfrm>
          <a:prstGeom prst="rect">
            <a:avLst/>
          </a:prstGeom>
          <a:noFill/>
        </p:spPr>
        <p:txBody>
          <a:bodyPr wrap="square" lIns="13716" tIns="13716" rIns="13716" bIns="13716">
            <a:spAutoFit/>
          </a:bodyPr>
          <a:lstStyle/>
          <a:p>
            <a:pPr>
              <a:spcAft>
                <a:spcPts val="700"/>
              </a:spcAft>
              <a:defRPr sz="900" b="0">
                <a:solidFill>
                  <a:srgbClr val="536773"/>
                </a:solidFill>
                <a:latin typeface="Aptos"/>
              </a:defRPr>
            </a:pPr>
            <a:r>
              <a:t>ZHAW · Data Engineering HS26 · Souto / Fawaz / Muslija</a:t>
            </a:r>
          </a:p>
        </p:txBody>
      </p:sp>
      <p:sp>
        <p:nvSpPr>
          <p:cNvPr id="7" name="TextBox 6"/>
          <p:cNvSpPr txBox="1"/>
          <p:nvPr/>
        </p:nvSpPr>
        <p:spPr>
          <a:xfrm>
            <a:off x="10991088" y="6473952"/>
            <a:ext cx="640080" cy="274320"/>
          </a:xfrm>
          <a:prstGeom prst="rect">
            <a:avLst/>
          </a:prstGeom>
          <a:noFill/>
        </p:spPr>
        <p:txBody>
          <a:bodyPr wrap="square" lIns="13716" tIns="13716" rIns="13716" bIns="13716">
            <a:spAutoFit/>
          </a:bodyPr>
          <a:lstStyle/>
          <a:p>
            <a:pPr>
              <a:spcAft>
                <a:spcPts val="700"/>
              </a:spcAft>
              <a:defRPr sz="1100" b="1">
                <a:solidFill>
                  <a:srgbClr val="087E83"/>
                </a:solidFill>
                <a:latin typeface="Aptos"/>
              </a:defRPr>
            </a:pPr>
            <a:r>
              <a:t>11</a:t>
            </a:r>
          </a:p>
        </p:txBody>
      </p:sp>
      <p:sp>
        <p:nvSpPr>
          <p:cNvPr id="8" name="Rounded Rectangle 7"/>
          <p:cNvSpPr/>
          <p:nvPr/>
        </p:nvSpPr>
        <p:spPr>
          <a:xfrm>
            <a:off x="548640" y="2221992"/>
            <a:ext cx="7498079" cy="34747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vortrag_f2.png"/>
          <p:cNvPicPr>
            <a:picLocks noChangeAspect="1"/>
          </p:cNvPicPr>
          <p:nvPr/>
        </p:nvPicPr>
        <p:blipFill>
          <a:blip r:embed="rId3"/>
          <a:stretch>
            <a:fillRect/>
          </a:stretch>
        </p:blipFill>
        <p:spPr>
          <a:xfrm>
            <a:off x="630936" y="2408119"/>
            <a:ext cx="7333488" cy="3084177"/>
          </a:xfrm>
          <a:prstGeom prst="rect">
            <a:avLst/>
          </a:prstGeom>
        </p:spPr>
      </p:pic>
      <p:sp>
        <p:nvSpPr>
          <p:cNvPr id="10" name="Rounded Rectangle 9"/>
          <p:cNvSpPr/>
          <p:nvPr/>
        </p:nvSpPr>
        <p:spPr>
          <a:xfrm>
            <a:off x="8257031" y="2221992"/>
            <a:ext cx="3355848" cy="34747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257031" y="2221992"/>
            <a:ext cx="41148" cy="3474720"/>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467344" y="2404872"/>
            <a:ext cx="2962656" cy="457200"/>
          </a:xfrm>
          <a:prstGeom prst="rect">
            <a:avLst/>
          </a:prstGeom>
          <a:noFill/>
        </p:spPr>
        <p:txBody>
          <a:bodyPr wrap="square" lIns="13716" tIns="13716" rIns="13716" bIns="13716">
            <a:spAutoFit/>
          </a:bodyPr>
          <a:lstStyle/>
          <a:p>
            <a:pPr>
              <a:spcAft>
                <a:spcPts val="700"/>
              </a:spcAft>
              <a:defRPr sz="1900" b="1">
                <a:solidFill>
                  <a:srgbClr val="087E83"/>
                </a:solidFill>
                <a:latin typeface="Aptos"/>
              </a:defRPr>
            </a:pPr>
            <a:r>
              <a:t>Alle drei signifikant</a:t>
            </a:r>
          </a:p>
        </p:txBody>
      </p:sp>
      <p:sp>
        <p:nvSpPr>
          <p:cNvPr id="13" name="TextBox 12"/>
          <p:cNvSpPr txBox="1"/>
          <p:nvPr/>
        </p:nvSpPr>
        <p:spPr>
          <a:xfrm>
            <a:off x="8467344" y="3026664"/>
            <a:ext cx="2962656" cy="2532887"/>
          </a:xfrm>
          <a:prstGeom prst="rect">
            <a:avLst/>
          </a:prstGeom>
          <a:noFill/>
        </p:spPr>
        <p:txBody>
          <a:bodyPr wrap="square" lIns="13716" tIns="13716" rIns="13716" bIns="13716">
            <a:spAutoFit/>
          </a:bodyPr>
          <a:lstStyle/>
          <a:p>
            <a:pPr>
              <a:spcAft>
                <a:spcPts val="700"/>
              </a:spcAft>
              <a:defRPr sz="1700" b="0">
                <a:solidFill>
                  <a:srgbClr val="102C3B"/>
                </a:solidFill>
                <a:latin typeface="Aptos"/>
              </a:defRPr>
            </a:pPr>
            <a:r>
              <a:t>Nach Holm-Korrektur</a:t>
            </a:r>
          </a:p>
          <a:p>
            <a:pPr>
              <a:spcAft>
                <a:spcPts val="700"/>
              </a:spcAft>
              <a:defRPr sz="1700" b="0">
                <a:solidFill>
                  <a:srgbClr val="102C3B"/>
                </a:solidFill>
                <a:latin typeface="Aptos"/>
              </a:defRPr>
            </a:pPr>
            <a:r>
              <a:t>Cramérs V:</a:t>
            </a:r>
          </a:p>
          <a:p>
            <a:pPr>
              <a:spcAft>
                <a:spcPts val="700"/>
              </a:spcAft>
              <a:defRPr sz="1700" b="0">
                <a:solidFill>
                  <a:srgbClr val="102C3B"/>
                </a:solidFill>
                <a:latin typeface="Aptos"/>
              </a:defRPr>
            </a:pPr>
            <a:r>
              <a:t>Fussgänger  0,104</a:t>
            </a:r>
          </a:p>
          <a:p>
            <a:pPr>
              <a:spcAft>
                <a:spcPts val="700"/>
              </a:spcAft>
              <a:defRPr sz="1700" b="0">
                <a:solidFill>
                  <a:srgbClr val="102C3B"/>
                </a:solidFill>
                <a:latin typeface="Aptos"/>
              </a:defRPr>
            </a:pPr>
            <a:r>
              <a:t>Velo               0,054</a:t>
            </a:r>
          </a:p>
          <a:p>
            <a:pPr>
              <a:spcAft>
                <a:spcPts val="700"/>
              </a:spcAft>
              <a:defRPr sz="1700" b="0">
                <a:solidFill>
                  <a:srgbClr val="102C3B"/>
                </a:solidFill>
                <a:latin typeface="Aptos"/>
              </a:defRPr>
            </a:pPr>
            <a:r>
              <a:t>Motorrad        0,036</a:t>
            </a:r>
          </a:p>
          <a:p>
            <a:pPr>
              <a:spcAft>
                <a:spcPts val="700"/>
              </a:spcAft>
              <a:defRPr sz="1700" b="0">
                <a:solidFill>
                  <a:srgbClr val="102C3B"/>
                </a:solidFill>
                <a:latin typeface="Aptos"/>
              </a:defRPr>
            </a:pPr>
            <a:r>
              <a:t>→ Kleine Assoziationen</a:t>
            </a:r>
          </a:p>
        </p:txBody>
      </p:sp>
      <p:sp>
        <p:nvSpPr>
          <p:cNvPr id="14" name="Rounded Rectangle 13"/>
          <p:cNvSpPr/>
          <p:nvPr/>
        </p:nvSpPr>
        <p:spPr>
          <a:xfrm>
            <a:off x="548640" y="5806440"/>
            <a:ext cx="11064240" cy="484632"/>
          </a:xfrm>
          <a:prstGeom prst="roundRect">
            <a:avLst>
              <a:gd name="adj" fmla="val 8000"/>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40664" y="5888736"/>
            <a:ext cx="10652760" cy="329184"/>
          </a:xfrm>
          <a:prstGeom prst="rect">
            <a:avLst/>
          </a:prstGeom>
          <a:noFill/>
        </p:spPr>
        <p:txBody>
          <a:bodyPr wrap="square" lIns="13716" tIns="13716" rIns="13716" bIns="13716">
            <a:spAutoFit/>
          </a:bodyPr>
          <a:lstStyle/>
          <a:p>
            <a:pPr>
              <a:spcAft>
                <a:spcPts val="700"/>
              </a:spcAft>
              <a:defRPr sz="1600" b="1">
                <a:solidFill>
                  <a:srgbClr val="102C3B"/>
                </a:solidFill>
                <a:latin typeface="Aptos"/>
              </a:defRPr>
            </a:pPr>
            <a:r>
              <a:t>Der Test nutzt drei Schweregrade. Beteiligung sagt nicht, welche Person verletzt wurde.</a:t>
            </a:r>
          </a:p>
        </p:txBody>
      </p:sp>
      <p:sp>
        <p:nvSpPr>
          <p:cNvPr id="16" name="TextBox 15"/>
          <p:cNvSpPr txBox="1"/>
          <p:nvPr/>
        </p:nvSpPr>
        <p:spPr>
          <a:xfrm>
            <a:off x="566928" y="6318504"/>
            <a:ext cx="10607040" cy="173736"/>
          </a:xfrm>
          <a:prstGeom prst="rect">
            <a:avLst/>
          </a:prstGeom>
          <a:noFill/>
        </p:spPr>
        <p:txBody>
          <a:bodyPr wrap="square" lIns="13716" tIns="13716" rIns="13716" bIns="13716">
            <a:spAutoFit/>
          </a:bodyPr>
          <a:lstStyle/>
          <a:p>
            <a:pPr>
              <a:spcAft>
                <a:spcPts val="700"/>
              </a:spcAft>
              <a:defRPr sz="800" b="0">
                <a:solidFill>
                  <a:srgbClr val="536773"/>
                </a:solidFill>
                <a:latin typeface="Aptos"/>
              </a:defRPr>
            </a:pPr>
            <a:r>
              <a:t>Daten: Open Data Zürich / Bundesamt für Strassen ASTRA · Snapshot 13.10.2026</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6F5"/>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0292"/>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01752"/>
            <a:ext cx="10789920" cy="292608"/>
          </a:xfrm>
          <a:prstGeom prst="rect">
            <a:avLst/>
          </a:prstGeom>
          <a:noFill/>
        </p:spPr>
        <p:txBody>
          <a:bodyPr wrap="square" lIns="13716" tIns="13716" rIns="13716" bIns="13716">
            <a:spAutoFit/>
          </a:bodyPr>
          <a:lstStyle/>
          <a:p>
            <a:pPr>
              <a:spcAft>
                <a:spcPts val="700"/>
              </a:spcAft>
              <a:defRPr sz="1050" b="1">
                <a:solidFill>
                  <a:srgbClr val="087E83"/>
                </a:solidFill>
                <a:latin typeface="Aptos"/>
              </a:defRPr>
            </a:pPr>
            <a:r>
              <a:t>11 · ERGEBNIS F3</a:t>
            </a:r>
          </a:p>
        </p:txBody>
      </p:sp>
      <p:sp>
        <p:nvSpPr>
          <p:cNvPr id="4" name="TextBox 3"/>
          <p:cNvSpPr txBox="1"/>
          <p:nvPr/>
        </p:nvSpPr>
        <p:spPr>
          <a:xfrm>
            <a:off x="548640" y="795528"/>
            <a:ext cx="11064240" cy="621792"/>
          </a:xfrm>
          <a:prstGeom prst="rect">
            <a:avLst/>
          </a:prstGeom>
          <a:noFill/>
        </p:spPr>
        <p:txBody>
          <a:bodyPr wrap="square" lIns="13716" tIns="13716" rIns="13716" bIns="13716">
            <a:spAutoFit/>
          </a:bodyPr>
          <a:lstStyle/>
          <a:p>
            <a:pPr>
              <a:spcAft>
                <a:spcPts val="700"/>
              </a:spcAft>
              <a:defRPr sz="3100" b="1">
                <a:solidFill>
                  <a:srgbClr val="102C3B"/>
                </a:solidFill>
                <a:latin typeface="Aptos"/>
              </a:defRPr>
            </a:pPr>
            <a:r>
              <a:t>Anzahl und Zusammensetzung verändern sich</a:t>
            </a:r>
          </a:p>
        </p:txBody>
      </p:sp>
      <p:sp>
        <p:nvSpPr>
          <p:cNvPr id="5" name="TextBox 4"/>
          <p:cNvSpPr txBox="1"/>
          <p:nvPr/>
        </p:nvSpPr>
        <p:spPr>
          <a:xfrm>
            <a:off x="548640" y="1490472"/>
            <a:ext cx="11064240" cy="548640"/>
          </a:xfrm>
          <a:prstGeom prst="rect">
            <a:avLst/>
          </a:prstGeom>
          <a:noFill/>
        </p:spPr>
        <p:txBody>
          <a:bodyPr wrap="square" lIns="13716" tIns="13716" rIns="13716" bIns="13716">
            <a:spAutoFit/>
          </a:bodyPr>
          <a:lstStyle/>
          <a:p>
            <a:pPr>
              <a:spcAft>
                <a:spcPts val="700"/>
              </a:spcAft>
              <a:defRPr sz="1700" b="0">
                <a:solidFill>
                  <a:srgbClr val="536773"/>
                </a:solidFill>
                <a:latin typeface="Aptos"/>
              </a:defRPr>
            </a:pPr>
            <a:r>
              <a:t>Eine Zeitreihe zeigt mehr als der Vergleich des ersten mit dem letzten Jahr.</a:t>
            </a:r>
          </a:p>
        </p:txBody>
      </p:sp>
      <p:sp>
        <p:nvSpPr>
          <p:cNvPr id="6" name="TextBox 5"/>
          <p:cNvSpPr txBox="1"/>
          <p:nvPr/>
        </p:nvSpPr>
        <p:spPr>
          <a:xfrm>
            <a:off x="548640" y="6519672"/>
            <a:ext cx="9966960" cy="182880"/>
          </a:xfrm>
          <a:prstGeom prst="rect">
            <a:avLst/>
          </a:prstGeom>
          <a:noFill/>
        </p:spPr>
        <p:txBody>
          <a:bodyPr wrap="square" lIns="13716" tIns="13716" rIns="13716" bIns="13716">
            <a:spAutoFit/>
          </a:bodyPr>
          <a:lstStyle/>
          <a:p>
            <a:pPr>
              <a:spcAft>
                <a:spcPts val="700"/>
              </a:spcAft>
              <a:defRPr sz="900" b="0">
                <a:solidFill>
                  <a:srgbClr val="536773"/>
                </a:solidFill>
                <a:latin typeface="Aptos"/>
              </a:defRPr>
            </a:pPr>
            <a:r>
              <a:t>ZHAW · Data Engineering HS26 · Souto / Fawaz / Muslija</a:t>
            </a:r>
          </a:p>
        </p:txBody>
      </p:sp>
      <p:sp>
        <p:nvSpPr>
          <p:cNvPr id="7" name="TextBox 6"/>
          <p:cNvSpPr txBox="1"/>
          <p:nvPr/>
        </p:nvSpPr>
        <p:spPr>
          <a:xfrm>
            <a:off x="10991088" y="6473952"/>
            <a:ext cx="640080" cy="274320"/>
          </a:xfrm>
          <a:prstGeom prst="rect">
            <a:avLst/>
          </a:prstGeom>
          <a:noFill/>
        </p:spPr>
        <p:txBody>
          <a:bodyPr wrap="square" lIns="13716" tIns="13716" rIns="13716" bIns="13716">
            <a:spAutoFit/>
          </a:bodyPr>
          <a:lstStyle/>
          <a:p>
            <a:pPr>
              <a:spcAft>
                <a:spcPts val="700"/>
              </a:spcAft>
              <a:defRPr sz="1100" b="1">
                <a:solidFill>
                  <a:srgbClr val="087E83"/>
                </a:solidFill>
                <a:latin typeface="Aptos"/>
              </a:defRPr>
            </a:pPr>
            <a:r>
              <a:t>12</a:t>
            </a:r>
          </a:p>
        </p:txBody>
      </p:sp>
      <p:sp>
        <p:nvSpPr>
          <p:cNvPr id="8" name="Rounded Rectangle 7"/>
          <p:cNvSpPr/>
          <p:nvPr/>
        </p:nvSpPr>
        <p:spPr>
          <a:xfrm>
            <a:off x="548640" y="2221992"/>
            <a:ext cx="11064240" cy="34747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vortrag_f3.png"/>
          <p:cNvPicPr>
            <a:picLocks noChangeAspect="1"/>
          </p:cNvPicPr>
          <p:nvPr/>
        </p:nvPicPr>
        <p:blipFill>
          <a:blip r:embed="rId3"/>
          <a:stretch>
            <a:fillRect/>
          </a:stretch>
        </p:blipFill>
        <p:spPr>
          <a:xfrm>
            <a:off x="1286255" y="2286000"/>
            <a:ext cx="9589008" cy="3319272"/>
          </a:xfrm>
          <a:prstGeom prst="rect">
            <a:avLst/>
          </a:prstGeom>
        </p:spPr>
      </p:pic>
      <p:sp>
        <p:nvSpPr>
          <p:cNvPr id="10" name="Rounded Rectangle 9"/>
          <p:cNvSpPr/>
          <p:nvPr/>
        </p:nvSpPr>
        <p:spPr>
          <a:xfrm>
            <a:off x="548640" y="5806440"/>
            <a:ext cx="11064240" cy="484632"/>
          </a:xfrm>
          <a:prstGeom prst="roundRect">
            <a:avLst>
              <a:gd name="adj" fmla="val 8000"/>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40664" y="5888736"/>
            <a:ext cx="10652760" cy="329184"/>
          </a:xfrm>
          <a:prstGeom prst="rect">
            <a:avLst/>
          </a:prstGeom>
          <a:noFill/>
        </p:spPr>
        <p:txBody>
          <a:bodyPr wrap="square" lIns="13716" tIns="13716" rIns="13716" bIns="13716">
            <a:spAutoFit/>
          </a:bodyPr>
          <a:lstStyle/>
          <a:p>
            <a:pPr>
              <a:spcAft>
                <a:spcPts val="700"/>
              </a:spcAft>
              <a:defRPr sz="1600" b="1">
                <a:solidFill>
                  <a:srgbClr val="102C3B"/>
                </a:solidFill>
                <a:latin typeface="Aptos"/>
              </a:defRPr>
            </a:pPr>
            <a:r>
              <a:t>2016 → 2025: total 5’556 → 4’714 · Personenschäden 1’262 → 1’310 · keine stetige Zunahme.</a:t>
            </a:r>
          </a:p>
        </p:txBody>
      </p:sp>
      <p:sp>
        <p:nvSpPr>
          <p:cNvPr id="12" name="TextBox 11"/>
          <p:cNvSpPr txBox="1"/>
          <p:nvPr/>
        </p:nvSpPr>
        <p:spPr>
          <a:xfrm>
            <a:off x="566928" y="6318504"/>
            <a:ext cx="10607040" cy="173736"/>
          </a:xfrm>
          <a:prstGeom prst="rect">
            <a:avLst/>
          </a:prstGeom>
          <a:noFill/>
        </p:spPr>
        <p:txBody>
          <a:bodyPr wrap="square" lIns="13716" tIns="13716" rIns="13716" bIns="13716">
            <a:spAutoFit/>
          </a:bodyPr>
          <a:lstStyle/>
          <a:p>
            <a:pPr>
              <a:spcAft>
                <a:spcPts val="700"/>
              </a:spcAft>
              <a:defRPr sz="800" b="0">
                <a:solidFill>
                  <a:srgbClr val="536773"/>
                </a:solidFill>
                <a:latin typeface="Aptos"/>
              </a:defRPr>
            </a:pPr>
            <a:r>
              <a:t>Daten: Open Data Zürich / Bundesamt für Strassen ASTRA · Snapshot 13.10.2026</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F6F5"/>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0292"/>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01752"/>
            <a:ext cx="10789920" cy="292608"/>
          </a:xfrm>
          <a:prstGeom prst="rect">
            <a:avLst/>
          </a:prstGeom>
          <a:noFill/>
        </p:spPr>
        <p:txBody>
          <a:bodyPr wrap="square" lIns="13716" tIns="13716" rIns="13716" bIns="13716">
            <a:spAutoFit/>
          </a:bodyPr>
          <a:lstStyle/>
          <a:p>
            <a:pPr>
              <a:spcAft>
                <a:spcPts val="700"/>
              </a:spcAft>
              <a:defRPr sz="1050" b="1">
                <a:solidFill>
                  <a:srgbClr val="087E83"/>
                </a:solidFill>
                <a:latin typeface="Aptos"/>
              </a:defRPr>
            </a:pPr>
            <a:r>
              <a:t>12 · QUALITÄT UND GRENZEN</a:t>
            </a:r>
          </a:p>
        </p:txBody>
      </p:sp>
      <p:sp>
        <p:nvSpPr>
          <p:cNvPr id="4" name="TextBox 3"/>
          <p:cNvSpPr txBox="1"/>
          <p:nvPr/>
        </p:nvSpPr>
        <p:spPr>
          <a:xfrm>
            <a:off x="548640" y="795528"/>
            <a:ext cx="11064240" cy="621792"/>
          </a:xfrm>
          <a:prstGeom prst="rect">
            <a:avLst/>
          </a:prstGeom>
          <a:noFill/>
        </p:spPr>
        <p:txBody>
          <a:bodyPr wrap="square" lIns="13716" tIns="13716" rIns="13716" bIns="13716">
            <a:spAutoFit/>
          </a:bodyPr>
          <a:lstStyle/>
          <a:p>
            <a:pPr>
              <a:spcAft>
                <a:spcPts val="700"/>
              </a:spcAft>
              <a:defRPr sz="3100" b="1">
                <a:solidFill>
                  <a:srgbClr val="102C3B"/>
                </a:solidFill>
                <a:latin typeface="Aptos"/>
              </a:defRPr>
            </a:pPr>
            <a:r>
              <a:t>Technisch geprüft, fachlich bewusst begrenzt</a:t>
            </a:r>
          </a:p>
        </p:txBody>
      </p:sp>
      <p:sp>
        <p:nvSpPr>
          <p:cNvPr id="5" name="TextBox 4"/>
          <p:cNvSpPr txBox="1"/>
          <p:nvPr/>
        </p:nvSpPr>
        <p:spPr>
          <a:xfrm>
            <a:off x="548640" y="1490472"/>
            <a:ext cx="11064240" cy="548640"/>
          </a:xfrm>
          <a:prstGeom prst="rect">
            <a:avLst/>
          </a:prstGeom>
          <a:noFill/>
        </p:spPr>
        <p:txBody>
          <a:bodyPr wrap="square" lIns="13716" tIns="13716" rIns="13716" bIns="13716">
            <a:spAutoFit/>
          </a:bodyPr>
          <a:lstStyle/>
          <a:p>
            <a:pPr>
              <a:spcAft>
                <a:spcPts val="700"/>
              </a:spcAft>
              <a:defRPr sz="1700" b="0">
                <a:solidFill>
                  <a:srgbClr val="536773"/>
                </a:solidFill>
                <a:latin typeface="Aptos"/>
              </a:defRPr>
            </a:pPr>
            <a:r>
              <a:t>Reproduzierbarkeit sichert den Rechenweg. Sie beseitigt keine Grenzen der Quelle.</a:t>
            </a:r>
          </a:p>
        </p:txBody>
      </p:sp>
      <p:sp>
        <p:nvSpPr>
          <p:cNvPr id="6" name="TextBox 5"/>
          <p:cNvSpPr txBox="1"/>
          <p:nvPr/>
        </p:nvSpPr>
        <p:spPr>
          <a:xfrm>
            <a:off x="548640" y="6519672"/>
            <a:ext cx="9966960" cy="182880"/>
          </a:xfrm>
          <a:prstGeom prst="rect">
            <a:avLst/>
          </a:prstGeom>
          <a:noFill/>
        </p:spPr>
        <p:txBody>
          <a:bodyPr wrap="square" lIns="13716" tIns="13716" rIns="13716" bIns="13716">
            <a:spAutoFit/>
          </a:bodyPr>
          <a:lstStyle/>
          <a:p>
            <a:pPr>
              <a:spcAft>
                <a:spcPts val="700"/>
              </a:spcAft>
              <a:defRPr sz="900" b="0">
                <a:solidFill>
                  <a:srgbClr val="536773"/>
                </a:solidFill>
                <a:latin typeface="Aptos"/>
              </a:defRPr>
            </a:pPr>
            <a:r>
              <a:t>ZHAW · Data Engineering HS26 · Souto / Fawaz / Muslija</a:t>
            </a:r>
          </a:p>
        </p:txBody>
      </p:sp>
      <p:sp>
        <p:nvSpPr>
          <p:cNvPr id="7" name="TextBox 6"/>
          <p:cNvSpPr txBox="1"/>
          <p:nvPr/>
        </p:nvSpPr>
        <p:spPr>
          <a:xfrm>
            <a:off x="10991088" y="6473952"/>
            <a:ext cx="640080" cy="274320"/>
          </a:xfrm>
          <a:prstGeom prst="rect">
            <a:avLst/>
          </a:prstGeom>
          <a:noFill/>
        </p:spPr>
        <p:txBody>
          <a:bodyPr wrap="square" lIns="13716" tIns="13716" rIns="13716" bIns="13716">
            <a:spAutoFit/>
          </a:bodyPr>
          <a:lstStyle/>
          <a:p>
            <a:pPr>
              <a:spcAft>
                <a:spcPts val="700"/>
              </a:spcAft>
              <a:defRPr sz="1100" b="1">
                <a:solidFill>
                  <a:srgbClr val="087E83"/>
                </a:solidFill>
                <a:latin typeface="Aptos"/>
              </a:defRPr>
            </a:pPr>
            <a:r>
              <a:t>13</a:t>
            </a:r>
          </a:p>
        </p:txBody>
      </p:sp>
      <p:sp>
        <p:nvSpPr>
          <p:cNvPr id="8" name="Rounded Rectangle 7"/>
          <p:cNvSpPr/>
          <p:nvPr/>
        </p:nvSpPr>
        <p:spPr>
          <a:xfrm>
            <a:off x="548640" y="2240280"/>
            <a:ext cx="5394960" cy="32461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2240280"/>
            <a:ext cx="41148" cy="3246120"/>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58952" y="2423160"/>
            <a:ext cx="5001768" cy="457200"/>
          </a:xfrm>
          <a:prstGeom prst="rect">
            <a:avLst/>
          </a:prstGeom>
          <a:noFill/>
        </p:spPr>
        <p:txBody>
          <a:bodyPr wrap="square" lIns="13716" tIns="13716" rIns="13716" bIns="13716">
            <a:spAutoFit/>
          </a:bodyPr>
          <a:lstStyle/>
          <a:p>
            <a:pPr>
              <a:spcAft>
                <a:spcPts val="700"/>
              </a:spcAft>
              <a:defRPr sz="1900" b="1">
                <a:solidFill>
                  <a:srgbClr val="087E83"/>
                </a:solidFill>
                <a:latin typeface="Aptos"/>
              </a:defRPr>
            </a:pPr>
            <a:r>
              <a:t>Was ist abgesichert?</a:t>
            </a:r>
          </a:p>
        </p:txBody>
      </p:sp>
      <p:sp>
        <p:nvSpPr>
          <p:cNvPr id="11" name="TextBox 10"/>
          <p:cNvSpPr txBox="1"/>
          <p:nvPr/>
        </p:nvSpPr>
        <p:spPr>
          <a:xfrm>
            <a:off x="758952" y="3044952"/>
            <a:ext cx="5001768" cy="2304287"/>
          </a:xfrm>
          <a:prstGeom prst="rect">
            <a:avLst/>
          </a:prstGeom>
          <a:noFill/>
        </p:spPr>
        <p:txBody>
          <a:bodyPr wrap="square" lIns="13716" tIns="13716" rIns="13716" bIns="13716">
            <a:spAutoFit/>
          </a:bodyPr>
          <a:lstStyle/>
          <a:p>
            <a:pPr>
              <a:spcAft>
                <a:spcPts val="700"/>
              </a:spcAft>
              <a:defRPr sz="1800" b="0">
                <a:solidFill>
                  <a:srgbClr val="102C3B"/>
                </a:solidFill>
                <a:latin typeface="Aptos"/>
              </a:defRPr>
            </a:pPr>
            <a:r>
              <a:rPr dirty="0"/>
              <a:t>44 Tests und </a:t>
            </a:r>
            <a:r>
              <a:rPr dirty="0" err="1"/>
              <a:t>Codeprüfung</a:t>
            </a:r>
            <a:r>
              <a:rPr dirty="0"/>
              <a:t> </a:t>
            </a:r>
            <a:r>
              <a:rPr dirty="0" err="1"/>
              <a:t>erfolgreich</a:t>
            </a:r>
            <a:endParaRPr dirty="0"/>
          </a:p>
          <a:p>
            <a:pPr>
              <a:spcAft>
                <a:spcPts val="700"/>
              </a:spcAft>
              <a:defRPr sz="1800" b="0">
                <a:solidFill>
                  <a:srgbClr val="102C3B"/>
                </a:solidFill>
                <a:latin typeface="Aptos"/>
              </a:defRPr>
            </a:pPr>
            <a:r>
              <a:rPr dirty="0"/>
              <a:t>Pipeline + </a:t>
            </a:r>
            <a:r>
              <a:rPr dirty="0" err="1"/>
              <a:t>beide</a:t>
            </a:r>
            <a:r>
              <a:rPr dirty="0"/>
              <a:t> Notebooks </a:t>
            </a:r>
            <a:r>
              <a:rPr dirty="0" err="1"/>
              <a:t>erneut</a:t>
            </a:r>
            <a:r>
              <a:rPr dirty="0"/>
              <a:t> </a:t>
            </a:r>
            <a:r>
              <a:rPr dirty="0" err="1"/>
              <a:t>geprüft</a:t>
            </a:r>
            <a:endParaRPr dirty="0"/>
          </a:p>
          <a:p>
            <a:pPr>
              <a:spcAft>
                <a:spcPts val="700"/>
              </a:spcAft>
              <a:defRPr sz="1800" b="0">
                <a:solidFill>
                  <a:srgbClr val="102C3B"/>
                </a:solidFill>
                <a:latin typeface="Aptos"/>
              </a:defRPr>
            </a:pPr>
            <a:r>
              <a:rPr dirty="0" err="1"/>
              <a:t>Ergebnisse</a:t>
            </a:r>
            <a:r>
              <a:rPr dirty="0"/>
              <a:t> </a:t>
            </a:r>
            <a:r>
              <a:rPr dirty="0" err="1"/>
              <a:t>im</a:t>
            </a:r>
            <a:r>
              <a:rPr dirty="0"/>
              <a:t> </a:t>
            </a:r>
            <a:r>
              <a:rPr dirty="0" err="1"/>
              <a:t>isolierten</a:t>
            </a:r>
            <a:r>
              <a:rPr dirty="0"/>
              <a:t> Lauf </a:t>
            </a:r>
            <a:r>
              <a:rPr dirty="0" err="1"/>
              <a:t>reproduziert</a:t>
            </a:r>
            <a:endParaRPr dirty="0"/>
          </a:p>
          <a:p>
            <a:pPr>
              <a:spcAft>
                <a:spcPts val="700"/>
              </a:spcAft>
              <a:defRPr sz="1800" b="0">
                <a:solidFill>
                  <a:srgbClr val="102C3B"/>
                </a:solidFill>
                <a:latin typeface="Aptos"/>
              </a:defRPr>
            </a:pPr>
            <a:r>
              <a:rPr dirty="0" err="1"/>
              <a:t>Prüfsummen</a:t>
            </a:r>
            <a:r>
              <a:rPr dirty="0"/>
              <a:t> und SQLite-</a:t>
            </a:r>
            <a:r>
              <a:rPr dirty="0" err="1"/>
              <a:t>Integrität</a:t>
            </a:r>
            <a:r>
              <a:rPr dirty="0"/>
              <a:t> </a:t>
            </a:r>
            <a:r>
              <a:rPr dirty="0" err="1"/>
              <a:t>geprüft</a:t>
            </a:r>
            <a:endParaRPr dirty="0"/>
          </a:p>
          <a:p>
            <a:pPr>
              <a:spcAft>
                <a:spcPts val="700"/>
              </a:spcAft>
              <a:defRPr sz="1800" b="0">
                <a:solidFill>
                  <a:srgbClr val="102C3B"/>
                </a:solidFill>
                <a:latin typeface="Aptos"/>
              </a:defRPr>
            </a:pPr>
            <a:r>
              <a:rPr dirty="0" err="1"/>
              <a:t>Fehlerfälle</a:t>
            </a:r>
            <a:r>
              <a:rPr dirty="0"/>
              <a:t>: </a:t>
            </a:r>
            <a:r>
              <a:rPr dirty="0" err="1"/>
              <a:t>ungültige</a:t>
            </a:r>
            <a:r>
              <a:rPr dirty="0"/>
              <a:t> </a:t>
            </a:r>
            <a:r>
              <a:rPr dirty="0" err="1"/>
              <a:t>Werte</a:t>
            </a:r>
            <a:r>
              <a:rPr dirty="0"/>
              <a:t>, IDs, </a:t>
            </a:r>
            <a:r>
              <a:rPr dirty="0" err="1"/>
              <a:t>Metadaten</a:t>
            </a:r>
            <a:endParaRPr dirty="0"/>
          </a:p>
        </p:txBody>
      </p:sp>
      <p:sp>
        <p:nvSpPr>
          <p:cNvPr id="12" name="Rounded Rectangle 11"/>
          <p:cNvSpPr/>
          <p:nvPr/>
        </p:nvSpPr>
        <p:spPr>
          <a:xfrm>
            <a:off x="6217920" y="2240280"/>
            <a:ext cx="5394960" cy="32461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217920" y="2240280"/>
            <a:ext cx="41148" cy="3246120"/>
          </a:xfrm>
          <a:prstGeom prst="rect">
            <a:avLst/>
          </a:prstGeom>
          <a:solidFill>
            <a:srgbClr val="C56A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28232" y="2423160"/>
            <a:ext cx="5001768" cy="457200"/>
          </a:xfrm>
          <a:prstGeom prst="rect">
            <a:avLst/>
          </a:prstGeom>
          <a:noFill/>
        </p:spPr>
        <p:txBody>
          <a:bodyPr wrap="square" lIns="13716" tIns="13716" rIns="13716" bIns="13716">
            <a:spAutoFit/>
          </a:bodyPr>
          <a:lstStyle/>
          <a:p>
            <a:pPr>
              <a:spcAft>
                <a:spcPts val="700"/>
              </a:spcAft>
              <a:defRPr sz="1900" b="1">
                <a:solidFill>
                  <a:srgbClr val="C56A35"/>
                </a:solidFill>
                <a:latin typeface="Aptos"/>
              </a:defRPr>
            </a:pPr>
            <a:r>
              <a:t>Was bleibt offen?</a:t>
            </a:r>
          </a:p>
        </p:txBody>
      </p:sp>
      <p:sp>
        <p:nvSpPr>
          <p:cNvPr id="15" name="TextBox 14"/>
          <p:cNvSpPr txBox="1"/>
          <p:nvPr/>
        </p:nvSpPr>
        <p:spPr>
          <a:xfrm>
            <a:off x="6428232" y="3044952"/>
            <a:ext cx="5001768" cy="2304287"/>
          </a:xfrm>
          <a:prstGeom prst="rect">
            <a:avLst/>
          </a:prstGeom>
          <a:noFill/>
        </p:spPr>
        <p:txBody>
          <a:bodyPr wrap="square" lIns="13716" tIns="13716" rIns="13716" bIns="13716">
            <a:spAutoFit/>
          </a:bodyPr>
          <a:lstStyle/>
          <a:p>
            <a:pPr>
              <a:spcAft>
                <a:spcPts val="700"/>
              </a:spcAft>
              <a:defRPr sz="1800" b="0">
                <a:solidFill>
                  <a:srgbClr val="102C3B"/>
                </a:solidFill>
                <a:latin typeface="Aptos"/>
              </a:defRPr>
            </a:pPr>
            <a:r>
              <a:t>Dunkelziffer nicht registrierter Unfälle</a:t>
            </a:r>
          </a:p>
          <a:p>
            <a:pPr>
              <a:spcAft>
                <a:spcPts val="700"/>
              </a:spcAft>
              <a:defRPr sz="1800" b="0">
                <a:solidFill>
                  <a:srgbClr val="102C3B"/>
                </a:solidFill>
                <a:latin typeface="Aptos"/>
              </a:defRPr>
            </a:pPr>
            <a:r>
              <a:t>Keine Verkehrsleistung / Expositionsdaten</a:t>
            </a:r>
          </a:p>
          <a:p>
            <a:pPr>
              <a:spcAft>
                <a:spcPts val="700"/>
              </a:spcAft>
              <a:defRPr sz="1800" b="0">
                <a:solidFill>
                  <a:srgbClr val="102C3B"/>
                </a:solidFill>
                <a:latin typeface="Aptos"/>
              </a:defRPr>
            </a:pPr>
            <a:r>
              <a:t>Keine kausale oder adjustierte Analyse</a:t>
            </a:r>
          </a:p>
          <a:p>
            <a:pPr>
              <a:spcAft>
                <a:spcPts val="700"/>
              </a:spcAft>
              <a:defRPr sz="1800" b="0">
                <a:solidFill>
                  <a:srgbClr val="102C3B"/>
                </a:solidFill>
                <a:latin typeface="Aptos"/>
              </a:defRPr>
            </a:pPr>
            <a:r>
              <a:t>Mögliche zeitliche Abhängigkeiten</a:t>
            </a:r>
          </a:p>
          <a:p>
            <a:pPr>
              <a:spcAft>
                <a:spcPts val="700"/>
              </a:spcAft>
              <a:defRPr sz="1800" b="0">
                <a:solidFill>
                  <a:srgbClr val="102C3B"/>
                </a:solidFill>
                <a:latin typeface="Aptos"/>
              </a:defRPr>
            </a:pPr>
            <a:r>
              <a:t>Erfassungsbruch und Definitionsdiskrepanz</a:t>
            </a:r>
          </a:p>
        </p:txBody>
      </p:sp>
      <p:sp>
        <p:nvSpPr>
          <p:cNvPr id="16" name="Rounded Rectangle 15"/>
          <p:cNvSpPr/>
          <p:nvPr/>
        </p:nvSpPr>
        <p:spPr>
          <a:xfrm>
            <a:off x="548640" y="5806440"/>
            <a:ext cx="11064240" cy="484632"/>
          </a:xfrm>
          <a:prstGeom prst="roundRect">
            <a:avLst>
              <a:gd name="adj" fmla="val 8000"/>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40664" y="5888736"/>
            <a:ext cx="10652760" cy="329184"/>
          </a:xfrm>
          <a:prstGeom prst="rect">
            <a:avLst/>
          </a:prstGeom>
          <a:noFill/>
        </p:spPr>
        <p:txBody>
          <a:bodyPr wrap="square" lIns="13716" tIns="13716" rIns="13716" bIns="13716">
            <a:spAutoFit/>
          </a:bodyPr>
          <a:lstStyle/>
          <a:p>
            <a:pPr>
              <a:spcAft>
                <a:spcPts val="700"/>
              </a:spcAft>
              <a:defRPr sz="1700" b="1">
                <a:solidFill>
                  <a:srgbClr val="102C3B"/>
                </a:solidFill>
                <a:latin typeface="Aptos"/>
              </a:defRPr>
            </a:pPr>
            <a:r>
              <a:t>Nachvollziehbare Schlussfolgerungen statt unbelegter Risiko- oder Ursachenbehauptungen.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4F6F5"/>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0292"/>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01752"/>
            <a:ext cx="10789920" cy="292608"/>
          </a:xfrm>
          <a:prstGeom prst="rect">
            <a:avLst/>
          </a:prstGeom>
          <a:noFill/>
        </p:spPr>
        <p:txBody>
          <a:bodyPr wrap="square" lIns="13716" tIns="13716" rIns="13716" bIns="13716">
            <a:spAutoFit/>
          </a:bodyPr>
          <a:lstStyle/>
          <a:p>
            <a:pPr>
              <a:spcAft>
                <a:spcPts val="700"/>
              </a:spcAft>
              <a:defRPr sz="1050" b="1">
                <a:solidFill>
                  <a:srgbClr val="087E83"/>
                </a:solidFill>
                <a:latin typeface="Aptos"/>
              </a:defRPr>
            </a:pPr>
            <a:r>
              <a:t>13 · ANTWORTEN AUF DIE FORSCHUNGSFRAGEN</a:t>
            </a:r>
          </a:p>
        </p:txBody>
      </p:sp>
      <p:sp>
        <p:nvSpPr>
          <p:cNvPr id="4" name="TextBox 3"/>
          <p:cNvSpPr txBox="1"/>
          <p:nvPr/>
        </p:nvSpPr>
        <p:spPr>
          <a:xfrm>
            <a:off x="548640" y="795528"/>
            <a:ext cx="11064240" cy="621792"/>
          </a:xfrm>
          <a:prstGeom prst="rect">
            <a:avLst/>
          </a:prstGeom>
          <a:noFill/>
        </p:spPr>
        <p:txBody>
          <a:bodyPr wrap="square" lIns="13716" tIns="13716" rIns="13716" bIns="13716">
            <a:spAutoFit/>
          </a:bodyPr>
          <a:lstStyle/>
          <a:p>
            <a:pPr>
              <a:spcAft>
                <a:spcPts val="700"/>
              </a:spcAft>
              <a:defRPr sz="3100" b="1">
                <a:solidFill>
                  <a:srgbClr val="102C3B"/>
                </a:solidFill>
                <a:latin typeface="Aptos"/>
              </a:defRPr>
            </a:pPr>
            <a:r>
              <a:t>Drei Antworten auf einer nachvollziehbaren Grundlage</a:t>
            </a:r>
          </a:p>
        </p:txBody>
      </p:sp>
      <p:sp>
        <p:nvSpPr>
          <p:cNvPr id="5" name="TextBox 4"/>
          <p:cNvSpPr txBox="1"/>
          <p:nvPr/>
        </p:nvSpPr>
        <p:spPr>
          <a:xfrm>
            <a:off x="548640" y="1490472"/>
            <a:ext cx="11064240" cy="548640"/>
          </a:xfrm>
          <a:prstGeom prst="rect">
            <a:avLst/>
          </a:prstGeom>
          <a:noFill/>
        </p:spPr>
        <p:txBody>
          <a:bodyPr wrap="square" lIns="13716" tIns="13716" rIns="13716" bIns="13716">
            <a:spAutoFit/>
          </a:bodyPr>
          <a:lstStyle/>
          <a:p>
            <a:pPr>
              <a:spcAft>
                <a:spcPts val="700"/>
              </a:spcAft>
              <a:defRPr sz="1700" b="0">
                <a:solidFill>
                  <a:srgbClr val="536773"/>
                </a:solidFill>
                <a:latin typeface="Aptos"/>
              </a:defRPr>
            </a:pPr>
            <a:r>
              <a:t>Der Mehrwert liegt in fachlich eingeordneten Ergebnissen und einer überprüfbaren Verarbeitung.</a:t>
            </a:r>
          </a:p>
        </p:txBody>
      </p:sp>
      <p:sp>
        <p:nvSpPr>
          <p:cNvPr id="6" name="TextBox 5"/>
          <p:cNvSpPr txBox="1"/>
          <p:nvPr/>
        </p:nvSpPr>
        <p:spPr>
          <a:xfrm>
            <a:off x="548640" y="6519672"/>
            <a:ext cx="9966960" cy="182880"/>
          </a:xfrm>
          <a:prstGeom prst="rect">
            <a:avLst/>
          </a:prstGeom>
          <a:noFill/>
        </p:spPr>
        <p:txBody>
          <a:bodyPr wrap="square" lIns="13716" tIns="13716" rIns="13716" bIns="13716">
            <a:spAutoFit/>
          </a:bodyPr>
          <a:lstStyle/>
          <a:p>
            <a:pPr>
              <a:spcAft>
                <a:spcPts val="700"/>
              </a:spcAft>
              <a:defRPr sz="900" b="0">
                <a:solidFill>
                  <a:srgbClr val="536773"/>
                </a:solidFill>
                <a:latin typeface="Aptos"/>
              </a:defRPr>
            </a:pPr>
            <a:r>
              <a:t>ZHAW · Data Engineering HS26 · Souto / Fawaz / Muslija</a:t>
            </a:r>
          </a:p>
        </p:txBody>
      </p:sp>
      <p:sp>
        <p:nvSpPr>
          <p:cNvPr id="7" name="TextBox 6"/>
          <p:cNvSpPr txBox="1"/>
          <p:nvPr/>
        </p:nvSpPr>
        <p:spPr>
          <a:xfrm>
            <a:off x="10991088" y="6473952"/>
            <a:ext cx="640080" cy="274320"/>
          </a:xfrm>
          <a:prstGeom prst="rect">
            <a:avLst/>
          </a:prstGeom>
          <a:noFill/>
        </p:spPr>
        <p:txBody>
          <a:bodyPr wrap="square" lIns="13716" tIns="13716" rIns="13716" bIns="13716">
            <a:spAutoFit/>
          </a:bodyPr>
          <a:lstStyle/>
          <a:p>
            <a:pPr>
              <a:spcAft>
                <a:spcPts val="700"/>
              </a:spcAft>
              <a:defRPr sz="1100" b="1">
                <a:solidFill>
                  <a:srgbClr val="087E83"/>
                </a:solidFill>
                <a:latin typeface="Aptos"/>
              </a:defRPr>
            </a:pPr>
            <a:r>
              <a:t>14</a:t>
            </a:r>
          </a:p>
        </p:txBody>
      </p:sp>
      <p:sp>
        <p:nvSpPr>
          <p:cNvPr id="8" name="Rounded Rectangle 7"/>
          <p:cNvSpPr/>
          <p:nvPr/>
        </p:nvSpPr>
        <p:spPr>
          <a:xfrm>
            <a:off x="548640" y="2267712"/>
            <a:ext cx="11064240" cy="96926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49808" y="2432304"/>
            <a:ext cx="640080" cy="484632"/>
          </a:xfrm>
          <a:prstGeom prst="rect">
            <a:avLst/>
          </a:prstGeom>
          <a:noFill/>
        </p:spPr>
        <p:txBody>
          <a:bodyPr wrap="square" lIns="13716" tIns="13716" rIns="13716" bIns="13716">
            <a:spAutoFit/>
          </a:bodyPr>
          <a:lstStyle/>
          <a:p>
            <a:pPr>
              <a:spcAft>
                <a:spcPts val="700"/>
              </a:spcAft>
              <a:defRPr sz="2400" b="1">
                <a:solidFill>
                  <a:srgbClr val="087E83"/>
                </a:solidFill>
                <a:latin typeface="Aptos"/>
              </a:defRPr>
            </a:pPr>
            <a:r>
              <a:t>F1</a:t>
            </a:r>
          </a:p>
        </p:txBody>
      </p:sp>
      <p:sp>
        <p:nvSpPr>
          <p:cNvPr id="10" name="TextBox 9"/>
          <p:cNvSpPr txBox="1"/>
          <p:nvPr/>
        </p:nvSpPr>
        <p:spPr>
          <a:xfrm>
            <a:off x="1600200" y="2377440"/>
            <a:ext cx="9601200" cy="365760"/>
          </a:xfrm>
          <a:prstGeom prst="rect">
            <a:avLst/>
          </a:prstGeom>
          <a:noFill/>
        </p:spPr>
        <p:txBody>
          <a:bodyPr wrap="square" lIns="13716" tIns="13716" rIns="13716" bIns="13716">
            <a:spAutoFit/>
          </a:bodyPr>
          <a:lstStyle/>
          <a:p>
            <a:pPr>
              <a:spcAft>
                <a:spcPts val="700"/>
              </a:spcAft>
              <a:defRPr sz="2100" b="1">
                <a:solidFill>
                  <a:srgbClr val="102C3B"/>
                </a:solidFill>
                <a:latin typeface="Aptos"/>
              </a:defRPr>
            </a:pPr>
            <a:r>
              <a:t>Zeitmuster unterscheiden sich.</a:t>
            </a:r>
          </a:p>
        </p:txBody>
      </p:sp>
      <p:sp>
        <p:nvSpPr>
          <p:cNvPr id="11" name="TextBox 10"/>
          <p:cNvSpPr txBox="1"/>
          <p:nvPr/>
        </p:nvSpPr>
        <p:spPr>
          <a:xfrm>
            <a:off x="1600200" y="2807208"/>
            <a:ext cx="9601200" cy="329184"/>
          </a:xfrm>
          <a:prstGeom prst="rect">
            <a:avLst/>
          </a:prstGeom>
          <a:noFill/>
        </p:spPr>
        <p:txBody>
          <a:bodyPr wrap="square" lIns="13716" tIns="13716" rIns="13716" bIns="13716">
            <a:spAutoFit/>
          </a:bodyPr>
          <a:lstStyle/>
          <a:p>
            <a:pPr>
              <a:spcAft>
                <a:spcPts val="700"/>
              </a:spcAft>
              <a:defRPr sz="1600" b="0">
                <a:solidFill>
                  <a:srgbClr val="536773"/>
                </a:solidFill>
                <a:latin typeface="Aptos"/>
              </a:defRPr>
            </a:pPr>
            <a:r>
              <a:t>Am Wochenende liegt ein deutlich höherer Anteil der registrierten Unfälle in der Nacht.</a:t>
            </a:r>
          </a:p>
        </p:txBody>
      </p:sp>
      <p:sp>
        <p:nvSpPr>
          <p:cNvPr id="12" name="Rounded Rectangle 11"/>
          <p:cNvSpPr/>
          <p:nvPr/>
        </p:nvSpPr>
        <p:spPr>
          <a:xfrm>
            <a:off x="548640" y="3401568"/>
            <a:ext cx="11064240" cy="96926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49808" y="3566160"/>
            <a:ext cx="640080" cy="484632"/>
          </a:xfrm>
          <a:prstGeom prst="rect">
            <a:avLst/>
          </a:prstGeom>
          <a:noFill/>
        </p:spPr>
        <p:txBody>
          <a:bodyPr wrap="square" lIns="13716" tIns="13716" rIns="13716" bIns="13716">
            <a:spAutoFit/>
          </a:bodyPr>
          <a:lstStyle/>
          <a:p>
            <a:pPr>
              <a:spcAft>
                <a:spcPts val="700"/>
              </a:spcAft>
              <a:defRPr sz="2400" b="1">
                <a:solidFill>
                  <a:srgbClr val="087E83"/>
                </a:solidFill>
                <a:latin typeface="Aptos"/>
              </a:defRPr>
            </a:pPr>
            <a:r>
              <a:t>F2</a:t>
            </a:r>
          </a:p>
        </p:txBody>
      </p:sp>
      <p:sp>
        <p:nvSpPr>
          <p:cNvPr id="14" name="TextBox 13"/>
          <p:cNvSpPr txBox="1"/>
          <p:nvPr/>
        </p:nvSpPr>
        <p:spPr>
          <a:xfrm>
            <a:off x="1600200" y="3511296"/>
            <a:ext cx="9601200" cy="365760"/>
          </a:xfrm>
          <a:prstGeom prst="rect">
            <a:avLst/>
          </a:prstGeom>
          <a:noFill/>
        </p:spPr>
        <p:txBody>
          <a:bodyPr wrap="square" lIns="13716" tIns="13716" rIns="13716" bIns="13716">
            <a:spAutoFit/>
          </a:bodyPr>
          <a:lstStyle/>
          <a:p>
            <a:pPr>
              <a:spcAft>
                <a:spcPts val="700"/>
              </a:spcAft>
              <a:defRPr sz="2100" b="1">
                <a:solidFill>
                  <a:srgbClr val="102C3B"/>
                </a:solidFill>
                <a:latin typeface="Aptos"/>
              </a:defRPr>
            </a:pPr>
            <a:r>
              <a:t>Beteiligung und Schwere sind assoziiert.</a:t>
            </a:r>
          </a:p>
        </p:txBody>
      </p:sp>
      <p:sp>
        <p:nvSpPr>
          <p:cNvPr id="15" name="TextBox 14"/>
          <p:cNvSpPr txBox="1"/>
          <p:nvPr/>
        </p:nvSpPr>
        <p:spPr>
          <a:xfrm>
            <a:off x="1600200" y="3941064"/>
            <a:ext cx="9601200" cy="329184"/>
          </a:xfrm>
          <a:prstGeom prst="rect">
            <a:avLst/>
          </a:prstGeom>
          <a:noFill/>
        </p:spPr>
        <p:txBody>
          <a:bodyPr wrap="square" lIns="13716" tIns="13716" rIns="13716" bIns="13716">
            <a:spAutoFit/>
          </a:bodyPr>
          <a:lstStyle/>
          <a:p>
            <a:pPr>
              <a:spcAft>
                <a:spcPts val="700"/>
              </a:spcAft>
              <a:defRPr sz="1600" b="0">
                <a:solidFill>
                  <a:srgbClr val="536773"/>
                </a:solidFill>
                <a:latin typeface="Aptos"/>
              </a:defRPr>
            </a:pPr>
            <a:r>
              <a:t>Alle drei Vergleiche sind signifikant; kleine Effektgrössen, keine Kausalaussage.</a:t>
            </a:r>
          </a:p>
        </p:txBody>
      </p:sp>
      <p:sp>
        <p:nvSpPr>
          <p:cNvPr id="16" name="Rounded Rectangle 15"/>
          <p:cNvSpPr/>
          <p:nvPr/>
        </p:nvSpPr>
        <p:spPr>
          <a:xfrm>
            <a:off x="548640" y="4535424"/>
            <a:ext cx="11064240" cy="96926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49808" y="4700016"/>
            <a:ext cx="640080" cy="484632"/>
          </a:xfrm>
          <a:prstGeom prst="rect">
            <a:avLst/>
          </a:prstGeom>
          <a:noFill/>
        </p:spPr>
        <p:txBody>
          <a:bodyPr wrap="square" lIns="13716" tIns="13716" rIns="13716" bIns="13716">
            <a:spAutoFit/>
          </a:bodyPr>
          <a:lstStyle/>
          <a:p>
            <a:pPr>
              <a:spcAft>
                <a:spcPts val="700"/>
              </a:spcAft>
              <a:defRPr sz="2400" b="1">
                <a:solidFill>
                  <a:srgbClr val="087E83"/>
                </a:solidFill>
                <a:latin typeface="Aptos"/>
              </a:defRPr>
            </a:pPr>
            <a:r>
              <a:t>F3</a:t>
            </a:r>
          </a:p>
        </p:txBody>
      </p:sp>
      <p:sp>
        <p:nvSpPr>
          <p:cNvPr id="18" name="TextBox 17"/>
          <p:cNvSpPr txBox="1"/>
          <p:nvPr/>
        </p:nvSpPr>
        <p:spPr>
          <a:xfrm>
            <a:off x="1600200" y="4645152"/>
            <a:ext cx="9601200" cy="365760"/>
          </a:xfrm>
          <a:prstGeom prst="rect">
            <a:avLst/>
          </a:prstGeom>
          <a:noFill/>
        </p:spPr>
        <p:txBody>
          <a:bodyPr wrap="square" lIns="13716" tIns="13716" rIns="13716" bIns="13716">
            <a:spAutoFit/>
          </a:bodyPr>
          <a:lstStyle/>
          <a:p>
            <a:pPr>
              <a:spcAft>
                <a:spcPts val="700"/>
              </a:spcAft>
              <a:defRPr sz="2100" b="1">
                <a:solidFill>
                  <a:srgbClr val="102C3B"/>
                </a:solidFill>
                <a:latin typeface="Aptos"/>
              </a:defRPr>
            </a:pPr>
            <a:r>
              <a:t>Der Bestand verändert sich uneinheitlich.</a:t>
            </a:r>
          </a:p>
        </p:txBody>
      </p:sp>
      <p:sp>
        <p:nvSpPr>
          <p:cNvPr id="19" name="TextBox 18"/>
          <p:cNvSpPr txBox="1"/>
          <p:nvPr/>
        </p:nvSpPr>
        <p:spPr>
          <a:xfrm>
            <a:off x="1600200" y="5074920"/>
            <a:ext cx="9601200" cy="329184"/>
          </a:xfrm>
          <a:prstGeom prst="rect">
            <a:avLst/>
          </a:prstGeom>
          <a:noFill/>
        </p:spPr>
        <p:txBody>
          <a:bodyPr wrap="square" lIns="13716" tIns="13716" rIns="13716" bIns="13716">
            <a:spAutoFit/>
          </a:bodyPr>
          <a:lstStyle/>
          <a:p>
            <a:pPr>
              <a:spcAft>
                <a:spcPts val="700"/>
              </a:spcAft>
              <a:defRPr sz="1600" b="0">
                <a:solidFill>
                  <a:srgbClr val="536773"/>
                </a:solidFill>
                <a:latin typeface="Aptos"/>
              </a:defRPr>
            </a:pPr>
            <a:r>
              <a:t>Gesamtzahl und Personenschäden entwickeln sich unterschiedlich; der Veloanteil nimmt zu.</a:t>
            </a:r>
          </a:p>
        </p:txBody>
      </p:sp>
      <p:sp>
        <p:nvSpPr>
          <p:cNvPr id="20" name="Rounded Rectangle 19"/>
          <p:cNvSpPr/>
          <p:nvPr/>
        </p:nvSpPr>
        <p:spPr>
          <a:xfrm>
            <a:off x="548640" y="5806440"/>
            <a:ext cx="11064240" cy="484632"/>
          </a:xfrm>
          <a:prstGeom prst="roundRect">
            <a:avLst>
              <a:gd name="adj" fmla="val 8000"/>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40664" y="5888736"/>
            <a:ext cx="10652760" cy="329184"/>
          </a:xfrm>
          <a:prstGeom prst="rect">
            <a:avLst/>
          </a:prstGeom>
          <a:noFill/>
        </p:spPr>
        <p:txBody>
          <a:bodyPr wrap="square" lIns="13716" tIns="13716" rIns="13716" bIns="13716">
            <a:spAutoFit/>
          </a:bodyPr>
          <a:lstStyle/>
          <a:p>
            <a:pPr>
              <a:spcAft>
                <a:spcPts val="700"/>
              </a:spcAft>
              <a:defRPr sz="1700" b="1">
                <a:solidFill>
                  <a:srgbClr val="102C3B"/>
                </a:solidFill>
                <a:latin typeface="Aptos"/>
              </a:defRPr>
            </a:pPr>
            <a:r>
              <a:t>Teil 1: Datengrundlage, initiale Transformation und Analyse · kein Machine Learning.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02C3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0292"/>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01752"/>
            <a:ext cx="10789920" cy="292608"/>
          </a:xfrm>
          <a:prstGeom prst="rect">
            <a:avLst/>
          </a:prstGeom>
          <a:noFill/>
        </p:spPr>
        <p:txBody>
          <a:bodyPr wrap="square" lIns="13716" tIns="13716" rIns="13716" bIns="13716">
            <a:spAutoFit/>
          </a:bodyPr>
          <a:lstStyle/>
          <a:p>
            <a:pPr>
              <a:spcAft>
                <a:spcPts val="700"/>
              </a:spcAft>
              <a:defRPr sz="1050" b="1">
                <a:solidFill>
                  <a:srgbClr val="79C9C1"/>
                </a:solidFill>
                <a:latin typeface="Aptos"/>
              </a:defRPr>
            </a:pPr>
            <a:r>
              <a:t>14 · REPRODUZIERBARKEIT UND ABGABE</a:t>
            </a:r>
          </a:p>
        </p:txBody>
      </p:sp>
      <p:sp>
        <p:nvSpPr>
          <p:cNvPr id="4" name="TextBox 3"/>
          <p:cNvSpPr txBox="1"/>
          <p:nvPr/>
        </p:nvSpPr>
        <p:spPr>
          <a:xfrm>
            <a:off x="548640" y="795528"/>
            <a:ext cx="11064240" cy="621792"/>
          </a:xfrm>
          <a:prstGeom prst="rect">
            <a:avLst/>
          </a:prstGeom>
          <a:noFill/>
        </p:spPr>
        <p:txBody>
          <a:bodyPr wrap="square" lIns="13716" tIns="13716" rIns="13716" bIns="13716">
            <a:spAutoFit/>
          </a:bodyPr>
          <a:lstStyle/>
          <a:p>
            <a:pPr>
              <a:spcAft>
                <a:spcPts val="700"/>
              </a:spcAft>
              <a:defRPr sz="3100" b="1">
                <a:solidFill>
                  <a:srgbClr val="FFFFFF"/>
                </a:solidFill>
                <a:latin typeface="Aptos"/>
              </a:defRPr>
            </a:pPr>
            <a:r>
              <a:t>Vom Ergebnis zurück zur Quelle – jede Stufe ist vorhanden</a:t>
            </a:r>
          </a:p>
        </p:txBody>
      </p:sp>
      <p:sp>
        <p:nvSpPr>
          <p:cNvPr id="5" name="TextBox 4"/>
          <p:cNvSpPr txBox="1"/>
          <p:nvPr/>
        </p:nvSpPr>
        <p:spPr>
          <a:xfrm>
            <a:off x="548640" y="6519672"/>
            <a:ext cx="9966960" cy="182880"/>
          </a:xfrm>
          <a:prstGeom prst="rect">
            <a:avLst/>
          </a:prstGeom>
          <a:noFill/>
        </p:spPr>
        <p:txBody>
          <a:bodyPr wrap="square" lIns="13716" tIns="13716" rIns="13716" bIns="13716">
            <a:spAutoFit/>
          </a:bodyPr>
          <a:lstStyle/>
          <a:p>
            <a:pPr>
              <a:spcAft>
                <a:spcPts val="700"/>
              </a:spcAft>
              <a:defRPr sz="900" b="0">
                <a:solidFill>
                  <a:srgbClr val="CFD9DD"/>
                </a:solidFill>
                <a:latin typeface="Aptos"/>
              </a:defRPr>
            </a:pPr>
            <a:r>
              <a:t>ZHAW · Data Engineering HS26 · Souto / Fawaz / Muslija</a:t>
            </a:r>
          </a:p>
        </p:txBody>
      </p:sp>
      <p:sp>
        <p:nvSpPr>
          <p:cNvPr id="6" name="TextBox 5"/>
          <p:cNvSpPr txBox="1"/>
          <p:nvPr/>
        </p:nvSpPr>
        <p:spPr>
          <a:xfrm>
            <a:off x="10991088" y="6473952"/>
            <a:ext cx="640080" cy="274320"/>
          </a:xfrm>
          <a:prstGeom prst="rect">
            <a:avLst/>
          </a:prstGeom>
          <a:noFill/>
        </p:spPr>
        <p:txBody>
          <a:bodyPr wrap="square" lIns="13716" tIns="13716" rIns="13716" bIns="13716">
            <a:spAutoFit/>
          </a:bodyPr>
          <a:lstStyle/>
          <a:p>
            <a:pPr>
              <a:spcAft>
                <a:spcPts val="700"/>
              </a:spcAft>
              <a:defRPr sz="1100" b="1">
                <a:solidFill>
                  <a:srgbClr val="CFD9DD"/>
                </a:solidFill>
                <a:latin typeface="Aptos"/>
              </a:defRPr>
            </a:pPr>
            <a:r>
              <a:t>15</a:t>
            </a:r>
          </a:p>
        </p:txBody>
      </p:sp>
      <p:sp>
        <p:nvSpPr>
          <p:cNvPr id="7" name="Rounded Rectangle 6"/>
          <p:cNvSpPr/>
          <p:nvPr/>
        </p:nvSpPr>
        <p:spPr>
          <a:xfrm>
            <a:off x="548640" y="2423160"/>
            <a:ext cx="3520440" cy="2450592"/>
          </a:xfrm>
          <a:prstGeom prst="roundRect">
            <a:avLst>
              <a:gd name="adj" fmla="val 8000"/>
            </a:avLst>
          </a:prstGeom>
          <a:solidFill>
            <a:srgbClr val="1C3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9808" y="2624328"/>
            <a:ext cx="3108960" cy="457200"/>
          </a:xfrm>
          <a:prstGeom prst="rect">
            <a:avLst/>
          </a:prstGeom>
          <a:noFill/>
        </p:spPr>
        <p:txBody>
          <a:bodyPr wrap="square" lIns="13716" tIns="13716" rIns="13716" bIns="13716">
            <a:spAutoFit/>
          </a:bodyPr>
          <a:lstStyle/>
          <a:p>
            <a:pPr>
              <a:spcAft>
                <a:spcPts val="700"/>
              </a:spcAft>
              <a:defRPr sz="2300" b="1">
                <a:solidFill>
                  <a:srgbClr val="79C9C1"/>
                </a:solidFill>
                <a:latin typeface="Aptos"/>
              </a:defRPr>
            </a:pPr>
            <a:r>
              <a:t>Verstehen</a:t>
            </a:r>
          </a:p>
        </p:txBody>
      </p:sp>
      <p:sp>
        <p:nvSpPr>
          <p:cNvPr id="9" name="TextBox 8"/>
          <p:cNvSpPr txBox="1"/>
          <p:nvPr/>
        </p:nvSpPr>
        <p:spPr>
          <a:xfrm>
            <a:off x="749808" y="3273552"/>
            <a:ext cx="3108960" cy="1371600"/>
          </a:xfrm>
          <a:prstGeom prst="rect">
            <a:avLst/>
          </a:prstGeom>
          <a:noFill/>
        </p:spPr>
        <p:txBody>
          <a:bodyPr wrap="square" lIns="13716" tIns="13716" rIns="13716" bIns="13716">
            <a:spAutoFit/>
          </a:bodyPr>
          <a:lstStyle/>
          <a:p>
            <a:pPr>
              <a:spcAft>
                <a:spcPts val="700"/>
              </a:spcAft>
              <a:defRPr sz="1800" b="0">
                <a:solidFill>
                  <a:srgbClr val="FFFFFF"/>
                </a:solidFill>
                <a:latin typeface="Aptos"/>
              </a:defRPr>
            </a:pPr>
            <a:r>
              <a:t>README</a:t>
            </a:r>
          </a:p>
          <a:p>
            <a:pPr>
              <a:spcAft>
                <a:spcPts val="700"/>
              </a:spcAft>
              <a:defRPr sz="1800" b="0">
                <a:solidFill>
                  <a:srgbClr val="FFFFFF"/>
                </a:solidFill>
                <a:latin typeface="Aptos"/>
              </a:defRPr>
            </a:pPr>
            <a:r>
              <a:t>Konzept und Entscheidungen</a:t>
            </a:r>
          </a:p>
          <a:p>
            <a:pPr>
              <a:spcAft>
                <a:spcPts val="700"/>
              </a:spcAft>
              <a:defRPr sz="1800" b="0">
                <a:solidFill>
                  <a:srgbClr val="FFFFFF"/>
                </a:solidFill>
                <a:latin typeface="Aptos"/>
              </a:defRPr>
            </a:pPr>
            <a:r>
              <a:t>Ausgeführte Notebooks</a:t>
            </a:r>
          </a:p>
        </p:txBody>
      </p:sp>
      <p:sp>
        <p:nvSpPr>
          <p:cNvPr id="10" name="Rounded Rectangle 9"/>
          <p:cNvSpPr/>
          <p:nvPr/>
        </p:nvSpPr>
        <p:spPr>
          <a:xfrm>
            <a:off x="4315968" y="2423160"/>
            <a:ext cx="3520440" cy="2450592"/>
          </a:xfrm>
          <a:prstGeom prst="roundRect">
            <a:avLst>
              <a:gd name="adj" fmla="val 8000"/>
            </a:avLst>
          </a:prstGeom>
          <a:solidFill>
            <a:srgbClr val="1C3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17136" y="2624328"/>
            <a:ext cx="3108960" cy="457200"/>
          </a:xfrm>
          <a:prstGeom prst="rect">
            <a:avLst/>
          </a:prstGeom>
          <a:noFill/>
        </p:spPr>
        <p:txBody>
          <a:bodyPr wrap="square" lIns="13716" tIns="13716" rIns="13716" bIns="13716">
            <a:spAutoFit/>
          </a:bodyPr>
          <a:lstStyle/>
          <a:p>
            <a:pPr>
              <a:spcAft>
                <a:spcPts val="700"/>
              </a:spcAft>
              <a:defRPr sz="2300" b="1">
                <a:solidFill>
                  <a:srgbClr val="79C9C1"/>
                </a:solidFill>
                <a:latin typeface="Aptos"/>
              </a:defRPr>
            </a:pPr>
            <a:r>
              <a:t>Nachvollziehen</a:t>
            </a:r>
          </a:p>
        </p:txBody>
      </p:sp>
      <p:sp>
        <p:nvSpPr>
          <p:cNvPr id="12" name="TextBox 11"/>
          <p:cNvSpPr txBox="1"/>
          <p:nvPr/>
        </p:nvSpPr>
        <p:spPr>
          <a:xfrm>
            <a:off x="4517136" y="3273552"/>
            <a:ext cx="3108960" cy="1371600"/>
          </a:xfrm>
          <a:prstGeom prst="rect">
            <a:avLst/>
          </a:prstGeom>
          <a:noFill/>
        </p:spPr>
        <p:txBody>
          <a:bodyPr wrap="square" lIns="13716" tIns="13716" rIns="13716" bIns="13716">
            <a:spAutoFit/>
          </a:bodyPr>
          <a:lstStyle/>
          <a:p>
            <a:pPr>
              <a:spcAft>
                <a:spcPts val="700"/>
              </a:spcAft>
              <a:defRPr sz="1800" b="0">
                <a:solidFill>
                  <a:srgbClr val="FFFFFF"/>
                </a:solidFill>
                <a:latin typeface="Aptos"/>
              </a:defRPr>
            </a:pPr>
            <a:r>
              <a:t>Python-Code und SQL-Schema</a:t>
            </a:r>
          </a:p>
          <a:p>
            <a:pPr>
              <a:spcAft>
                <a:spcPts val="700"/>
              </a:spcAft>
              <a:defRPr sz="1800" b="0">
                <a:solidFill>
                  <a:srgbClr val="FFFFFF"/>
                </a:solidFill>
                <a:latin typeface="Aptos"/>
              </a:defRPr>
            </a:pPr>
            <a:r>
              <a:t>Raw + Metadaten</a:t>
            </a:r>
          </a:p>
          <a:p>
            <a:pPr>
              <a:spcAft>
                <a:spcPts val="700"/>
              </a:spcAft>
              <a:defRPr sz="1800" b="0">
                <a:solidFill>
                  <a:srgbClr val="FFFFFF"/>
                </a:solidFill>
                <a:latin typeface="Aptos"/>
              </a:defRPr>
            </a:pPr>
            <a:r>
              <a:t>CSV + SQLite + Berichte</a:t>
            </a:r>
          </a:p>
        </p:txBody>
      </p:sp>
      <p:sp>
        <p:nvSpPr>
          <p:cNvPr id="13" name="Rounded Rectangle 12"/>
          <p:cNvSpPr/>
          <p:nvPr/>
        </p:nvSpPr>
        <p:spPr>
          <a:xfrm>
            <a:off x="8083296" y="2423160"/>
            <a:ext cx="3520440" cy="2450592"/>
          </a:xfrm>
          <a:prstGeom prst="roundRect">
            <a:avLst>
              <a:gd name="adj" fmla="val 8000"/>
            </a:avLst>
          </a:prstGeom>
          <a:solidFill>
            <a:srgbClr val="1C3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84464" y="2624328"/>
            <a:ext cx="3108960" cy="457200"/>
          </a:xfrm>
          <a:prstGeom prst="rect">
            <a:avLst/>
          </a:prstGeom>
          <a:noFill/>
        </p:spPr>
        <p:txBody>
          <a:bodyPr wrap="square" lIns="13716" tIns="13716" rIns="13716" bIns="13716">
            <a:spAutoFit/>
          </a:bodyPr>
          <a:lstStyle/>
          <a:p>
            <a:pPr>
              <a:spcAft>
                <a:spcPts val="700"/>
              </a:spcAft>
              <a:defRPr sz="2300" b="1">
                <a:solidFill>
                  <a:srgbClr val="79C9C1"/>
                </a:solidFill>
                <a:latin typeface="Aptos"/>
              </a:defRPr>
            </a:pPr>
            <a:r>
              <a:t>Prüfen</a:t>
            </a:r>
          </a:p>
        </p:txBody>
      </p:sp>
      <p:sp>
        <p:nvSpPr>
          <p:cNvPr id="15" name="TextBox 14"/>
          <p:cNvSpPr txBox="1"/>
          <p:nvPr/>
        </p:nvSpPr>
        <p:spPr>
          <a:xfrm>
            <a:off x="8284464" y="3273552"/>
            <a:ext cx="3108960" cy="1371600"/>
          </a:xfrm>
          <a:prstGeom prst="rect">
            <a:avLst/>
          </a:prstGeom>
          <a:noFill/>
        </p:spPr>
        <p:txBody>
          <a:bodyPr wrap="square" lIns="13716" tIns="13716" rIns="13716" bIns="13716">
            <a:spAutoFit/>
          </a:bodyPr>
          <a:lstStyle/>
          <a:p>
            <a:pPr>
              <a:spcAft>
                <a:spcPts val="700"/>
              </a:spcAft>
              <a:defRPr sz="1800" b="0">
                <a:solidFill>
                  <a:srgbClr val="FFFFFF"/>
                </a:solidFill>
                <a:latin typeface="Aptos"/>
              </a:defRPr>
            </a:pPr>
            <a:r>
              <a:t>44 Tests und Codeprüfung</a:t>
            </a:r>
          </a:p>
          <a:p>
            <a:pPr>
              <a:spcAft>
                <a:spcPts val="700"/>
              </a:spcAft>
              <a:defRPr sz="1800" b="0">
                <a:solidFill>
                  <a:srgbClr val="FFFFFF"/>
                </a:solidFill>
                <a:latin typeface="Aptos"/>
              </a:defRPr>
            </a:pPr>
            <a:r>
              <a:t>Dokumentierte Ausführung</a:t>
            </a:r>
          </a:p>
          <a:p>
            <a:pPr>
              <a:spcAft>
                <a:spcPts val="700"/>
              </a:spcAft>
              <a:defRPr sz="1800" b="0">
                <a:solidFill>
                  <a:srgbClr val="FFFFFF"/>
                </a:solidFill>
                <a:latin typeface="Aptos"/>
              </a:defRPr>
            </a:pPr>
            <a:r>
              <a:t>Git-Branch: abgabe/teil1</a:t>
            </a:r>
          </a:p>
        </p:txBody>
      </p:sp>
      <p:sp>
        <p:nvSpPr>
          <p:cNvPr id="16" name="TextBox 15"/>
          <p:cNvSpPr txBox="1"/>
          <p:nvPr/>
        </p:nvSpPr>
        <p:spPr>
          <a:xfrm>
            <a:off x="548640" y="5394960"/>
            <a:ext cx="10881360" cy="594360"/>
          </a:xfrm>
          <a:prstGeom prst="rect">
            <a:avLst/>
          </a:prstGeom>
          <a:noFill/>
        </p:spPr>
        <p:txBody>
          <a:bodyPr wrap="square" lIns="13716" tIns="13716" rIns="13716" bIns="13716">
            <a:spAutoFit/>
          </a:bodyPr>
          <a:lstStyle/>
          <a:p>
            <a:pPr>
              <a:spcAft>
                <a:spcPts val="700"/>
              </a:spcAft>
              <a:defRPr sz="3400" b="1">
                <a:solidFill>
                  <a:srgbClr val="FFFFFF"/>
                </a:solidFill>
                <a:latin typeface="Aptos"/>
              </a:defRPr>
            </a:pPr>
            <a:r>
              <a:t>Fragen?</a:t>
            </a:r>
          </a:p>
        </p:txBody>
      </p:sp>
      <p:sp>
        <p:nvSpPr>
          <p:cNvPr id="17" name="TextBox 16"/>
          <p:cNvSpPr txBox="1"/>
          <p:nvPr/>
        </p:nvSpPr>
        <p:spPr>
          <a:xfrm>
            <a:off x="548640" y="6080760"/>
            <a:ext cx="10881360" cy="274320"/>
          </a:xfrm>
          <a:prstGeom prst="rect">
            <a:avLst/>
          </a:prstGeom>
          <a:noFill/>
        </p:spPr>
        <p:txBody>
          <a:bodyPr wrap="square" lIns="13716" tIns="13716" rIns="13716" bIns="13716">
            <a:spAutoFit/>
          </a:bodyPr>
          <a:lstStyle/>
          <a:p>
            <a:pPr>
              <a:spcAft>
                <a:spcPts val="700"/>
              </a:spcAft>
              <a:defRPr sz="1500" b="0">
                <a:solidFill>
                  <a:srgbClr val="CFD9DD"/>
                </a:solidFill>
                <a:latin typeface="Aptos"/>
              </a:defRPr>
            </a:pPr>
            <a:r>
              <a:t>Teil 2: Erweiterungen erst auf separatem Arbeitsstand.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4F6F5"/>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0292"/>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01752"/>
            <a:ext cx="10789920" cy="292608"/>
          </a:xfrm>
          <a:prstGeom prst="rect">
            <a:avLst/>
          </a:prstGeom>
          <a:noFill/>
        </p:spPr>
        <p:txBody>
          <a:bodyPr wrap="square" lIns="13716" tIns="13716" rIns="13716" bIns="13716">
            <a:spAutoFit/>
          </a:bodyPr>
          <a:lstStyle/>
          <a:p>
            <a:pPr>
              <a:spcAft>
                <a:spcPts val="700"/>
              </a:spcAft>
              <a:defRPr sz="1050" b="1">
                <a:solidFill>
                  <a:srgbClr val="087E83"/>
                </a:solidFill>
                <a:latin typeface="Aptos"/>
              </a:defRPr>
            </a:pPr>
            <a:r>
              <a:t>RESERVE A · DATENBANK UND SQL</a:t>
            </a:r>
          </a:p>
        </p:txBody>
      </p:sp>
      <p:sp>
        <p:nvSpPr>
          <p:cNvPr id="4" name="TextBox 3"/>
          <p:cNvSpPr txBox="1"/>
          <p:nvPr/>
        </p:nvSpPr>
        <p:spPr>
          <a:xfrm>
            <a:off x="548640" y="795528"/>
            <a:ext cx="11064240" cy="621792"/>
          </a:xfrm>
          <a:prstGeom prst="rect">
            <a:avLst/>
          </a:prstGeom>
          <a:noFill/>
        </p:spPr>
        <p:txBody>
          <a:bodyPr wrap="square" lIns="13716" tIns="13716" rIns="13716" bIns="13716">
            <a:spAutoFit/>
          </a:bodyPr>
          <a:lstStyle/>
          <a:p>
            <a:pPr>
              <a:spcAft>
                <a:spcPts val="700"/>
              </a:spcAft>
              <a:defRPr sz="3100" b="1">
                <a:solidFill>
                  <a:srgbClr val="102C3B"/>
                </a:solidFill>
                <a:latin typeface="Aptos"/>
              </a:defRPr>
            </a:pPr>
            <a:r>
              <a:t>Eine Unfalltabelle genügt für unsere Fragen</a:t>
            </a:r>
          </a:p>
        </p:txBody>
      </p:sp>
      <p:sp>
        <p:nvSpPr>
          <p:cNvPr id="5" name="TextBox 4"/>
          <p:cNvSpPr txBox="1"/>
          <p:nvPr/>
        </p:nvSpPr>
        <p:spPr>
          <a:xfrm>
            <a:off x="548640" y="1490472"/>
            <a:ext cx="11064240" cy="548640"/>
          </a:xfrm>
          <a:prstGeom prst="rect">
            <a:avLst/>
          </a:prstGeom>
          <a:noFill/>
        </p:spPr>
        <p:txBody>
          <a:bodyPr wrap="square" lIns="13716" tIns="13716" rIns="13716" bIns="13716">
            <a:spAutoFit/>
          </a:bodyPr>
          <a:lstStyle/>
          <a:p>
            <a:pPr>
              <a:spcAft>
                <a:spcPts val="700"/>
              </a:spcAft>
              <a:defRPr sz="1700" b="0">
                <a:solidFill>
                  <a:srgbClr val="536773"/>
                </a:solidFill>
                <a:latin typeface="Aptos"/>
              </a:defRPr>
            </a:pPr>
            <a:r>
              <a:t>accidents: 70’767 Zeilen · 22 Spalten · AccidentUID als Primärschlüssel</a:t>
            </a:r>
          </a:p>
        </p:txBody>
      </p:sp>
      <p:sp>
        <p:nvSpPr>
          <p:cNvPr id="6" name="TextBox 5"/>
          <p:cNvSpPr txBox="1"/>
          <p:nvPr/>
        </p:nvSpPr>
        <p:spPr>
          <a:xfrm>
            <a:off x="548640" y="6519672"/>
            <a:ext cx="9966960" cy="182880"/>
          </a:xfrm>
          <a:prstGeom prst="rect">
            <a:avLst/>
          </a:prstGeom>
          <a:noFill/>
        </p:spPr>
        <p:txBody>
          <a:bodyPr wrap="square" lIns="13716" tIns="13716" rIns="13716" bIns="13716">
            <a:spAutoFit/>
          </a:bodyPr>
          <a:lstStyle/>
          <a:p>
            <a:pPr>
              <a:spcAft>
                <a:spcPts val="700"/>
              </a:spcAft>
              <a:defRPr sz="900" b="0">
                <a:solidFill>
                  <a:srgbClr val="536773"/>
                </a:solidFill>
                <a:latin typeface="Aptos"/>
              </a:defRPr>
            </a:pPr>
            <a:r>
              <a:t>ZHAW · Data Engineering HS26 · Souto / Fawaz / Muslija</a:t>
            </a:r>
          </a:p>
        </p:txBody>
      </p:sp>
      <p:sp>
        <p:nvSpPr>
          <p:cNvPr id="7" name="TextBox 6"/>
          <p:cNvSpPr txBox="1"/>
          <p:nvPr/>
        </p:nvSpPr>
        <p:spPr>
          <a:xfrm>
            <a:off x="10991088" y="6473952"/>
            <a:ext cx="640080" cy="274320"/>
          </a:xfrm>
          <a:prstGeom prst="rect">
            <a:avLst/>
          </a:prstGeom>
          <a:noFill/>
        </p:spPr>
        <p:txBody>
          <a:bodyPr wrap="square" lIns="13716" tIns="13716" rIns="13716" bIns="13716">
            <a:spAutoFit/>
          </a:bodyPr>
          <a:lstStyle/>
          <a:p>
            <a:pPr>
              <a:spcAft>
                <a:spcPts val="700"/>
              </a:spcAft>
              <a:defRPr sz="1100" b="1">
                <a:solidFill>
                  <a:srgbClr val="087E83"/>
                </a:solidFill>
                <a:latin typeface="Aptos"/>
              </a:defRPr>
            </a:pPr>
            <a:r>
              <a:t>16</a:t>
            </a:r>
          </a:p>
        </p:txBody>
      </p:sp>
      <p:sp>
        <p:nvSpPr>
          <p:cNvPr id="8" name="Rounded Rectangle 7"/>
          <p:cNvSpPr/>
          <p:nvPr/>
        </p:nvSpPr>
        <p:spPr>
          <a:xfrm>
            <a:off x="548640" y="2240280"/>
            <a:ext cx="3657600" cy="32461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2240280"/>
            <a:ext cx="41148" cy="3246120"/>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58952" y="2423160"/>
            <a:ext cx="3264408" cy="457200"/>
          </a:xfrm>
          <a:prstGeom prst="rect">
            <a:avLst/>
          </a:prstGeom>
          <a:noFill/>
        </p:spPr>
        <p:txBody>
          <a:bodyPr wrap="square" lIns="13716" tIns="13716" rIns="13716" bIns="13716">
            <a:spAutoFit/>
          </a:bodyPr>
          <a:lstStyle/>
          <a:p>
            <a:pPr>
              <a:spcAft>
                <a:spcPts val="700"/>
              </a:spcAft>
              <a:defRPr sz="1900" b="1">
                <a:solidFill>
                  <a:srgbClr val="087E83"/>
                </a:solidFill>
                <a:latin typeface="Aptos"/>
              </a:defRPr>
            </a:pPr>
            <a:r>
              <a:t>Datenmodell</a:t>
            </a:r>
          </a:p>
        </p:txBody>
      </p:sp>
      <p:sp>
        <p:nvSpPr>
          <p:cNvPr id="11" name="TextBox 10"/>
          <p:cNvSpPr txBox="1"/>
          <p:nvPr/>
        </p:nvSpPr>
        <p:spPr>
          <a:xfrm>
            <a:off x="758952" y="3044952"/>
            <a:ext cx="3264408" cy="2304287"/>
          </a:xfrm>
          <a:prstGeom prst="rect">
            <a:avLst/>
          </a:prstGeom>
          <a:noFill/>
        </p:spPr>
        <p:txBody>
          <a:bodyPr wrap="square" lIns="13716" tIns="13716" rIns="13716" bIns="13716">
            <a:spAutoFit/>
          </a:bodyPr>
          <a:lstStyle/>
          <a:p>
            <a:pPr>
              <a:spcAft>
                <a:spcPts val="700"/>
              </a:spcAft>
              <a:defRPr sz="1600" b="0">
                <a:solidFill>
                  <a:srgbClr val="102C3B"/>
                </a:solidFill>
                <a:latin typeface="Aptos"/>
              </a:defRPr>
            </a:pPr>
            <a:r>
              <a:t>Zeit und Schwere</a:t>
            </a:r>
          </a:p>
          <a:p>
            <a:pPr>
              <a:spcAft>
                <a:spcPts val="700"/>
              </a:spcAft>
              <a:defRPr sz="1600" b="0">
                <a:solidFill>
                  <a:srgbClr val="102C3B"/>
                </a:solidFill>
                <a:latin typeface="Aptos"/>
              </a:defRPr>
            </a:pPr>
            <a:r>
              <a:t>Unfall- und Strassenart</a:t>
            </a:r>
          </a:p>
          <a:p>
            <a:pPr>
              <a:spcAft>
                <a:spcPts val="700"/>
              </a:spcAft>
              <a:defRPr sz="1600" b="0">
                <a:solidFill>
                  <a:srgbClr val="102C3B"/>
                </a:solidFill>
                <a:latin typeface="Aptos"/>
              </a:defRPr>
            </a:pPr>
            <a:r>
              <a:t>Beteiligungsmerkmale</a:t>
            </a:r>
          </a:p>
          <a:p>
            <a:pPr>
              <a:spcAft>
                <a:spcPts val="700"/>
              </a:spcAft>
              <a:defRPr sz="1600" b="0">
                <a:solidFill>
                  <a:srgbClr val="102C3B"/>
                </a:solidFill>
                <a:latin typeface="Aptos"/>
              </a:defRPr>
            </a:pPr>
            <a:r>
              <a:t>Koordinaten + 3 Features</a:t>
            </a:r>
          </a:p>
          <a:p>
            <a:pPr>
              <a:spcAft>
                <a:spcPts val="700"/>
              </a:spcAft>
              <a:defRPr sz="1600" b="0">
                <a:solidFill>
                  <a:srgbClr val="102C3B"/>
                </a:solidFill>
                <a:latin typeface="Aptos"/>
              </a:defRPr>
            </a:pPr>
            <a:endParaRPr/>
          </a:p>
          <a:p>
            <a:pPr>
              <a:spcAft>
                <a:spcPts val="700"/>
              </a:spcAft>
              <a:defRPr sz="1600" b="0">
                <a:solidFill>
                  <a:srgbClr val="102C3B"/>
                </a:solidFill>
                <a:latin typeface="Aptos"/>
              </a:defRPr>
            </a:pPr>
            <a:r>
              <a:t>pipeline_metadata:</a:t>
            </a:r>
          </a:p>
          <a:p>
            <a:pPr>
              <a:spcAft>
                <a:spcPts val="700"/>
              </a:spcAft>
              <a:defRPr sz="1600" b="0">
                <a:solidFill>
                  <a:srgbClr val="102C3B"/>
                </a:solidFill>
                <a:latin typeface="Aptos"/>
              </a:defRPr>
            </a:pPr>
            <a:r>
              <a:t>Herkunft und Regelversionen</a:t>
            </a:r>
          </a:p>
        </p:txBody>
      </p:sp>
      <p:sp>
        <p:nvSpPr>
          <p:cNvPr id="12" name="Rounded Rectangle 11"/>
          <p:cNvSpPr/>
          <p:nvPr/>
        </p:nvSpPr>
        <p:spPr>
          <a:xfrm>
            <a:off x="4480560" y="2240280"/>
            <a:ext cx="7132320" cy="3246120"/>
          </a:xfrm>
          <a:prstGeom prst="roundRect">
            <a:avLst>
              <a:gd name="adj" fmla="val 8000"/>
            </a:avLst>
          </a:prstGeom>
          <a:solidFill>
            <a:srgbClr val="102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718304" y="2514600"/>
            <a:ext cx="6675120" cy="2560320"/>
          </a:xfrm>
          <a:prstGeom prst="rect">
            <a:avLst/>
          </a:prstGeom>
          <a:noFill/>
        </p:spPr>
        <p:txBody>
          <a:bodyPr wrap="square" lIns="13716" tIns="13716" rIns="13716" bIns="13716">
            <a:spAutoFit/>
          </a:bodyPr>
          <a:lstStyle/>
          <a:p>
            <a:pPr>
              <a:spcAft>
                <a:spcPts val="700"/>
              </a:spcAft>
              <a:defRPr sz="1900" b="0">
                <a:solidFill>
                  <a:srgbClr val="FFFFFF"/>
                </a:solidFill>
                <a:latin typeface="Consolas"/>
              </a:defRPr>
            </a:pPr>
            <a:r>
              <a:t>SELECT AccidentYear, COUNT(*) AS n</a:t>
            </a:r>
          </a:p>
          <a:p>
            <a:pPr>
              <a:spcAft>
                <a:spcPts val="700"/>
              </a:spcAft>
              <a:defRPr sz="1900" b="0">
                <a:solidFill>
                  <a:srgbClr val="FFFFFF"/>
                </a:solidFill>
                <a:latin typeface="Consolas"/>
              </a:defRPr>
            </a:pPr>
            <a:r>
              <a:t>FROM accidents</a:t>
            </a:r>
          </a:p>
          <a:p>
            <a:pPr>
              <a:spcAft>
                <a:spcPts val="700"/>
              </a:spcAft>
              <a:defRPr sz="1900" b="0">
                <a:solidFill>
                  <a:srgbClr val="FFFFFF"/>
                </a:solidFill>
                <a:latin typeface="Consolas"/>
              </a:defRPr>
            </a:pPr>
            <a:r>
              <a:t>WHERE AccidentSeverityCategory</a:t>
            </a:r>
          </a:p>
          <a:p>
            <a:pPr>
              <a:spcAft>
                <a:spcPts val="700"/>
              </a:spcAft>
              <a:defRPr sz="1900" b="0">
                <a:solidFill>
                  <a:srgbClr val="FFFFFF"/>
                </a:solidFill>
                <a:latin typeface="Consolas"/>
              </a:defRPr>
            </a:pPr>
            <a:r>
              <a:t>      IN ('as1', 'as2', 'as3')</a:t>
            </a:r>
          </a:p>
          <a:p>
            <a:pPr>
              <a:spcAft>
                <a:spcPts val="700"/>
              </a:spcAft>
              <a:defRPr sz="1900" b="0">
                <a:solidFill>
                  <a:srgbClr val="FFFFFF"/>
                </a:solidFill>
                <a:latin typeface="Consolas"/>
              </a:defRPr>
            </a:pPr>
            <a:r>
              <a:t>GROUP BY AccidentYear</a:t>
            </a:r>
          </a:p>
          <a:p>
            <a:pPr>
              <a:spcAft>
                <a:spcPts val="700"/>
              </a:spcAft>
              <a:defRPr sz="1900" b="0">
                <a:solidFill>
                  <a:srgbClr val="FFFFFF"/>
                </a:solidFill>
                <a:latin typeface="Consolas"/>
              </a:defRPr>
            </a:pPr>
            <a:r>
              <a:t>ORDER BY AccidentYear;</a:t>
            </a:r>
          </a:p>
        </p:txBody>
      </p:sp>
      <p:sp>
        <p:nvSpPr>
          <p:cNvPr id="14" name="Rounded Rectangle 13"/>
          <p:cNvSpPr/>
          <p:nvPr/>
        </p:nvSpPr>
        <p:spPr>
          <a:xfrm>
            <a:off x="548640" y="5806440"/>
            <a:ext cx="11064240" cy="484632"/>
          </a:xfrm>
          <a:prstGeom prst="roundRect">
            <a:avLst>
              <a:gd name="adj" fmla="val 8000"/>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40664" y="5888736"/>
            <a:ext cx="10652760" cy="329184"/>
          </a:xfrm>
          <a:prstGeom prst="rect">
            <a:avLst/>
          </a:prstGeom>
          <a:noFill/>
        </p:spPr>
        <p:txBody>
          <a:bodyPr wrap="square" lIns="13716" tIns="13716" rIns="13716" bIns="13716">
            <a:spAutoFit/>
          </a:bodyPr>
          <a:lstStyle/>
          <a:p>
            <a:pPr>
              <a:spcAft>
                <a:spcPts val="700"/>
              </a:spcAft>
              <a:defRPr sz="1700" b="1">
                <a:solidFill>
                  <a:srgbClr val="102C3B"/>
                </a:solidFill>
                <a:latin typeface="Aptos"/>
              </a:defRPr>
            </a:pPr>
            <a:r>
              <a:t>STRICT-Typen · CHECK-Regeln · transaktionaler Aufbau · Integritäts- und Wertevergleich</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4F6F5"/>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0292"/>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01752"/>
            <a:ext cx="10789920" cy="292608"/>
          </a:xfrm>
          <a:prstGeom prst="rect">
            <a:avLst/>
          </a:prstGeom>
          <a:noFill/>
        </p:spPr>
        <p:txBody>
          <a:bodyPr wrap="square" lIns="13716" tIns="13716" rIns="13716" bIns="13716">
            <a:spAutoFit/>
          </a:bodyPr>
          <a:lstStyle/>
          <a:p>
            <a:pPr>
              <a:spcAft>
                <a:spcPts val="700"/>
              </a:spcAft>
              <a:defRPr sz="1050" b="1">
                <a:solidFill>
                  <a:srgbClr val="087E83"/>
                </a:solidFill>
                <a:latin typeface="Aptos"/>
              </a:defRPr>
            </a:pPr>
            <a:r>
              <a:t>RESERVE B · TESTDETAILS</a:t>
            </a:r>
          </a:p>
        </p:txBody>
      </p:sp>
      <p:sp>
        <p:nvSpPr>
          <p:cNvPr id="4" name="TextBox 3"/>
          <p:cNvSpPr txBox="1"/>
          <p:nvPr/>
        </p:nvSpPr>
        <p:spPr>
          <a:xfrm>
            <a:off x="548640" y="795528"/>
            <a:ext cx="11064240" cy="621792"/>
          </a:xfrm>
          <a:prstGeom prst="rect">
            <a:avLst/>
          </a:prstGeom>
          <a:noFill/>
        </p:spPr>
        <p:txBody>
          <a:bodyPr wrap="square" lIns="13716" tIns="13716" rIns="13716" bIns="13716">
            <a:spAutoFit/>
          </a:bodyPr>
          <a:lstStyle/>
          <a:p>
            <a:pPr>
              <a:spcAft>
                <a:spcPts val="700"/>
              </a:spcAft>
              <a:defRPr sz="3100" b="1">
                <a:solidFill>
                  <a:srgbClr val="102C3B"/>
                </a:solidFill>
                <a:latin typeface="Aptos"/>
              </a:defRPr>
            </a:pPr>
            <a:r>
              <a:t>Signifikanz, Effektgrösse und Fallzahl gemeinsam lesen</a:t>
            </a:r>
          </a:p>
        </p:txBody>
      </p:sp>
      <p:sp>
        <p:nvSpPr>
          <p:cNvPr id="5" name="TextBox 4"/>
          <p:cNvSpPr txBox="1"/>
          <p:nvPr/>
        </p:nvSpPr>
        <p:spPr>
          <a:xfrm>
            <a:off x="548640" y="1490472"/>
            <a:ext cx="11064240" cy="548640"/>
          </a:xfrm>
          <a:prstGeom prst="rect">
            <a:avLst/>
          </a:prstGeom>
          <a:noFill/>
        </p:spPr>
        <p:txBody>
          <a:bodyPr wrap="square" lIns="13716" tIns="13716" rIns="13716" bIns="13716">
            <a:spAutoFit/>
          </a:bodyPr>
          <a:lstStyle/>
          <a:p>
            <a:pPr>
              <a:spcAft>
                <a:spcPts val="700"/>
              </a:spcAft>
              <a:defRPr sz="1700" b="0">
                <a:solidFill>
                  <a:srgbClr val="536773"/>
                </a:solidFill>
                <a:latin typeface="Aptos"/>
              </a:defRPr>
            </a:pPr>
            <a:r>
              <a:t>Pearson-Chi-Quadrat ohne Kontinuitätskorrektur · H1 separat, H2 als Familie korrigiert</a:t>
            </a:r>
          </a:p>
        </p:txBody>
      </p:sp>
      <p:sp>
        <p:nvSpPr>
          <p:cNvPr id="6" name="TextBox 5"/>
          <p:cNvSpPr txBox="1"/>
          <p:nvPr/>
        </p:nvSpPr>
        <p:spPr>
          <a:xfrm>
            <a:off x="548640" y="6519672"/>
            <a:ext cx="9966960" cy="182880"/>
          </a:xfrm>
          <a:prstGeom prst="rect">
            <a:avLst/>
          </a:prstGeom>
          <a:noFill/>
        </p:spPr>
        <p:txBody>
          <a:bodyPr wrap="square" lIns="13716" tIns="13716" rIns="13716" bIns="13716">
            <a:spAutoFit/>
          </a:bodyPr>
          <a:lstStyle/>
          <a:p>
            <a:pPr>
              <a:spcAft>
                <a:spcPts val="700"/>
              </a:spcAft>
              <a:defRPr sz="900" b="0">
                <a:solidFill>
                  <a:srgbClr val="536773"/>
                </a:solidFill>
                <a:latin typeface="Aptos"/>
              </a:defRPr>
            </a:pPr>
            <a:r>
              <a:t>ZHAW · Data Engineering HS26 · Souto / Fawaz / Muslija</a:t>
            </a:r>
          </a:p>
        </p:txBody>
      </p:sp>
      <p:sp>
        <p:nvSpPr>
          <p:cNvPr id="7" name="TextBox 6"/>
          <p:cNvSpPr txBox="1"/>
          <p:nvPr/>
        </p:nvSpPr>
        <p:spPr>
          <a:xfrm>
            <a:off x="10991088" y="6473952"/>
            <a:ext cx="640080" cy="274320"/>
          </a:xfrm>
          <a:prstGeom prst="rect">
            <a:avLst/>
          </a:prstGeom>
          <a:noFill/>
        </p:spPr>
        <p:txBody>
          <a:bodyPr wrap="square" lIns="13716" tIns="13716" rIns="13716" bIns="13716">
            <a:spAutoFit/>
          </a:bodyPr>
          <a:lstStyle/>
          <a:p>
            <a:pPr>
              <a:spcAft>
                <a:spcPts val="700"/>
              </a:spcAft>
              <a:defRPr sz="1100" b="1">
                <a:solidFill>
                  <a:srgbClr val="087E83"/>
                </a:solidFill>
                <a:latin typeface="Aptos"/>
              </a:defRPr>
            </a:pPr>
            <a:r>
              <a:t>17</a:t>
            </a:r>
          </a:p>
        </p:txBody>
      </p:sp>
      <p:sp>
        <p:nvSpPr>
          <p:cNvPr id="8" name="TextBox 7"/>
          <p:cNvSpPr txBox="1"/>
          <p:nvPr/>
        </p:nvSpPr>
        <p:spPr>
          <a:xfrm>
            <a:off x="731520" y="2258568"/>
            <a:ext cx="2331720" cy="457200"/>
          </a:xfrm>
          <a:prstGeom prst="rect">
            <a:avLst/>
          </a:prstGeom>
          <a:noFill/>
        </p:spPr>
        <p:txBody>
          <a:bodyPr wrap="square" lIns="13716" tIns="13716" rIns="13716" bIns="13716">
            <a:spAutoFit/>
          </a:bodyPr>
          <a:lstStyle/>
          <a:p>
            <a:pPr>
              <a:spcAft>
                <a:spcPts val="700"/>
              </a:spcAft>
              <a:defRPr sz="1700" b="1">
                <a:solidFill>
                  <a:srgbClr val="087E83"/>
                </a:solidFill>
                <a:latin typeface="Aptos"/>
              </a:defRPr>
            </a:pPr>
            <a:r>
              <a:t>Test</a:t>
            </a:r>
          </a:p>
        </p:txBody>
      </p:sp>
      <p:sp>
        <p:nvSpPr>
          <p:cNvPr id="9" name="TextBox 8"/>
          <p:cNvSpPr txBox="1"/>
          <p:nvPr/>
        </p:nvSpPr>
        <p:spPr>
          <a:xfrm>
            <a:off x="3017520" y="2258568"/>
            <a:ext cx="1143000" cy="457200"/>
          </a:xfrm>
          <a:prstGeom prst="rect">
            <a:avLst/>
          </a:prstGeom>
          <a:noFill/>
        </p:spPr>
        <p:txBody>
          <a:bodyPr wrap="square" lIns="13716" tIns="13716" rIns="13716" bIns="13716">
            <a:spAutoFit/>
          </a:bodyPr>
          <a:lstStyle/>
          <a:p>
            <a:pPr>
              <a:spcAft>
                <a:spcPts val="700"/>
              </a:spcAft>
              <a:defRPr sz="1700" b="1">
                <a:solidFill>
                  <a:srgbClr val="087E83"/>
                </a:solidFill>
                <a:latin typeface="Aptos"/>
              </a:defRPr>
            </a:pPr>
            <a:r>
              <a:t>n</a:t>
            </a:r>
          </a:p>
        </p:txBody>
      </p:sp>
      <p:sp>
        <p:nvSpPr>
          <p:cNvPr id="10" name="TextBox 9"/>
          <p:cNvSpPr txBox="1"/>
          <p:nvPr/>
        </p:nvSpPr>
        <p:spPr>
          <a:xfrm>
            <a:off x="4251960" y="2258568"/>
            <a:ext cx="1463040" cy="457200"/>
          </a:xfrm>
          <a:prstGeom prst="rect">
            <a:avLst/>
          </a:prstGeom>
          <a:noFill/>
        </p:spPr>
        <p:txBody>
          <a:bodyPr wrap="square" lIns="13716" tIns="13716" rIns="13716" bIns="13716">
            <a:spAutoFit/>
          </a:bodyPr>
          <a:lstStyle/>
          <a:p>
            <a:pPr>
              <a:spcAft>
                <a:spcPts val="700"/>
              </a:spcAft>
              <a:defRPr sz="1700" b="1">
                <a:solidFill>
                  <a:srgbClr val="087E83"/>
                </a:solidFill>
                <a:latin typeface="Aptos"/>
              </a:defRPr>
            </a:pPr>
            <a:r>
              <a:t>χ²</a:t>
            </a:r>
          </a:p>
        </p:txBody>
      </p:sp>
      <p:sp>
        <p:nvSpPr>
          <p:cNvPr id="11" name="TextBox 10"/>
          <p:cNvSpPr txBox="1"/>
          <p:nvPr/>
        </p:nvSpPr>
        <p:spPr>
          <a:xfrm>
            <a:off x="5824728" y="2258568"/>
            <a:ext cx="548640" cy="457200"/>
          </a:xfrm>
          <a:prstGeom prst="rect">
            <a:avLst/>
          </a:prstGeom>
          <a:noFill/>
        </p:spPr>
        <p:txBody>
          <a:bodyPr wrap="square" lIns="13716" tIns="13716" rIns="13716" bIns="13716">
            <a:spAutoFit/>
          </a:bodyPr>
          <a:lstStyle/>
          <a:p>
            <a:pPr>
              <a:spcAft>
                <a:spcPts val="700"/>
              </a:spcAft>
              <a:defRPr sz="1700" b="1">
                <a:solidFill>
                  <a:srgbClr val="087E83"/>
                </a:solidFill>
                <a:latin typeface="Aptos"/>
              </a:defRPr>
            </a:pPr>
            <a:r>
              <a:t>df</a:t>
            </a:r>
          </a:p>
        </p:txBody>
      </p:sp>
      <p:sp>
        <p:nvSpPr>
          <p:cNvPr id="12" name="TextBox 11"/>
          <p:cNvSpPr txBox="1"/>
          <p:nvPr/>
        </p:nvSpPr>
        <p:spPr>
          <a:xfrm>
            <a:off x="6583680" y="2258568"/>
            <a:ext cx="2560320" cy="457200"/>
          </a:xfrm>
          <a:prstGeom prst="rect">
            <a:avLst/>
          </a:prstGeom>
          <a:noFill/>
        </p:spPr>
        <p:txBody>
          <a:bodyPr wrap="square" lIns="13716" tIns="13716" rIns="13716" bIns="13716">
            <a:spAutoFit/>
          </a:bodyPr>
          <a:lstStyle/>
          <a:p>
            <a:pPr>
              <a:spcAft>
                <a:spcPts val="700"/>
              </a:spcAft>
              <a:defRPr sz="1700" b="1">
                <a:solidFill>
                  <a:srgbClr val="087E83"/>
                </a:solidFill>
                <a:latin typeface="Aptos"/>
              </a:defRPr>
            </a:pPr>
            <a:r>
              <a:t>p / p(Holm)</a:t>
            </a:r>
          </a:p>
        </p:txBody>
      </p:sp>
      <p:sp>
        <p:nvSpPr>
          <p:cNvPr id="13" name="TextBox 12"/>
          <p:cNvSpPr txBox="1"/>
          <p:nvPr/>
        </p:nvSpPr>
        <p:spPr>
          <a:xfrm>
            <a:off x="9418320" y="2258568"/>
            <a:ext cx="1463040" cy="457200"/>
          </a:xfrm>
          <a:prstGeom prst="rect">
            <a:avLst/>
          </a:prstGeom>
          <a:noFill/>
        </p:spPr>
        <p:txBody>
          <a:bodyPr wrap="square" lIns="13716" tIns="13716" rIns="13716" bIns="13716">
            <a:spAutoFit/>
          </a:bodyPr>
          <a:lstStyle/>
          <a:p>
            <a:pPr>
              <a:spcAft>
                <a:spcPts val="700"/>
              </a:spcAft>
              <a:defRPr sz="1700" b="1">
                <a:solidFill>
                  <a:srgbClr val="087E83"/>
                </a:solidFill>
                <a:latin typeface="Aptos"/>
              </a:defRPr>
            </a:pPr>
            <a:r>
              <a:t>Cramérs V</a:t>
            </a:r>
          </a:p>
        </p:txBody>
      </p:sp>
      <p:sp>
        <p:nvSpPr>
          <p:cNvPr id="14" name="Rectangle 13"/>
          <p:cNvSpPr/>
          <p:nvPr/>
        </p:nvSpPr>
        <p:spPr>
          <a:xfrm>
            <a:off x="548640" y="2807208"/>
            <a:ext cx="11064240" cy="5394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1520" y="2880360"/>
            <a:ext cx="2331720" cy="393192"/>
          </a:xfrm>
          <a:prstGeom prst="rect">
            <a:avLst/>
          </a:prstGeom>
          <a:noFill/>
        </p:spPr>
        <p:txBody>
          <a:bodyPr wrap="square" lIns="13716" tIns="13716" rIns="13716" bIns="13716">
            <a:spAutoFit/>
          </a:bodyPr>
          <a:lstStyle/>
          <a:p>
            <a:pPr>
              <a:spcAft>
                <a:spcPts val="700"/>
              </a:spcAft>
              <a:defRPr sz="1700" b="0">
                <a:solidFill>
                  <a:srgbClr val="102C3B"/>
                </a:solidFill>
                <a:latin typeface="Aptos"/>
              </a:defRPr>
            </a:pPr>
            <a:r>
              <a:t>H1 · Zeit</a:t>
            </a:r>
          </a:p>
        </p:txBody>
      </p:sp>
      <p:sp>
        <p:nvSpPr>
          <p:cNvPr id="16" name="TextBox 15"/>
          <p:cNvSpPr txBox="1"/>
          <p:nvPr/>
        </p:nvSpPr>
        <p:spPr>
          <a:xfrm>
            <a:off x="3017520" y="2880360"/>
            <a:ext cx="1143000" cy="393192"/>
          </a:xfrm>
          <a:prstGeom prst="rect">
            <a:avLst/>
          </a:prstGeom>
          <a:noFill/>
        </p:spPr>
        <p:txBody>
          <a:bodyPr wrap="square" lIns="13716" tIns="13716" rIns="13716" bIns="13716">
            <a:spAutoFit/>
          </a:bodyPr>
          <a:lstStyle/>
          <a:p>
            <a:pPr>
              <a:spcAft>
                <a:spcPts val="700"/>
              </a:spcAft>
              <a:defRPr sz="1700" b="0">
                <a:solidFill>
                  <a:srgbClr val="102C3B"/>
                </a:solidFill>
                <a:latin typeface="Aptos"/>
              </a:defRPr>
            </a:pPr>
            <a:r>
              <a:t>70’767</a:t>
            </a:r>
          </a:p>
        </p:txBody>
      </p:sp>
      <p:sp>
        <p:nvSpPr>
          <p:cNvPr id="17" name="TextBox 16"/>
          <p:cNvSpPr txBox="1"/>
          <p:nvPr/>
        </p:nvSpPr>
        <p:spPr>
          <a:xfrm>
            <a:off x="4251960" y="2880360"/>
            <a:ext cx="1463040" cy="393192"/>
          </a:xfrm>
          <a:prstGeom prst="rect">
            <a:avLst/>
          </a:prstGeom>
          <a:noFill/>
        </p:spPr>
        <p:txBody>
          <a:bodyPr wrap="square" lIns="13716" tIns="13716" rIns="13716" bIns="13716">
            <a:spAutoFit/>
          </a:bodyPr>
          <a:lstStyle/>
          <a:p>
            <a:pPr>
              <a:spcAft>
                <a:spcPts val="700"/>
              </a:spcAft>
              <a:defRPr sz="1700" b="0">
                <a:solidFill>
                  <a:srgbClr val="102C3B"/>
                </a:solidFill>
                <a:latin typeface="Aptos"/>
              </a:defRPr>
            </a:pPr>
            <a:r>
              <a:t>3’877,063</a:t>
            </a:r>
          </a:p>
        </p:txBody>
      </p:sp>
      <p:sp>
        <p:nvSpPr>
          <p:cNvPr id="18" name="TextBox 17"/>
          <p:cNvSpPr txBox="1"/>
          <p:nvPr/>
        </p:nvSpPr>
        <p:spPr>
          <a:xfrm>
            <a:off x="5824728" y="2880360"/>
            <a:ext cx="548640" cy="393192"/>
          </a:xfrm>
          <a:prstGeom prst="rect">
            <a:avLst/>
          </a:prstGeom>
          <a:noFill/>
        </p:spPr>
        <p:txBody>
          <a:bodyPr wrap="square" lIns="13716" tIns="13716" rIns="13716" bIns="13716">
            <a:spAutoFit/>
          </a:bodyPr>
          <a:lstStyle/>
          <a:p>
            <a:pPr>
              <a:spcAft>
                <a:spcPts val="700"/>
              </a:spcAft>
              <a:defRPr sz="1700" b="0">
                <a:solidFill>
                  <a:srgbClr val="102C3B"/>
                </a:solidFill>
                <a:latin typeface="Aptos"/>
              </a:defRPr>
            </a:pPr>
            <a:r>
              <a:t>23</a:t>
            </a:r>
          </a:p>
        </p:txBody>
      </p:sp>
      <p:sp>
        <p:nvSpPr>
          <p:cNvPr id="19" name="TextBox 18"/>
          <p:cNvSpPr txBox="1"/>
          <p:nvPr/>
        </p:nvSpPr>
        <p:spPr>
          <a:xfrm>
            <a:off x="6583680" y="2880360"/>
            <a:ext cx="2560320" cy="393192"/>
          </a:xfrm>
          <a:prstGeom prst="rect">
            <a:avLst/>
          </a:prstGeom>
          <a:noFill/>
        </p:spPr>
        <p:txBody>
          <a:bodyPr wrap="square" lIns="13716" tIns="13716" rIns="13716" bIns="13716">
            <a:spAutoFit/>
          </a:bodyPr>
          <a:lstStyle/>
          <a:p>
            <a:pPr>
              <a:spcAft>
                <a:spcPts val="700"/>
              </a:spcAft>
              <a:defRPr sz="1700" b="0">
                <a:solidFill>
                  <a:srgbClr val="102C3B"/>
                </a:solidFill>
                <a:latin typeface="Aptos"/>
              </a:defRPr>
            </a:pPr>
            <a:r>
              <a:t>&lt; 0,001</a:t>
            </a:r>
          </a:p>
        </p:txBody>
      </p:sp>
      <p:sp>
        <p:nvSpPr>
          <p:cNvPr id="20" name="TextBox 19"/>
          <p:cNvSpPr txBox="1"/>
          <p:nvPr/>
        </p:nvSpPr>
        <p:spPr>
          <a:xfrm>
            <a:off x="9418320" y="2880360"/>
            <a:ext cx="1463040" cy="393192"/>
          </a:xfrm>
          <a:prstGeom prst="rect">
            <a:avLst/>
          </a:prstGeom>
          <a:noFill/>
        </p:spPr>
        <p:txBody>
          <a:bodyPr wrap="square" lIns="13716" tIns="13716" rIns="13716" bIns="13716">
            <a:spAutoFit/>
          </a:bodyPr>
          <a:lstStyle/>
          <a:p>
            <a:pPr>
              <a:spcAft>
                <a:spcPts val="700"/>
              </a:spcAft>
              <a:defRPr sz="1700" b="0">
                <a:solidFill>
                  <a:srgbClr val="102C3B"/>
                </a:solidFill>
                <a:latin typeface="Aptos"/>
              </a:defRPr>
            </a:pPr>
            <a:r>
              <a:t>0,234</a:t>
            </a:r>
          </a:p>
        </p:txBody>
      </p:sp>
      <p:sp>
        <p:nvSpPr>
          <p:cNvPr id="21" name="Rectangle 20"/>
          <p:cNvSpPr/>
          <p:nvPr/>
        </p:nvSpPr>
        <p:spPr>
          <a:xfrm>
            <a:off x="548640" y="3392424"/>
            <a:ext cx="11064240" cy="539496"/>
          </a:xfrm>
          <a:prstGeom prst="rect">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31520" y="3465576"/>
            <a:ext cx="2331720" cy="393192"/>
          </a:xfrm>
          <a:prstGeom prst="rect">
            <a:avLst/>
          </a:prstGeom>
          <a:noFill/>
        </p:spPr>
        <p:txBody>
          <a:bodyPr wrap="square" lIns="13716" tIns="13716" rIns="13716" bIns="13716">
            <a:spAutoFit/>
          </a:bodyPr>
          <a:lstStyle/>
          <a:p>
            <a:pPr>
              <a:spcAft>
                <a:spcPts val="700"/>
              </a:spcAft>
              <a:defRPr sz="1700" b="0">
                <a:solidFill>
                  <a:srgbClr val="102C3B"/>
                </a:solidFill>
                <a:latin typeface="Aptos"/>
              </a:defRPr>
            </a:pPr>
            <a:r>
              <a:t>H2 · Fussgänger</a:t>
            </a:r>
          </a:p>
        </p:txBody>
      </p:sp>
      <p:sp>
        <p:nvSpPr>
          <p:cNvPr id="23" name="TextBox 22"/>
          <p:cNvSpPr txBox="1"/>
          <p:nvPr/>
        </p:nvSpPr>
        <p:spPr>
          <a:xfrm>
            <a:off x="3017520" y="3465576"/>
            <a:ext cx="1143000" cy="393192"/>
          </a:xfrm>
          <a:prstGeom prst="rect">
            <a:avLst/>
          </a:prstGeom>
          <a:noFill/>
        </p:spPr>
        <p:txBody>
          <a:bodyPr wrap="square" lIns="13716" tIns="13716" rIns="13716" bIns="13716">
            <a:spAutoFit/>
          </a:bodyPr>
          <a:lstStyle/>
          <a:p>
            <a:pPr>
              <a:spcAft>
                <a:spcPts val="700"/>
              </a:spcAft>
              <a:defRPr sz="1700" b="0">
                <a:solidFill>
                  <a:srgbClr val="102C3B"/>
                </a:solidFill>
                <a:latin typeface="Aptos"/>
              </a:defRPr>
            </a:pPr>
            <a:r>
              <a:t>18’164</a:t>
            </a:r>
          </a:p>
        </p:txBody>
      </p:sp>
      <p:sp>
        <p:nvSpPr>
          <p:cNvPr id="24" name="TextBox 23"/>
          <p:cNvSpPr txBox="1"/>
          <p:nvPr/>
        </p:nvSpPr>
        <p:spPr>
          <a:xfrm>
            <a:off x="4251960" y="3465576"/>
            <a:ext cx="1463040" cy="393192"/>
          </a:xfrm>
          <a:prstGeom prst="rect">
            <a:avLst/>
          </a:prstGeom>
          <a:noFill/>
        </p:spPr>
        <p:txBody>
          <a:bodyPr wrap="square" lIns="13716" tIns="13716" rIns="13716" bIns="13716">
            <a:spAutoFit/>
          </a:bodyPr>
          <a:lstStyle/>
          <a:p>
            <a:pPr>
              <a:spcAft>
                <a:spcPts val="700"/>
              </a:spcAft>
              <a:defRPr sz="1700" b="0">
                <a:solidFill>
                  <a:srgbClr val="102C3B"/>
                </a:solidFill>
                <a:latin typeface="Aptos"/>
              </a:defRPr>
            </a:pPr>
            <a:r>
              <a:t>194,879</a:t>
            </a:r>
          </a:p>
        </p:txBody>
      </p:sp>
      <p:sp>
        <p:nvSpPr>
          <p:cNvPr id="25" name="TextBox 24"/>
          <p:cNvSpPr txBox="1"/>
          <p:nvPr/>
        </p:nvSpPr>
        <p:spPr>
          <a:xfrm>
            <a:off x="5824728" y="3465576"/>
            <a:ext cx="548640" cy="393192"/>
          </a:xfrm>
          <a:prstGeom prst="rect">
            <a:avLst/>
          </a:prstGeom>
          <a:noFill/>
        </p:spPr>
        <p:txBody>
          <a:bodyPr wrap="square" lIns="13716" tIns="13716" rIns="13716" bIns="13716">
            <a:spAutoFit/>
          </a:bodyPr>
          <a:lstStyle/>
          <a:p>
            <a:pPr>
              <a:spcAft>
                <a:spcPts val="700"/>
              </a:spcAft>
              <a:defRPr sz="1700" b="0">
                <a:solidFill>
                  <a:srgbClr val="102C3B"/>
                </a:solidFill>
                <a:latin typeface="Aptos"/>
              </a:defRPr>
            </a:pPr>
            <a:r>
              <a:t>2</a:t>
            </a:r>
          </a:p>
        </p:txBody>
      </p:sp>
      <p:sp>
        <p:nvSpPr>
          <p:cNvPr id="26" name="TextBox 25"/>
          <p:cNvSpPr txBox="1"/>
          <p:nvPr/>
        </p:nvSpPr>
        <p:spPr>
          <a:xfrm>
            <a:off x="6583680" y="3465576"/>
            <a:ext cx="2560320" cy="393192"/>
          </a:xfrm>
          <a:prstGeom prst="rect">
            <a:avLst/>
          </a:prstGeom>
          <a:noFill/>
        </p:spPr>
        <p:txBody>
          <a:bodyPr wrap="square" lIns="13716" tIns="13716" rIns="13716" bIns="13716">
            <a:spAutoFit/>
          </a:bodyPr>
          <a:lstStyle/>
          <a:p>
            <a:pPr>
              <a:spcAft>
                <a:spcPts val="700"/>
              </a:spcAft>
              <a:defRPr sz="1700" b="0">
                <a:solidFill>
                  <a:srgbClr val="102C3B"/>
                </a:solidFill>
                <a:latin typeface="Aptos"/>
              </a:defRPr>
            </a:pPr>
            <a:r>
              <a:t>1,444 × 10⁻⁴²</a:t>
            </a:r>
          </a:p>
        </p:txBody>
      </p:sp>
      <p:sp>
        <p:nvSpPr>
          <p:cNvPr id="27" name="TextBox 26"/>
          <p:cNvSpPr txBox="1"/>
          <p:nvPr/>
        </p:nvSpPr>
        <p:spPr>
          <a:xfrm>
            <a:off x="9418320" y="3465576"/>
            <a:ext cx="1463040" cy="393192"/>
          </a:xfrm>
          <a:prstGeom prst="rect">
            <a:avLst/>
          </a:prstGeom>
          <a:noFill/>
        </p:spPr>
        <p:txBody>
          <a:bodyPr wrap="square" lIns="13716" tIns="13716" rIns="13716" bIns="13716">
            <a:spAutoFit/>
          </a:bodyPr>
          <a:lstStyle/>
          <a:p>
            <a:pPr>
              <a:spcAft>
                <a:spcPts val="700"/>
              </a:spcAft>
              <a:defRPr sz="1700" b="0">
                <a:solidFill>
                  <a:srgbClr val="102C3B"/>
                </a:solidFill>
                <a:latin typeface="Aptos"/>
              </a:defRPr>
            </a:pPr>
            <a:r>
              <a:t>0,104</a:t>
            </a:r>
          </a:p>
        </p:txBody>
      </p:sp>
      <p:sp>
        <p:nvSpPr>
          <p:cNvPr id="28" name="Rectangle 27"/>
          <p:cNvSpPr/>
          <p:nvPr/>
        </p:nvSpPr>
        <p:spPr>
          <a:xfrm>
            <a:off x="548640" y="3977639"/>
            <a:ext cx="11064240" cy="5394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31520" y="4050791"/>
            <a:ext cx="2331720" cy="393192"/>
          </a:xfrm>
          <a:prstGeom prst="rect">
            <a:avLst/>
          </a:prstGeom>
          <a:noFill/>
        </p:spPr>
        <p:txBody>
          <a:bodyPr wrap="square" lIns="13716" tIns="13716" rIns="13716" bIns="13716">
            <a:spAutoFit/>
          </a:bodyPr>
          <a:lstStyle/>
          <a:p>
            <a:pPr>
              <a:spcAft>
                <a:spcPts val="700"/>
              </a:spcAft>
              <a:defRPr sz="1700" b="0">
                <a:solidFill>
                  <a:srgbClr val="102C3B"/>
                </a:solidFill>
                <a:latin typeface="Aptos"/>
              </a:defRPr>
            </a:pPr>
            <a:r>
              <a:t>H2 · Velo</a:t>
            </a:r>
          </a:p>
        </p:txBody>
      </p:sp>
      <p:sp>
        <p:nvSpPr>
          <p:cNvPr id="30" name="TextBox 29"/>
          <p:cNvSpPr txBox="1"/>
          <p:nvPr/>
        </p:nvSpPr>
        <p:spPr>
          <a:xfrm>
            <a:off x="3017520" y="4050791"/>
            <a:ext cx="1143000" cy="393192"/>
          </a:xfrm>
          <a:prstGeom prst="rect">
            <a:avLst/>
          </a:prstGeom>
          <a:noFill/>
        </p:spPr>
        <p:txBody>
          <a:bodyPr wrap="square" lIns="13716" tIns="13716" rIns="13716" bIns="13716">
            <a:spAutoFit/>
          </a:bodyPr>
          <a:lstStyle/>
          <a:p>
            <a:pPr>
              <a:spcAft>
                <a:spcPts val="700"/>
              </a:spcAft>
              <a:defRPr sz="1700" b="0">
                <a:solidFill>
                  <a:srgbClr val="102C3B"/>
                </a:solidFill>
                <a:latin typeface="Aptos"/>
              </a:defRPr>
            </a:pPr>
            <a:r>
              <a:t>18’164</a:t>
            </a:r>
          </a:p>
        </p:txBody>
      </p:sp>
      <p:sp>
        <p:nvSpPr>
          <p:cNvPr id="31" name="TextBox 30"/>
          <p:cNvSpPr txBox="1"/>
          <p:nvPr/>
        </p:nvSpPr>
        <p:spPr>
          <a:xfrm>
            <a:off x="4251960" y="4050791"/>
            <a:ext cx="1463040" cy="393192"/>
          </a:xfrm>
          <a:prstGeom prst="rect">
            <a:avLst/>
          </a:prstGeom>
          <a:noFill/>
        </p:spPr>
        <p:txBody>
          <a:bodyPr wrap="square" lIns="13716" tIns="13716" rIns="13716" bIns="13716">
            <a:spAutoFit/>
          </a:bodyPr>
          <a:lstStyle/>
          <a:p>
            <a:pPr>
              <a:spcAft>
                <a:spcPts val="700"/>
              </a:spcAft>
              <a:defRPr sz="1700" b="0">
                <a:solidFill>
                  <a:srgbClr val="102C3B"/>
                </a:solidFill>
                <a:latin typeface="Aptos"/>
              </a:defRPr>
            </a:pPr>
            <a:r>
              <a:t>52,602</a:t>
            </a:r>
          </a:p>
        </p:txBody>
      </p:sp>
      <p:sp>
        <p:nvSpPr>
          <p:cNvPr id="32" name="TextBox 31"/>
          <p:cNvSpPr txBox="1"/>
          <p:nvPr/>
        </p:nvSpPr>
        <p:spPr>
          <a:xfrm>
            <a:off x="5824728" y="4050791"/>
            <a:ext cx="548640" cy="393192"/>
          </a:xfrm>
          <a:prstGeom prst="rect">
            <a:avLst/>
          </a:prstGeom>
          <a:noFill/>
        </p:spPr>
        <p:txBody>
          <a:bodyPr wrap="square" lIns="13716" tIns="13716" rIns="13716" bIns="13716">
            <a:spAutoFit/>
          </a:bodyPr>
          <a:lstStyle/>
          <a:p>
            <a:pPr>
              <a:spcAft>
                <a:spcPts val="700"/>
              </a:spcAft>
              <a:defRPr sz="1700" b="0">
                <a:solidFill>
                  <a:srgbClr val="102C3B"/>
                </a:solidFill>
                <a:latin typeface="Aptos"/>
              </a:defRPr>
            </a:pPr>
            <a:r>
              <a:t>2</a:t>
            </a:r>
          </a:p>
        </p:txBody>
      </p:sp>
      <p:sp>
        <p:nvSpPr>
          <p:cNvPr id="33" name="TextBox 32"/>
          <p:cNvSpPr txBox="1"/>
          <p:nvPr/>
        </p:nvSpPr>
        <p:spPr>
          <a:xfrm>
            <a:off x="6583680" y="4050791"/>
            <a:ext cx="2560320" cy="393192"/>
          </a:xfrm>
          <a:prstGeom prst="rect">
            <a:avLst/>
          </a:prstGeom>
          <a:noFill/>
        </p:spPr>
        <p:txBody>
          <a:bodyPr wrap="square" lIns="13716" tIns="13716" rIns="13716" bIns="13716">
            <a:spAutoFit/>
          </a:bodyPr>
          <a:lstStyle/>
          <a:p>
            <a:pPr>
              <a:spcAft>
                <a:spcPts val="700"/>
              </a:spcAft>
              <a:defRPr sz="1700" b="0">
                <a:solidFill>
                  <a:srgbClr val="102C3B"/>
                </a:solidFill>
                <a:latin typeface="Aptos"/>
              </a:defRPr>
            </a:pPr>
            <a:r>
              <a:t>7,563 × 10⁻¹²</a:t>
            </a:r>
          </a:p>
        </p:txBody>
      </p:sp>
      <p:sp>
        <p:nvSpPr>
          <p:cNvPr id="34" name="TextBox 33"/>
          <p:cNvSpPr txBox="1"/>
          <p:nvPr/>
        </p:nvSpPr>
        <p:spPr>
          <a:xfrm>
            <a:off x="9418320" y="4050791"/>
            <a:ext cx="1463040" cy="393192"/>
          </a:xfrm>
          <a:prstGeom prst="rect">
            <a:avLst/>
          </a:prstGeom>
          <a:noFill/>
        </p:spPr>
        <p:txBody>
          <a:bodyPr wrap="square" lIns="13716" tIns="13716" rIns="13716" bIns="13716">
            <a:spAutoFit/>
          </a:bodyPr>
          <a:lstStyle/>
          <a:p>
            <a:pPr>
              <a:spcAft>
                <a:spcPts val="700"/>
              </a:spcAft>
              <a:defRPr sz="1700" b="0">
                <a:solidFill>
                  <a:srgbClr val="102C3B"/>
                </a:solidFill>
                <a:latin typeface="Aptos"/>
              </a:defRPr>
            </a:pPr>
            <a:r>
              <a:t>0,054</a:t>
            </a:r>
          </a:p>
        </p:txBody>
      </p:sp>
      <p:sp>
        <p:nvSpPr>
          <p:cNvPr id="35" name="Rectangle 34"/>
          <p:cNvSpPr/>
          <p:nvPr/>
        </p:nvSpPr>
        <p:spPr>
          <a:xfrm>
            <a:off x="548640" y="4562856"/>
            <a:ext cx="11064240" cy="539496"/>
          </a:xfrm>
          <a:prstGeom prst="rect">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31520" y="4636008"/>
            <a:ext cx="2331720" cy="393192"/>
          </a:xfrm>
          <a:prstGeom prst="rect">
            <a:avLst/>
          </a:prstGeom>
          <a:noFill/>
        </p:spPr>
        <p:txBody>
          <a:bodyPr wrap="square" lIns="13716" tIns="13716" rIns="13716" bIns="13716">
            <a:spAutoFit/>
          </a:bodyPr>
          <a:lstStyle/>
          <a:p>
            <a:pPr>
              <a:spcAft>
                <a:spcPts val="700"/>
              </a:spcAft>
              <a:defRPr sz="1700" b="0">
                <a:solidFill>
                  <a:srgbClr val="102C3B"/>
                </a:solidFill>
                <a:latin typeface="Aptos"/>
              </a:defRPr>
            </a:pPr>
            <a:r>
              <a:t>H2 · Motorrad</a:t>
            </a:r>
          </a:p>
        </p:txBody>
      </p:sp>
      <p:sp>
        <p:nvSpPr>
          <p:cNvPr id="37" name="TextBox 36"/>
          <p:cNvSpPr txBox="1"/>
          <p:nvPr/>
        </p:nvSpPr>
        <p:spPr>
          <a:xfrm>
            <a:off x="3017520" y="4636008"/>
            <a:ext cx="1143000" cy="393192"/>
          </a:xfrm>
          <a:prstGeom prst="rect">
            <a:avLst/>
          </a:prstGeom>
          <a:noFill/>
        </p:spPr>
        <p:txBody>
          <a:bodyPr wrap="square" lIns="13716" tIns="13716" rIns="13716" bIns="13716">
            <a:spAutoFit/>
          </a:bodyPr>
          <a:lstStyle/>
          <a:p>
            <a:pPr>
              <a:spcAft>
                <a:spcPts val="700"/>
              </a:spcAft>
              <a:defRPr sz="1700" b="0">
                <a:solidFill>
                  <a:srgbClr val="102C3B"/>
                </a:solidFill>
                <a:latin typeface="Aptos"/>
              </a:defRPr>
            </a:pPr>
            <a:r>
              <a:t>18’164</a:t>
            </a:r>
          </a:p>
        </p:txBody>
      </p:sp>
      <p:sp>
        <p:nvSpPr>
          <p:cNvPr id="38" name="TextBox 37"/>
          <p:cNvSpPr txBox="1"/>
          <p:nvPr/>
        </p:nvSpPr>
        <p:spPr>
          <a:xfrm>
            <a:off x="4251960" y="4636008"/>
            <a:ext cx="1463040" cy="393192"/>
          </a:xfrm>
          <a:prstGeom prst="rect">
            <a:avLst/>
          </a:prstGeom>
          <a:noFill/>
        </p:spPr>
        <p:txBody>
          <a:bodyPr wrap="square" lIns="13716" tIns="13716" rIns="13716" bIns="13716">
            <a:spAutoFit/>
          </a:bodyPr>
          <a:lstStyle/>
          <a:p>
            <a:pPr>
              <a:spcAft>
                <a:spcPts val="700"/>
              </a:spcAft>
              <a:defRPr sz="1700" b="0">
                <a:solidFill>
                  <a:srgbClr val="102C3B"/>
                </a:solidFill>
                <a:latin typeface="Aptos"/>
              </a:defRPr>
            </a:pPr>
            <a:r>
              <a:t>23,961</a:t>
            </a:r>
          </a:p>
        </p:txBody>
      </p:sp>
      <p:sp>
        <p:nvSpPr>
          <p:cNvPr id="39" name="TextBox 38"/>
          <p:cNvSpPr txBox="1"/>
          <p:nvPr/>
        </p:nvSpPr>
        <p:spPr>
          <a:xfrm>
            <a:off x="5824728" y="4636008"/>
            <a:ext cx="548640" cy="393192"/>
          </a:xfrm>
          <a:prstGeom prst="rect">
            <a:avLst/>
          </a:prstGeom>
          <a:noFill/>
        </p:spPr>
        <p:txBody>
          <a:bodyPr wrap="square" lIns="13716" tIns="13716" rIns="13716" bIns="13716">
            <a:spAutoFit/>
          </a:bodyPr>
          <a:lstStyle/>
          <a:p>
            <a:pPr>
              <a:spcAft>
                <a:spcPts val="700"/>
              </a:spcAft>
              <a:defRPr sz="1700" b="0">
                <a:solidFill>
                  <a:srgbClr val="102C3B"/>
                </a:solidFill>
                <a:latin typeface="Aptos"/>
              </a:defRPr>
            </a:pPr>
            <a:r>
              <a:t>2</a:t>
            </a:r>
          </a:p>
        </p:txBody>
      </p:sp>
      <p:sp>
        <p:nvSpPr>
          <p:cNvPr id="40" name="TextBox 39"/>
          <p:cNvSpPr txBox="1"/>
          <p:nvPr/>
        </p:nvSpPr>
        <p:spPr>
          <a:xfrm>
            <a:off x="6583680" y="4636008"/>
            <a:ext cx="2560320" cy="393192"/>
          </a:xfrm>
          <a:prstGeom prst="rect">
            <a:avLst/>
          </a:prstGeom>
          <a:noFill/>
        </p:spPr>
        <p:txBody>
          <a:bodyPr wrap="square" lIns="13716" tIns="13716" rIns="13716" bIns="13716">
            <a:spAutoFit/>
          </a:bodyPr>
          <a:lstStyle/>
          <a:p>
            <a:pPr>
              <a:spcAft>
                <a:spcPts val="700"/>
              </a:spcAft>
              <a:defRPr sz="1700" b="0">
                <a:solidFill>
                  <a:srgbClr val="102C3B"/>
                </a:solidFill>
                <a:latin typeface="Aptos"/>
              </a:defRPr>
            </a:pPr>
            <a:r>
              <a:t>6,267 × 10⁻⁶</a:t>
            </a:r>
          </a:p>
        </p:txBody>
      </p:sp>
      <p:sp>
        <p:nvSpPr>
          <p:cNvPr id="41" name="TextBox 40"/>
          <p:cNvSpPr txBox="1"/>
          <p:nvPr/>
        </p:nvSpPr>
        <p:spPr>
          <a:xfrm>
            <a:off x="9418320" y="4636008"/>
            <a:ext cx="1463040" cy="393192"/>
          </a:xfrm>
          <a:prstGeom prst="rect">
            <a:avLst/>
          </a:prstGeom>
          <a:noFill/>
        </p:spPr>
        <p:txBody>
          <a:bodyPr wrap="square" lIns="13716" tIns="13716" rIns="13716" bIns="13716">
            <a:spAutoFit/>
          </a:bodyPr>
          <a:lstStyle/>
          <a:p>
            <a:pPr>
              <a:spcAft>
                <a:spcPts val="700"/>
              </a:spcAft>
              <a:defRPr sz="1700" b="0">
                <a:solidFill>
                  <a:srgbClr val="102C3B"/>
                </a:solidFill>
                <a:latin typeface="Aptos"/>
              </a:defRPr>
            </a:pPr>
            <a:r>
              <a:t>0,036</a:t>
            </a:r>
          </a:p>
        </p:txBody>
      </p:sp>
      <p:sp>
        <p:nvSpPr>
          <p:cNvPr id="42" name="Rounded Rectangle 41"/>
          <p:cNvSpPr/>
          <p:nvPr/>
        </p:nvSpPr>
        <p:spPr>
          <a:xfrm>
            <a:off x="548640" y="5806440"/>
            <a:ext cx="11064240" cy="484632"/>
          </a:xfrm>
          <a:prstGeom prst="roundRect">
            <a:avLst>
              <a:gd name="adj" fmla="val 8000"/>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740664" y="5888736"/>
            <a:ext cx="10652760" cy="329184"/>
          </a:xfrm>
          <a:prstGeom prst="rect">
            <a:avLst/>
          </a:prstGeom>
          <a:noFill/>
        </p:spPr>
        <p:txBody>
          <a:bodyPr wrap="square" lIns="13716" tIns="13716" rIns="13716" bIns="13716">
            <a:spAutoFit/>
          </a:bodyPr>
          <a:lstStyle/>
          <a:p>
            <a:pPr>
              <a:spcAft>
                <a:spcPts val="700"/>
              </a:spcAft>
              <a:defRPr sz="1700" b="1">
                <a:solidFill>
                  <a:srgbClr val="102C3B"/>
                </a:solidFill>
                <a:latin typeface="Aptos"/>
              </a:defRPr>
            </a:pPr>
            <a:r>
              <a:t>Kleinste erwartete Zelle: H1 114,61 · H2 mindestens 15,59. H1-p-Wert numerisch unterlaufen.</a:t>
            </a:r>
          </a:p>
        </p:txBody>
      </p:sp>
      <p:sp>
        <p:nvSpPr>
          <p:cNvPr id="44" name="TextBox 43"/>
          <p:cNvSpPr txBox="1"/>
          <p:nvPr/>
        </p:nvSpPr>
        <p:spPr>
          <a:xfrm>
            <a:off x="566928" y="6318504"/>
            <a:ext cx="10607040" cy="173736"/>
          </a:xfrm>
          <a:prstGeom prst="rect">
            <a:avLst/>
          </a:prstGeom>
          <a:noFill/>
        </p:spPr>
        <p:txBody>
          <a:bodyPr wrap="square" lIns="13716" tIns="13716" rIns="13716" bIns="13716">
            <a:spAutoFit/>
          </a:bodyPr>
          <a:lstStyle/>
          <a:p>
            <a:pPr>
              <a:spcAft>
                <a:spcPts val="700"/>
              </a:spcAft>
              <a:defRPr sz="800" b="0">
                <a:solidFill>
                  <a:srgbClr val="536773"/>
                </a:solidFill>
                <a:latin typeface="Aptos"/>
              </a:defRPr>
            </a:pPr>
            <a:r>
              <a:t>Nachweis: data/processed/analysis_summary.json · hypothesis_tests_h2.csv · analysis.py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4F6F5"/>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0292"/>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01752"/>
            <a:ext cx="10789920" cy="292608"/>
          </a:xfrm>
          <a:prstGeom prst="rect">
            <a:avLst/>
          </a:prstGeom>
          <a:noFill/>
        </p:spPr>
        <p:txBody>
          <a:bodyPr wrap="square" lIns="13716" tIns="13716" rIns="13716" bIns="13716">
            <a:spAutoFit/>
          </a:bodyPr>
          <a:lstStyle/>
          <a:p>
            <a:pPr>
              <a:spcAft>
                <a:spcPts val="700"/>
              </a:spcAft>
              <a:defRPr sz="1050" b="1">
                <a:solidFill>
                  <a:srgbClr val="087E83"/>
                </a:solidFill>
                <a:latin typeface="Aptos"/>
              </a:defRPr>
            </a:pPr>
            <a:r>
              <a:t>RESERVE C · UNTERSTRÖMUNGEN UND ERWEITERBARKEIT</a:t>
            </a:r>
          </a:p>
        </p:txBody>
      </p:sp>
      <p:sp>
        <p:nvSpPr>
          <p:cNvPr id="4" name="TextBox 3"/>
          <p:cNvSpPr txBox="1"/>
          <p:nvPr/>
        </p:nvSpPr>
        <p:spPr>
          <a:xfrm>
            <a:off x="548640" y="795528"/>
            <a:ext cx="11064240" cy="621792"/>
          </a:xfrm>
          <a:prstGeom prst="rect">
            <a:avLst/>
          </a:prstGeom>
          <a:noFill/>
        </p:spPr>
        <p:txBody>
          <a:bodyPr wrap="square" lIns="13716" tIns="13716" rIns="13716" bIns="13716">
            <a:spAutoFit/>
          </a:bodyPr>
          <a:lstStyle/>
          <a:p>
            <a:pPr>
              <a:spcAft>
                <a:spcPts val="700"/>
              </a:spcAft>
              <a:defRPr sz="3100" b="1">
                <a:solidFill>
                  <a:srgbClr val="102C3B"/>
                </a:solidFill>
                <a:latin typeface="Aptos"/>
              </a:defRPr>
            </a:pPr>
            <a:r>
              <a:t>Qualität und Verantwortung begleiten jede Phase</a:t>
            </a:r>
          </a:p>
        </p:txBody>
      </p:sp>
      <p:sp>
        <p:nvSpPr>
          <p:cNvPr id="5" name="TextBox 4"/>
          <p:cNvSpPr txBox="1"/>
          <p:nvPr/>
        </p:nvSpPr>
        <p:spPr>
          <a:xfrm>
            <a:off x="548640" y="1490472"/>
            <a:ext cx="11064240" cy="548640"/>
          </a:xfrm>
          <a:prstGeom prst="rect">
            <a:avLst/>
          </a:prstGeom>
          <a:noFill/>
        </p:spPr>
        <p:txBody>
          <a:bodyPr wrap="square" lIns="13716" tIns="13716" rIns="13716" bIns="13716">
            <a:spAutoFit/>
          </a:bodyPr>
          <a:lstStyle/>
          <a:p>
            <a:pPr>
              <a:spcAft>
                <a:spcPts val="700"/>
              </a:spcAft>
              <a:defRPr sz="1700" b="0">
                <a:solidFill>
                  <a:srgbClr val="536773"/>
                </a:solidFill>
                <a:latin typeface="Aptos"/>
              </a:defRPr>
            </a:pPr>
            <a:r>
              <a:t>Eine einfache Architektur kann klare Kontrollen besitzen und später erweitert werden.</a:t>
            </a:r>
          </a:p>
        </p:txBody>
      </p:sp>
      <p:sp>
        <p:nvSpPr>
          <p:cNvPr id="6" name="TextBox 5"/>
          <p:cNvSpPr txBox="1"/>
          <p:nvPr/>
        </p:nvSpPr>
        <p:spPr>
          <a:xfrm>
            <a:off x="548640" y="6519672"/>
            <a:ext cx="9966960" cy="182880"/>
          </a:xfrm>
          <a:prstGeom prst="rect">
            <a:avLst/>
          </a:prstGeom>
          <a:noFill/>
        </p:spPr>
        <p:txBody>
          <a:bodyPr wrap="square" lIns="13716" tIns="13716" rIns="13716" bIns="13716">
            <a:spAutoFit/>
          </a:bodyPr>
          <a:lstStyle/>
          <a:p>
            <a:pPr>
              <a:spcAft>
                <a:spcPts val="700"/>
              </a:spcAft>
              <a:defRPr sz="900" b="0">
                <a:solidFill>
                  <a:srgbClr val="536773"/>
                </a:solidFill>
                <a:latin typeface="Aptos"/>
              </a:defRPr>
            </a:pPr>
            <a:r>
              <a:t>ZHAW · Data Engineering HS26 · Souto / Fawaz / Muslija</a:t>
            </a:r>
          </a:p>
        </p:txBody>
      </p:sp>
      <p:sp>
        <p:nvSpPr>
          <p:cNvPr id="7" name="TextBox 6"/>
          <p:cNvSpPr txBox="1"/>
          <p:nvPr/>
        </p:nvSpPr>
        <p:spPr>
          <a:xfrm>
            <a:off x="10991088" y="6473952"/>
            <a:ext cx="640080" cy="274320"/>
          </a:xfrm>
          <a:prstGeom prst="rect">
            <a:avLst/>
          </a:prstGeom>
          <a:noFill/>
        </p:spPr>
        <p:txBody>
          <a:bodyPr wrap="square" lIns="13716" tIns="13716" rIns="13716" bIns="13716">
            <a:spAutoFit/>
          </a:bodyPr>
          <a:lstStyle/>
          <a:p>
            <a:pPr>
              <a:spcAft>
                <a:spcPts val="700"/>
              </a:spcAft>
              <a:defRPr sz="1100" b="1">
                <a:solidFill>
                  <a:srgbClr val="087E83"/>
                </a:solidFill>
                <a:latin typeface="Aptos"/>
              </a:defRPr>
            </a:pPr>
            <a:r>
              <a:t>18</a:t>
            </a:r>
          </a:p>
        </p:txBody>
      </p:sp>
      <p:sp>
        <p:nvSpPr>
          <p:cNvPr id="8" name="Rounded Rectangle 7"/>
          <p:cNvSpPr/>
          <p:nvPr/>
        </p:nvSpPr>
        <p:spPr>
          <a:xfrm>
            <a:off x="548640" y="2240280"/>
            <a:ext cx="5394960" cy="138988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2377440"/>
            <a:ext cx="5029200" cy="365760"/>
          </a:xfrm>
          <a:prstGeom prst="rect">
            <a:avLst/>
          </a:prstGeom>
          <a:noFill/>
        </p:spPr>
        <p:txBody>
          <a:bodyPr wrap="square" lIns="13716" tIns="13716" rIns="13716" bIns="13716">
            <a:spAutoFit/>
          </a:bodyPr>
          <a:lstStyle/>
          <a:p>
            <a:pPr>
              <a:spcAft>
                <a:spcPts val="700"/>
              </a:spcAft>
              <a:defRPr sz="1900" b="1">
                <a:solidFill>
                  <a:srgbClr val="087E83"/>
                </a:solidFill>
                <a:latin typeface="Aptos"/>
              </a:defRPr>
            </a:pPr>
            <a:r>
              <a:t>Sicherheit &amp; Governance</a:t>
            </a:r>
          </a:p>
        </p:txBody>
      </p:sp>
      <p:sp>
        <p:nvSpPr>
          <p:cNvPr id="10" name="TextBox 9"/>
          <p:cNvSpPr txBox="1"/>
          <p:nvPr/>
        </p:nvSpPr>
        <p:spPr>
          <a:xfrm>
            <a:off x="731520" y="2871216"/>
            <a:ext cx="5029200" cy="612648"/>
          </a:xfrm>
          <a:prstGeom prst="rect">
            <a:avLst/>
          </a:prstGeom>
          <a:noFill/>
        </p:spPr>
        <p:txBody>
          <a:bodyPr wrap="square" lIns="13716" tIns="13716" rIns="13716" bIns="13716">
            <a:spAutoFit/>
          </a:bodyPr>
          <a:lstStyle/>
          <a:p>
            <a:pPr>
              <a:spcAft>
                <a:spcPts val="700"/>
              </a:spcAft>
              <a:defRPr sz="1600" b="0">
                <a:solidFill>
                  <a:srgbClr val="102C3B"/>
                </a:solidFill>
                <a:latin typeface="Aptos"/>
              </a:defRPr>
            </a:pPr>
            <a:r>
              <a:t>Öffentliche Daten, keine Secrets</a:t>
            </a:r>
          </a:p>
          <a:p>
            <a:pPr>
              <a:spcAft>
                <a:spcPts val="700"/>
              </a:spcAft>
              <a:defRPr sz="1600" b="0">
                <a:solidFill>
                  <a:srgbClr val="102C3B"/>
                </a:solidFill>
                <a:latin typeface="Aptos"/>
              </a:defRPr>
            </a:pPr>
            <a:r>
              <a:t>Quelle, Lizenz und Snapshot dokumentiert</a:t>
            </a:r>
          </a:p>
        </p:txBody>
      </p:sp>
      <p:sp>
        <p:nvSpPr>
          <p:cNvPr id="11" name="Rounded Rectangle 10"/>
          <p:cNvSpPr/>
          <p:nvPr/>
        </p:nvSpPr>
        <p:spPr>
          <a:xfrm>
            <a:off x="6217920" y="2240280"/>
            <a:ext cx="5394960" cy="138988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0" y="2377440"/>
            <a:ext cx="5029200" cy="365760"/>
          </a:xfrm>
          <a:prstGeom prst="rect">
            <a:avLst/>
          </a:prstGeom>
          <a:noFill/>
        </p:spPr>
        <p:txBody>
          <a:bodyPr wrap="square" lIns="13716" tIns="13716" rIns="13716" bIns="13716">
            <a:spAutoFit/>
          </a:bodyPr>
          <a:lstStyle/>
          <a:p>
            <a:pPr>
              <a:spcAft>
                <a:spcPts val="700"/>
              </a:spcAft>
              <a:defRPr sz="1900" b="1">
                <a:solidFill>
                  <a:srgbClr val="087E83"/>
                </a:solidFill>
                <a:latin typeface="Aptos"/>
              </a:defRPr>
            </a:pPr>
            <a:r>
              <a:t>DataOps &amp; Qualität</a:t>
            </a:r>
          </a:p>
        </p:txBody>
      </p:sp>
      <p:sp>
        <p:nvSpPr>
          <p:cNvPr id="13" name="TextBox 12"/>
          <p:cNvSpPr txBox="1"/>
          <p:nvPr/>
        </p:nvSpPr>
        <p:spPr>
          <a:xfrm>
            <a:off x="6400800" y="2871216"/>
            <a:ext cx="5029200" cy="612648"/>
          </a:xfrm>
          <a:prstGeom prst="rect">
            <a:avLst/>
          </a:prstGeom>
          <a:noFill/>
        </p:spPr>
        <p:txBody>
          <a:bodyPr wrap="square" lIns="13716" tIns="13716" rIns="13716" bIns="13716">
            <a:spAutoFit/>
          </a:bodyPr>
          <a:lstStyle/>
          <a:p>
            <a:pPr>
              <a:spcAft>
                <a:spcPts val="700"/>
              </a:spcAft>
              <a:defRPr sz="1600" b="0">
                <a:solidFill>
                  <a:srgbClr val="102C3B"/>
                </a:solidFill>
                <a:latin typeface="Aptos"/>
              </a:defRPr>
            </a:pPr>
            <a:r>
              <a:t>Tests, Prüfsummen und Qualitätsberichte</a:t>
            </a:r>
          </a:p>
          <a:p>
            <a:pPr>
              <a:spcAft>
                <a:spcPts val="700"/>
              </a:spcAft>
              <a:defRPr sz="1600" b="0">
                <a:solidFill>
                  <a:srgbClr val="102C3B"/>
                </a:solidFill>
                <a:latin typeface="Aptos"/>
              </a:defRPr>
            </a:pPr>
            <a:r>
              <a:t>Sichtbarer Abbruch bei Fehlern</a:t>
            </a:r>
          </a:p>
        </p:txBody>
      </p:sp>
      <p:sp>
        <p:nvSpPr>
          <p:cNvPr id="14" name="Rounded Rectangle 13"/>
          <p:cNvSpPr/>
          <p:nvPr/>
        </p:nvSpPr>
        <p:spPr>
          <a:xfrm>
            <a:off x="548640" y="3858768"/>
            <a:ext cx="5394960" cy="138988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1520" y="3995928"/>
            <a:ext cx="5029200" cy="365760"/>
          </a:xfrm>
          <a:prstGeom prst="rect">
            <a:avLst/>
          </a:prstGeom>
          <a:noFill/>
        </p:spPr>
        <p:txBody>
          <a:bodyPr wrap="square" lIns="13716" tIns="13716" rIns="13716" bIns="13716">
            <a:spAutoFit/>
          </a:bodyPr>
          <a:lstStyle/>
          <a:p>
            <a:pPr>
              <a:spcAft>
                <a:spcPts val="700"/>
              </a:spcAft>
              <a:defRPr sz="1900" b="1">
                <a:solidFill>
                  <a:srgbClr val="087E83"/>
                </a:solidFill>
                <a:latin typeface="Aptos"/>
              </a:defRPr>
            </a:pPr>
            <a:r>
              <a:t>Orchestrierung &amp; Engineering</a:t>
            </a:r>
          </a:p>
        </p:txBody>
      </p:sp>
      <p:sp>
        <p:nvSpPr>
          <p:cNvPr id="16" name="TextBox 15"/>
          <p:cNvSpPr txBox="1"/>
          <p:nvPr/>
        </p:nvSpPr>
        <p:spPr>
          <a:xfrm>
            <a:off x="731520" y="4489704"/>
            <a:ext cx="5029200" cy="612648"/>
          </a:xfrm>
          <a:prstGeom prst="rect">
            <a:avLst/>
          </a:prstGeom>
          <a:noFill/>
        </p:spPr>
        <p:txBody>
          <a:bodyPr wrap="square" lIns="13716" tIns="13716" rIns="13716" bIns="13716">
            <a:spAutoFit/>
          </a:bodyPr>
          <a:lstStyle/>
          <a:p>
            <a:pPr>
              <a:spcAft>
                <a:spcPts val="700"/>
              </a:spcAft>
              <a:defRPr sz="1600" b="0">
                <a:solidFill>
                  <a:srgbClr val="102C3B"/>
                </a:solidFill>
                <a:latin typeface="Aptos"/>
              </a:defRPr>
            </a:pPr>
            <a:r>
              <a:t>Getrennte Module; explizite Pfadübergaben</a:t>
            </a:r>
          </a:p>
          <a:p>
            <a:pPr>
              <a:spcAft>
                <a:spcPts val="700"/>
              </a:spcAft>
              <a:defRPr sz="1600" b="0">
                <a:solidFill>
                  <a:srgbClr val="102C3B"/>
                </a:solidFill>
                <a:latin typeface="Aptos"/>
              </a:defRPr>
            </a:pPr>
            <a:r>
              <a:t>Git-Versionierung und reproduzierbarer Lauf</a:t>
            </a:r>
          </a:p>
        </p:txBody>
      </p:sp>
      <p:sp>
        <p:nvSpPr>
          <p:cNvPr id="17" name="Rounded Rectangle 16"/>
          <p:cNvSpPr/>
          <p:nvPr/>
        </p:nvSpPr>
        <p:spPr>
          <a:xfrm>
            <a:off x="6217920" y="3858768"/>
            <a:ext cx="5394960" cy="138988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0800" y="3995928"/>
            <a:ext cx="5029200" cy="365760"/>
          </a:xfrm>
          <a:prstGeom prst="rect">
            <a:avLst/>
          </a:prstGeom>
          <a:noFill/>
        </p:spPr>
        <p:txBody>
          <a:bodyPr wrap="square" lIns="13716" tIns="13716" rIns="13716" bIns="13716">
            <a:spAutoFit/>
          </a:bodyPr>
          <a:lstStyle/>
          <a:p>
            <a:pPr>
              <a:spcAft>
                <a:spcPts val="700"/>
              </a:spcAft>
              <a:defRPr sz="1900" b="1">
                <a:solidFill>
                  <a:srgbClr val="087E83"/>
                </a:solidFill>
                <a:latin typeface="Aptos"/>
              </a:defRPr>
            </a:pPr>
            <a:r>
              <a:t>Architektur &amp; Skalierbarkeit</a:t>
            </a:r>
          </a:p>
        </p:txBody>
      </p:sp>
      <p:sp>
        <p:nvSpPr>
          <p:cNvPr id="19" name="TextBox 18"/>
          <p:cNvSpPr txBox="1"/>
          <p:nvPr/>
        </p:nvSpPr>
        <p:spPr>
          <a:xfrm>
            <a:off x="6400800" y="4489704"/>
            <a:ext cx="5029200" cy="612648"/>
          </a:xfrm>
          <a:prstGeom prst="rect">
            <a:avLst/>
          </a:prstGeom>
          <a:noFill/>
        </p:spPr>
        <p:txBody>
          <a:bodyPr wrap="square" lIns="13716" tIns="13716" rIns="13716" bIns="13716">
            <a:spAutoFit/>
          </a:bodyPr>
          <a:lstStyle/>
          <a:p>
            <a:pPr>
              <a:spcAft>
                <a:spcPts val="700"/>
              </a:spcAft>
              <a:defRPr sz="1600" b="0">
                <a:solidFill>
                  <a:srgbClr val="102C3B"/>
                </a:solidFill>
                <a:latin typeface="Aptos"/>
              </a:defRPr>
            </a:pPr>
            <a:r>
              <a:t>Bei grösseren Daten: chunkweise Verarbeitung</a:t>
            </a:r>
          </a:p>
          <a:p>
            <a:pPr>
              <a:spcAft>
                <a:spcPts val="700"/>
              </a:spcAft>
              <a:defRPr sz="1600" b="0">
                <a:solidFill>
                  <a:srgbClr val="102C3B"/>
                </a:solidFill>
                <a:latin typeface="Aptos"/>
              </a:defRPr>
            </a:pPr>
            <a:r>
              <a:t>Bei zentralem Mehrnutzerbedarf: PostgreSQL</a:t>
            </a:r>
          </a:p>
        </p:txBody>
      </p:sp>
      <p:sp>
        <p:nvSpPr>
          <p:cNvPr id="20" name="Rounded Rectangle 19"/>
          <p:cNvSpPr/>
          <p:nvPr/>
        </p:nvSpPr>
        <p:spPr>
          <a:xfrm>
            <a:off x="548640" y="5806440"/>
            <a:ext cx="11064240" cy="484632"/>
          </a:xfrm>
          <a:prstGeom prst="roundRect">
            <a:avLst>
              <a:gd name="adj" fmla="val 8000"/>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40664" y="5888736"/>
            <a:ext cx="10652760" cy="329184"/>
          </a:xfrm>
          <a:prstGeom prst="rect">
            <a:avLst/>
          </a:prstGeom>
          <a:noFill/>
        </p:spPr>
        <p:txBody>
          <a:bodyPr wrap="square" lIns="13716" tIns="13716" rIns="13716" bIns="13716">
            <a:spAutoFit/>
          </a:bodyPr>
          <a:lstStyle/>
          <a:p>
            <a:pPr>
              <a:spcAft>
                <a:spcPts val="700"/>
              </a:spcAft>
              <a:defRPr sz="1700" b="1">
                <a:solidFill>
                  <a:srgbClr val="102C3B"/>
                </a:solidFill>
                <a:latin typeface="Aptos"/>
              </a:defRPr>
            </a:pPr>
            <a:r>
              <a:t>Skalierung ist ein begründeter Erweiterungsweg; keine bereits getestete Serverarchitektur.</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4F6F5"/>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0292"/>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01752"/>
            <a:ext cx="10789920" cy="292608"/>
          </a:xfrm>
          <a:prstGeom prst="rect">
            <a:avLst/>
          </a:prstGeom>
          <a:noFill/>
        </p:spPr>
        <p:txBody>
          <a:bodyPr wrap="square" lIns="13716" tIns="13716" rIns="13716" bIns="13716">
            <a:spAutoFit/>
          </a:bodyPr>
          <a:lstStyle/>
          <a:p>
            <a:pPr>
              <a:spcAft>
                <a:spcPts val="700"/>
              </a:spcAft>
              <a:defRPr sz="1050" b="1">
                <a:solidFill>
                  <a:srgbClr val="087E83"/>
                </a:solidFill>
                <a:latin typeface="Aptos"/>
              </a:defRPr>
            </a:pPr>
            <a:r>
              <a:t>RESERVE D · QUELLEN UND HILFSMITTEL</a:t>
            </a:r>
          </a:p>
        </p:txBody>
      </p:sp>
      <p:sp>
        <p:nvSpPr>
          <p:cNvPr id="4" name="TextBox 3"/>
          <p:cNvSpPr txBox="1"/>
          <p:nvPr/>
        </p:nvSpPr>
        <p:spPr>
          <a:xfrm>
            <a:off x="548640" y="795528"/>
            <a:ext cx="11064240" cy="621792"/>
          </a:xfrm>
          <a:prstGeom prst="rect">
            <a:avLst/>
          </a:prstGeom>
          <a:noFill/>
        </p:spPr>
        <p:txBody>
          <a:bodyPr wrap="square" lIns="13716" tIns="13716" rIns="13716" bIns="13716">
            <a:spAutoFit/>
          </a:bodyPr>
          <a:lstStyle/>
          <a:p>
            <a:pPr>
              <a:spcAft>
                <a:spcPts val="700"/>
              </a:spcAft>
              <a:defRPr sz="3100" b="1">
                <a:solidFill>
                  <a:srgbClr val="102C3B"/>
                </a:solidFill>
                <a:latin typeface="Aptos"/>
              </a:defRPr>
            </a:pPr>
            <a:r>
              <a:t>Quellen, Regeln und Unterstützung offenlegen</a:t>
            </a:r>
          </a:p>
        </p:txBody>
      </p:sp>
      <p:sp>
        <p:nvSpPr>
          <p:cNvPr id="5" name="TextBox 4"/>
          <p:cNvSpPr txBox="1"/>
          <p:nvPr/>
        </p:nvSpPr>
        <p:spPr>
          <a:xfrm>
            <a:off x="548640" y="1490472"/>
            <a:ext cx="11064240" cy="548640"/>
          </a:xfrm>
          <a:prstGeom prst="rect">
            <a:avLst/>
          </a:prstGeom>
          <a:noFill/>
        </p:spPr>
        <p:txBody>
          <a:bodyPr wrap="square" lIns="13716" tIns="13716" rIns="13716" bIns="13716">
            <a:spAutoFit/>
          </a:bodyPr>
          <a:lstStyle/>
          <a:p>
            <a:pPr>
              <a:spcAft>
                <a:spcPts val="700"/>
              </a:spcAft>
              <a:defRPr sz="1700" b="0">
                <a:solidFill>
                  <a:srgbClr val="536773"/>
                </a:solidFill>
                <a:latin typeface="Aptos"/>
              </a:defRPr>
            </a:pPr>
            <a:r>
              <a:t>Die fachliche Verantwortung und die mündliche Erklärung liegen beim Projektteam.</a:t>
            </a:r>
          </a:p>
        </p:txBody>
      </p:sp>
      <p:sp>
        <p:nvSpPr>
          <p:cNvPr id="6" name="TextBox 5"/>
          <p:cNvSpPr txBox="1"/>
          <p:nvPr/>
        </p:nvSpPr>
        <p:spPr>
          <a:xfrm>
            <a:off x="548640" y="6519672"/>
            <a:ext cx="9966960" cy="182880"/>
          </a:xfrm>
          <a:prstGeom prst="rect">
            <a:avLst/>
          </a:prstGeom>
          <a:noFill/>
        </p:spPr>
        <p:txBody>
          <a:bodyPr wrap="square" lIns="13716" tIns="13716" rIns="13716" bIns="13716">
            <a:spAutoFit/>
          </a:bodyPr>
          <a:lstStyle/>
          <a:p>
            <a:pPr>
              <a:spcAft>
                <a:spcPts val="700"/>
              </a:spcAft>
              <a:defRPr sz="900" b="0">
                <a:solidFill>
                  <a:srgbClr val="536773"/>
                </a:solidFill>
                <a:latin typeface="Aptos"/>
              </a:defRPr>
            </a:pPr>
            <a:r>
              <a:t>ZHAW · Data Engineering HS26 · Souto / Fawaz / Muslija</a:t>
            </a:r>
          </a:p>
        </p:txBody>
      </p:sp>
      <p:sp>
        <p:nvSpPr>
          <p:cNvPr id="7" name="TextBox 6"/>
          <p:cNvSpPr txBox="1"/>
          <p:nvPr/>
        </p:nvSpPr>
        <p:spPr>
          <a:xfrm>
            <a:off x="10991088" y="6473952"/>
            <a:ext cx="640080" cy="274320"/>
          </a:xfrm>
          <a:prstGeom prst="rect">
            <a:avLst/>
          </a:prstGeom>
          <a:noFill/>
        </p:spPr>
        <p:txBody>
          <a:bodyPr wrap="square" lIns="13716" tIns="13716" rIns="13716" bIns="13716">
            <a:spAutoFit/>
          </a:bodyPr>
          <a:lstStyle/>
          <a:p>
            <a:pPr>
              <a:spcAft>
                <a:spcPts val="700"/>
              </a:spcAft>
              <a:defRPr sz="1100" b="1">
                <a:solidFill>
                  <a:srgbClr val="087E83"/>
                </a:solidFill>
                <a:latin typeface="Aptos"/>
              </a:defRPr>
            </a:pPr>
            <a:r>
              <a:t>19</a:t>
            </a:r>
          </a:p>
        </p:txBody>
      </p:sp>
      <p:sp>
        <p:nvSpPr>
          <p:cNvPr id="8" name="TextBox 7"/>
          <p:cNvSpPr txBox="1"/>
          <p:nvPr/>
        </p:nvSpPr>
        <p:spPr>
          <a:xfrm>
            <a:off x="640080" y="2167128"/>
            <a:ext cx="1691640" cy="411480"/>
          </a:xfrm>
          <a:prstGeom prst="rect">
            <a:avLst/>
          </a:prstGeom>
          <a:noFill/>
        </p:spPr>
        <p:txBody>
          <a:bodyPr wrap="square" lIns="13716" tIns="13716" rIns="13716" bIns="13716">
            <a:spAutoFit/>
          </a:bodyPr>
          <a:lstStyle/>
          <a:p>
            <a:pPr>
              <a:spcAft>
                <a:spcPts val="700"/>
              </a:spcAft>
              <a:defRPr sz="1800" b="1">
                <a:solidFill>
                  <a:srgbClr val="087E83"/>
                </a:solidFill>
                <a:latin typeface="Aptos"/>
              </a:defRPr>
            </a:pPr>
            <a:r>
              <a:t>Daten</a:t>
            </a:r>
          </a:p>
        </p:txBody>
      </p:sp>
      <p:sp>
        <p:nvSpPr>
          <p:cNvPr id="9" name="TextBox 8"/>
          <p:cNvSpPr txBox="1"/>
          <p:nvPr/>
        </p:nvSpPr>
        <p:spPr>
          <a:xfrm>
            <a:off x="2404872" y="2167128"/>
            <a:ext cx="8961120" cy="740664"/>
          </a:xfrm>
          <a:prstGeom prst="rect">
            <a:avLst/>
          </a:prstGeom>
          <a:noFill/>
        </p:spPr>
        <p:txBody>
          <a:bodyPr wrap="square" lIns="13716" tIns="13716" rIns="13716" bIns="13716">
            <a:spAutoFit/>
          </a:bodyPr>
          <a:lstStyle/>
          <a:p>
            <a:pPr>
              <a:spcAft>
                <a:spcPts val="700"/>
              </a:spcAft>
              <a:defRPr sz="1500" b="0">
                <a:solidFill>
                  <a:srgbClr val="102C3B"/>
                </a:solidFill>
                <a:latin typeface="Aptos"/>
              </a:defRPr>
            </a:pPr>
            <a:r>
              <a:t>Open Data Zürich · Bundesamt für Strassen ASTRA</a:t>
            </a:r>
          </a:p>
          <a:p>
            <a:pPr>
              <a:spcAft>
                <a:spcPts val="700"/>
              </a:spcAft>
              <a:defRPr sz="1500" b="0">
                <a:solidFill>
                  <a:srgbClr val="102C3B"/>
                </a:solidFill>
                <a:latin typeface="Aptos"/>
              </a:defRPr>
            </a:pPr>
            <a:r>
              <a:t>Snapshot vom 13.10.2026; Lizenz laut Katalog: Creative Commons Attribution</a:t>
            </a:r>
          </a:p>
        </p:txBody>
      </p:sp>
      <p:sp>
        <p:nvSpPr>
          <p:cNvPr id="10" name="TextBox 9"/>
          <p:cNvSpPr txBox="1"/>
          <p:nvPr/>
        </p:nvSpPr>
        <p:spPr>
          <a:xfrm>
            <a:off x="640080" y="3099816"/>
            <a:ext cx="1691640" cy="411480"/>
          </a:xfrm>
          <a:prstGeom prst="rect">
            <a:avLst/>
          </a:prstGeom>
          <a:noFill/>
        </p:spPr>
        <p:txBody>
          <a:bodyPr wrap="square" lIns="13716" tIns="13716" rIns="13716" bIns="13716">
            <a:spAutoFit/>
          </a:bodyPr>
          <a:lstStyle/>
          <a:p>
            <a:pPr>
              <a:spcAft>
                <a:spcPts val="700"/>
              </a:spcAft>
              <a:defRPr sz="1800" b="1">
                <a:solidFill>
                  <a:srgbClr val="087E83"/>
                </a:solidFill>
                <a:latin typeface="Aptos"/>
              </a:defRPr>
            </a:pPr>
            <a:r>
              <a:t>Datenbank</a:t>
            </a:r>
          </a:p>
        </p:txBody>
      </p:sp>
      <p:sp>
        <p:nvSpPr>
          <p:cNvPr id="11" name="TextBox 10"/>
          <p:cNvSpPr txBox="1"/>
          <p:nvPr/>
        </p:nvSpPr>
        <p:spPr>
          <a:xfrm>
            <a:off x="2404872" y="3099816"/>
            <a:ext cx="8961120" cy="740664"/>
          </a:xfrm>
          <a:prstGeom prst="rect">
            <a:avLst/>
          </a:prstGeom>
          <a:noFill/>
        </p:spPr>
        <p:txBody>
          <a:bodyPr wrap="square" lIns="13716" tIns="13716" rIns="13716" bIns="13716">
            <a:spAutoFit/>
          </a:bodyPr>
          <a:lstStyle/>
          <a:p>
            <a:pPr>
              <a:spcAft>
                <a:spcPts val="700"/>
              </a:spcAft>
              <a:defRPr sz="1500" b="0">
                <a:solidFill>
                  <a:srgbClr val="102C3B"/>
                </a:solidFill>
                <a:latin typeface="Aptos"/>
              </a:defRPr>
            </a:pPr>
            <a:r>
              <a:t>SQLite: Appropriate Uses For SQLite</a:t>
            </a:r>
          </a:p>
          <a:p>
            <a:pPr>
              <a:spcAft>
                <a:spcPts val="700"/>
              </a:spcAft>
              <a:defRPr sz="1500" b="0">
                <a:solidFill>
                  <a:srgbClr val="102C3B"/>
                </a:solidFill>
                <a:latin typeface="Aptos"/>
              </a:defRPr>
            </a:pPr>
            <a:r>
              <a:t>https://www.sqlite.org/whentouse.html</a:t>
            </a:r>
          </a:p>
        </p:txBody>
      </p:sp>
      <p:sp>
        <p:nvSpPr>
          <p:cNvPr id="12" name="TextBox 11"/>
          <p:cNvSpPr txBox="1"/>
          <p:nvPr/>
        </p:nvSpPr>
        <p:spPr>
          <a:xfrm>
            <a:off x="640080" y="4032504"/>
            <a:ext cx="1691640" cy="411480"/>
          </a:xfrm>
          <a:prstGeom prst="rect">
            <a:avLst/>
          </a:prstGeom>
          <a:noFill/>
        </p:spPr>
        <p:txBody>
          <a:bodyPr wrap="square" lIns="13716" tIns="13716" rIns="13716" bIns="13716">
            <a:spAutoFit/>
          </a:bodyPr>
          <a:lstStyle/>
          <a:p>
            <a:pPr>
              <a:spcAft>
                <a:spcPts val="700"/>
              </a:spcAft>
              <a:defRPr sz="1800" b="1">
                <a:solidFill>
                  <a:srgbClr val="087E83"/>
                </a:solidFill>
                <a:latin typeface="Aptos"/>
              </a:defRPr>
            </a:pPr>
            <a:r>
              <a:t>Statistik</a:t>
            </a:r>
          </a:p>
        </p:txBody>
      </p:sp>
      <p:sp>
        <p:nvSpPr>
          <p:cNvPr id="13" name="TextBox 12"/>
          <p:cNvSpPr txBox="1"/>
          <p:nvPr/>
        </p:nvSpPr>
        <p:spPr>
          <a:xfrm>
            <a:off x="2404872" y="4032504"/>
            <a:ext cx="8961120" cy="740664"/>
          </a:xfrm>
          <a:prstGeom prst="rect">
            <a:avLst/>
          </a:prstGeom>
          <a:noFill/>
        </p:spPr>
        <p:txBody>
          <a:bodyPr wrap="square" lIns="13716" tIns="13716" rIns="13716" bIns="13716">
            <a:spAutoFit/>
          </a:bodyPr>
          <a:lstStyle/>
          <a:p>
            <a:pPr>
              <a:spcAft>
                <a:spcPts val="700"/>
              </a:spcAft>
              <a:defRPr sz="1500" b="0">
                <a:solidFill>
                  <a:srgbClr val="102C3B"/>
                </a:solidFill>
                <a:latin typeface="Aptos"/>
              </a:defRPr>
            </a:pPr>
            <a:r>
              <a:t>SciPy: scipy.stats.chi2_contingency · docs.scipy.org</a:t>
            </a:r>
          </a:p>
          <a:p>
            <a:pPr>
              <a:spcAft>
                <a:spcPts val="700"/>
              </a:spcAft>
              <a:defRPr sz="1500" b="0">
                <a:solidFill>
                  <a:srgbClr val="102C3B"/>
                </a:solidFill>
                <a:latin typeface="Aptos"/>
              </a:defRPr>
            </a:pPr>
            <a:r>
              <a:t>Holm (1979): A Simple Sequentially Rejective Multiple Test Procedure, 6(2), 65–70</a:t>
            </a:r>
          </a:p>
        </p:txBody>
      </p:sp>
      <p:sp>
        <p:nvSpPr>
          <p:cNvPr id="14" name="TextBox 13"/>
          <p:cNvSpPr txBox="1"/>
          <p:nvPr/>
        </p:nvSpPr>
        <p:spPr>
          <a:xfrm>
            <a:off x="640080" y="4965192"/>
            <a:ext cx="1691640" cy="411480"/>
          </a:xfrm>
          <a:prstGeom prst="rect">
            <a:avLst/>
          </a:prstGeom>
          <a:noFill/>
        </p:spPr>
        <p:txBody>
          <a:bodyPr wrap="square" lIns="13716" tIns="13716" rIns="13716" bIns="13716">
            <a:spAutoFit/>
          </a:bodyPr>
          <a:lstStyle/>
          <a:p>
            <a:pPr>
              <a:spcAft>
                <a:spcPts val="700"/>
              </a:spcAft>
              <a:defRPr sz="1800" b="1">
                <a:solidFill>
                  <a:srgbClr val="087E83"/>
                </a:solidFill>
                <a:latin typeface="Aptos"/>
              </a:defRPr>
            </a:pPr>
            <a:r>
              <a:t>Hilfsmittel</a:t>
            </a:r>
          </a:p>
        </p:txBody>
      </p:sp>
      <p:sp>
        <p:nvSpPr>
          <p:cNvPr id="15" name="TextBox 14"/>
          <p:cNvSpPr txBox="1"/>
          <p:nvPr/>
        </p:nvSpPr>
        <p:spPr>
          <a:xfrm>
            <a:off x="2404872" y="4965192"/>
            <a:ext cx="8961120" cy="740664"/>
          </a:xfrm>
          <a:prstGeom prst="rect">
            <a:avLst/>
          </a:prstGeom>
          <a:noFill/>
        </p:spPr>
        <p:txBody>
          <a:bodyPr wrap="square" lIns="13716" tIns="13716" rIns="13716" bIns="13716">
            <a:spAutoFit/>
          </a:bodyPr>
          <a:lstStyle/>
          <a:p>
            <a:pPr>
              <a:spcAft>
                <a:spcPts val="700"/>
              </a:spcAft>
              <a:defRPr sz="1500" b="0">
                <a:solidFill>
                  <a:srgbClr val="102C3B"/>
                </a:solidFill>
                <a:latin typeface="Aptos"/>
              </a:defRPr>
            </a:pPr>
            <a:r>
              <a:t>OpenAI Codex / ChatGPT: Unterstützung bei Code, Dokumentation, Prüfung und Folien</a:t>
            </a:r>
          </a:p>
          <a:p>
            <a:pPr>
              <a:spcAft>
                <a:spcPts val="700"/>
              </a:spcAft>
              <a:defRPr sz="1500" b="0">
                <a:solidFill>
                  <a:srgbClr val="102C3B"/>
                </a:solidFill>
                <a:latin typeface="Aptos"/>
              </a:defRPr>
            </a:pPr>
            <a:r>
              <a:t>Python, Pandas, SciPy, Matplotlib, SQLite; Folien: python-pptx und PowerPoint</a:t>
            </a:r>
          </a:p>
        </p:txBody>
      </p:sp>
      <p:sp>
        <p:nvSpPr>
          <p:cNvPr id="16" name="TextBox 15"/>
          <p:cNvSpPr txBox="1"/>
          <p:nvPr/>
        </p:nvSpPr>
        <p:spPr>
          <a:xfrm>
            <a:off x="640080" y="6035040"/>
            <a:ext cx="10881360" cy="274320"/>
          </a:xfrm>
          <a:prstGeom prst="rect">
            <a:avLst/>
          </a:prstGeom>
          <a:noFill/>
        </p:spPr>
        <p:txBody>
          <a:bodyPr wrap="square" lIns="13716" tIns="13716" rIns="13716" bIns="13716">
            <a:spAutoFit/>
          </a:bodyPr>
          <a:lstStyle/>
          <a:p>
            <a:pPr>
              <a:spcAft>
                <a:spcPts val="700"/>
              </a:spcAft>
              <a:defRPr sz="1300" b="0">
                <a:solidFill>
                  <a:srgbClr val="536773"/>
                </a:solidFill>
                <a:latin typeface="Aptos"/>
              </a:defRPr>
            </a:pPr>
            <a:r>
              <a:t>Vollständige Quellen, Methoden und Ausführung: README.md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4002</Words>
  <Application>Microsoft Macintosh PowerPoint</Application>
  <PresentationFormat>Breitbild</PresentationFormat>
  <Paragraphs>506</Paragraphs>
  <Slides>19</Slides>
  <Notes>19</Notes>
  <HiddenSlides>0</HiddenSlides>
  <MMClips>0</MMClips>
  <ScaleCrop>false</ScaleCrop>
  <HeadingPairs>
    <vt:vector size="6" baseType="variant">
      <vt:variant>
        <vt:lpstr>Verwendete Schriftarten</vt:lpstr>
      </vt:variant>
      <vt:variant>
        <vt:i4>2</vt:i4>
      </vt:variant>
      <vt:variant>
        <vt:lpstr>Design</vt:lpstr>
      </vt:variant>
      <vt:variant>
        <vt:i4>1</vt:i4>
      </vt:variant>
      <vt:variant>
        <vt:lpstr>Folientitel</vt:lpstr>
      </vt:variant>
      <vt:variant>
        <vt:i4>19</vt:i4>
      </vt:variant>
    </vt:vector>
  </HeadingPairs>
  <TitlesOfParts>
    <vt:vector size="22" baseType="lpstr">
      <vt:lpstr>Arial</vt:lpstr>
      <vt:lpstr>Calibri</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Verkehrsunfälle in Zürich | Data Engineering, Teil 1</dc:title>
  <dc:subject>Reproduzierbare Datenpipeline, Hypothesentests und Forschungsfragen</dc:subject>
  <dc:creator>Ruben Souto, Issa Fawaz, Drin Muslija</dc:creator>
  <cp:keywords/>
  <dc:description>generated using python-pptx</dc:description>
  <cp:lastModifiedBy>Muslija Drin (muslidri)</cp:lastModifiedBy>
  <cp:revision>1</cp:revision>
  <dcterms:created xsi:type="dcterms:W3CDTF">2013-01-27T09:14:16Z</dcterms:created>
  <dcterms:modified xsi:type="dcterms:W3CDTF">2026-10-26T19:10:46Z</dcterms:modified>
  <cp:category/>
</cp:coreProperties>
</file>